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5.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samples exceeding</c:v>
                </c:pt>
              </c:strCache>
            </c:strRef>
          </c:tx>
          <c:spPr>
            <a:solidFill>
              <a:srgbClr val="1F3AE0"/>
            </a:solidFill>
            <a:effectLst/>
          </c:spPr>
          <c:invertIfNegative val="0"/>
          <c:dLbls>
            <c:numFmt formatCode="0.0&quot;%&quot;" sourceLinked="0"/>
            <c:txPr>
              <a:bodyPr/>
              <a:lstStyle/>
              <a:p>
                <a:pPr>
                  <a:defRPr b="1" i="0" strike="noStrike" sz="1100" u="none">
                    <a:solidFill>
                      <a:srgbClr val="111111"/>
                    </a:solidFill>
                    <a:latin typeface="Courier New"/>
                  </a:defRPr>
                </a:pPr>
              </a:p>
            </c:txPr>
            <c:showLegendKey val="0"/>
            <c:showVal val="1"/>
            <c:showCatName val="0"/>
            <c:showSerName val="0"/>
            <c:showPercent val="0"/>
            <c:showBubbleSize val="0"/>
            <c:showLeaderLines val="0"/>
          </c:dLbls>
          <c:cat>
            <c:multiLvlStrRef>
              <c:f>Sheet1!$A$2:$A$8</c:f>
              <c:multiLvlStrCache>
                <c:ptCount val="7"/>
                <c:lvl>
                  <c:pt idx="0">
                    <c:v>Nitrate</c:v>
                  </c:pt>
                  <c:pt idx="1">
                    <c:v>Iron</c:v>
                  </c:pt>
                  <c:pt idx="2">
                    <c:v>Fluoride</c:v>
                  </c:pt>
                  <c:pt idx="3">
                    <c:v>Elec. cond.</c:v>
                  </c:pt>
                  <c:pt idx="4">
                    <c:v>Uranium</c:v>
                  </c:pt>
                  <c:pt idx="5">
                    <c:v>Arsenic</c:v>
                  </c:pt>
                  <c:pt idx="6">
                    <c:v>Chloride</c:v>
                  </c:pt>
                </c:lvl>
              </c:multiLvlStrCache>
            </c:multiLvlStrRef>
          </c:cat>
          <c:val>
            <c:numRef>
              <c:f>Sheet1!$B$2:$B$8</c:f>
              <c:numCache>
                <c:formatCode>General</c:formatCode>
                <c:ptCount val="7"/>
                <c:pt idx="0">
                  <c:v>19.8</c:v>
                </c:pt>
                <c:pt idx="1">
                  <c:v>13.2</c:v>
                </c:pt>
                <c:pt idx="2">
                  <c:v>9.04</c:v>
                </c:pt>
                <c:pt idx="3">
                  <c:v>7.25</c:v>
                </c:pt>
                <c:pt idx="4">
                  <c:v>6.6</c:v>
                </c:pt>
                <c:pt idx="5">
                  <c:v>3.55</c:v>
                </c:pt>
                <c:pt idx="6">
                  <c:v>3.07</c:v>
                </c:pt>
              </c:numCache>
            </c:numRef>
          </c:val>
        </c:ser>
        <c:dLbls>
          <c:numFmt formatCode="0.0&quot;%&quot;" sourceLinked="0"/>
          <c:txPr>
            <a:bodyPr/>
            <a:lstStyle/>
            <a:p>
              <a:pPr>
                <a:defRPr b="1" i="0" strike="noStrike" sz="1100" u="none">
                  <a:solidFill>
                    <a:srgbClr val="111111"/>
                  </a:solidFill>
                  <a:latin typeface="Courier New"/>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111111"/>
            </a:solidFill>
            <a:prstDash val="solid"/>
            <a:round/>
          </a:ln>
        </c:spPr>
        <c:txPr>
          <a:bodyPr/>
          <a:lstStyle/>
          <a:p>
            <a:pPr>
              <a:defRPr sz="1200" b="0" i="0" u="none" strike="noStrike">
                <a:solidFill>
                  <a:srgbClr val="111111"/>
                </a:solidFill>
                <a:latin typeface="Arial"/>
              </a:defRPr>
            </a:pPr>
            <a:endParaRPr lang="en-US"/>
          </a:p>
        </c:txPr>
        <c:crossAx val="2094734552"/>
        <c:crosses val="autoZero"/>
        <c:auto val="1"/>
        <c:lblAlgn val="ctr"/>
        <c:noMultiLvlLbl val="1"/>
      </c:catAx>
      <c:valAx>
        <c:axId val="2094734552"/>
        <c:scaling>
          <c:orientation val="minMax"/>
          <c:max val="24"/>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0.10 mg P/L</c:v>
                </c:pt>
              </c:strCache>
            </c:strRef>
          </c:tx>
          <c:spPr>
            <a:solidFill>
              <a:srgbClr val="A9B5FF"/>
            </a:solidFill>
            <a:ln w="31750" cap="flat">
              <a:solidFill>
                <a:srgbClr val="A9B5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9B5FF"/>
              </a:solidFill>
              <a:ln w="9525" cap="flat">
                <a:solidFill>
                  <a:srgbClr val="A9B5FF"/>
                </a:solidFill>
                <a:prstDash val="solid"/>
                <a:round/>
              </a:ln>
              <a:effectLst/>
            </c:spPr>
          </c:marker>
          <c:cat>
            <c:multiLvlStrRef>
              <c:f>Sheet1!$A$2:$A$32</c:f>
              <c:multiLvlStrCache>
                <c:ptCount val="31"/>
                <c:lvl>
                  <c:pt idx="0">
                    <c:v>400</c:v>
                  </c:pt>
                  <c:pt idx="1">
                    <c:v>410</c:v>
                  </c:pt>
                  <c:pt idx="2">
                    <c:v>420</c:v>
                  </c:pt>
                  <c:pt idx="3">
                    <c:v>430</c:v>
                  </c:pt>
                  <c:pt idx="4">
                    <c:v>440</c:v>
                  </c:pt>
                  <c:pt idx="5">
                    <c:v>450</c:v>
                  </c:pt>
                  <c:pt idx="6">
                    <c:v>460</c:v>
                  </c:pt>
                  <c:pt idx="7">
                    <c:v>470</c:v>
                  </c:pt>
                  <c:pt idx="8">
                    <c:v>480</c:v>
                  </c:pt>
                  <c:pt idx="9">
                    <c:v>490</c:v>
                  </c:pt>
                  <c:pt idx="10">
                    <c:v>500</c:v>
                  </c:pt>
                  <c:pt idx="11">
                    <c:v>510</c:v>
                  </c:pt>
                  <c:pt idx="12">
                    <c:v>520</c:v>
                  </c:pt>
                  <c:pt idx="13">
                    <c:v>530</c:v>
                  </c:pt>
                  <c:pt idx="14">
                    <c:v>540</c:v>
                  </c:pt>
                  <c:pt idx="15">
                    <c:v>550</c:v>
                  </c:pt>
                  <c:pt idx="16">
                    <c:v>560</c:v>
                  </c:pt>
                  <c:pt idx="17">
                    <c:v>570</c:v>
                  </c:pt>
                  <c:pt idx="18">
                    <c:v>580</c:v>
                  </c:pt>
                  <c:pt idx="19">
                    <c:v>590</c:v>
                  </c:pt>
                  <c:pt idx="20">
                    <c:v>600</c:v>
                  </c:pt>
                  <c:pt idx="21">
                    <c:v>610</c:v>
                  </c:pt>
                  <c:pt idx="22">
                    <c:v>620</c:v>
                  </c:pt>
                  <c:pt idx="23">
                    <c:v>630</c:v>
                  </c:pt>
                  <c:pt idx="24">
                    <c:v>640</c:v>
                  </c:pt>
                  <c:pt idx="25">
                    <c:v>650</c:v>
                  </c:pt>
                  <c:pt idx="26">
                    <c:v>660</c:v>
                  </c:pt>
                  <c:pt idx="27">
                    <c:v>670</c:v>
                  </c:pt>
                  <c:pt idx="28">
                    <c:v>680</c:v>
                  </c:pt>
                  <c:pt idx="29">
                    <c:v>690</c:v>
                  </c:pt>
                  <c:pt idx="30">
                    <c:v>700</c:v>
                  </c:pt>
                </c:lvl>
              </c:multiLvlStrCache>
            </c:multiLvlStrRef>
          </c:cat>
          <c:val>
            <c:numRef>
              <c:f>Sheet1!$B$2:$B$32</c:f>
              <c:numCache>
                <c:formatCode>General</c:formatCode>
                <c:ptCount val="31"/>
                <c:pt idx="0">
                  <c:v>0.012</c:v>
                </c:pt>
                <c:pt idx="1">
                  <c:v>0.012</c:v>
                </c:pt>
                <c:pt idx="2">
                  <c:v>0.012</c:v>
                </c:pt>
                <c:pt idx="3">
                  <c:v>0.012</c:v>
                </c:pt>
                <c:pt idx="4">
                  <c:v>0.012</c:v>
                </c:pt>
                <c:pt idx="5">
                  <c:v>0.012</c:v>
                </c:pt>
                <c:pt idx="6">
                  <c:v>0.012</c:v>
                </c:pt>
                <c:pt idx="7">
                  <c:v>0.012</c:v>
                </c:pt>
                <c:pt idx="8">
                  <c:v>0.012</c:v>
                </c:pt>
                <c:pt idx="9">
                  <c:v>0.012</c:v>
                </c:pt>
                <c:pt idx="10">
                  <c:v>0.012</c:v>
                </c:pt>
                <c:pt idx="11">
                  <c:v>0.012</c:v>
                </c:pt>
                <c:pt idx="12">
                  <c:v>0.013</c:v>
                </c:pt>
                <c:pt idx="13">
                  <c:v>0.013</c:v>
                </c:pt>
                <c:pt idx="14">
                  <c:v>0.014</c:v>
                </c:pt>
                <c:pt idx="15">
                  <c:v>0.015</c:v>
                </c:pt>
                <c:pt idx="16">
                  <c:v>0.016</c:v>
                </c:pt>
                <c:pt idx="17">
                  <c:v>0.019</c:v>
                </c:pt>
                <c:pt idx="18">
                  <c:v>0.022</c:v>
                </c:pt>
                <c:pt idx="19">
                  <c:v>0.028</c:v>
                </c:pt>
                <c:pt idx="20">
                  <c:v>0.035</c:v>
                </c:pt>
                <c:pt idx="21">
                  <c:v>0.046</c:v>
                </c:pt>
                <c:pt idx="22">
                  <c:v>0.06</c:v>
                </c:pt>
                <c:pt idx="23">
                  <c:v>0.076</c:v>
                </c:pt>
                <c:pt idx="24">
                  <c:v>0.095</c:v>
                </c:pt>
                <c:pt idx="25">
                  <c:v>0.114</c:v>
                </c:pt>
                <c:pt idx="26">
                  <c:v>0.13</c:v>
                </c:pt>
                <c:pt idx="27">
                  <c:v>0.144</c:v>
                </c:pt>
                <c:pt idx="28">
                  <c:v>0.155</c:v>
                </c:pt>
                <c:pt idx="29">
                  <c:v>0.162</c:v>
                </c:pt>
                <c:pt idx="30">
                  <c:v>0.168</c:v>
                </c:pt>
              </c:numCache>
            </c:numRef>
          </c:val>
          <c:smooth val="0"/>
        </c:ser>
        <c:ser>
          <c:idx val="1"/>
          <c:order val="1"/>
          <c:tx>
            <c:strRef>
              <c:f>Sheet1!$C$1</c:f>
              <c:strCache>
                <c:ptCount val="1"/>
                <c:pt idx="0">
                  <c:v>0.40 mg P/L</c:v>
                </c:pt>
              </c:strCache>
            </c:strRef>
          </c:tx>
          <c:spPr>
            <a:solidFill>
              <a:srgbClr val="5B6FF0"/>
            </a:solidFill>
            <a:ln w="31750" cap="flat">
              <a:solidFill>
                <a:srgbClr val="5B6FF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B6FF0"/>
              </a:solidFill>
              <a:ln w="9525" cap="flat">
                <a:solidFill>
                  <a:srgbClr val="5B6FF0"/>
                </a:solidFill>
                <a:prstDash val="solid"/>
                <a:round/>
              </a:ln>
              <a:effectLst/>
            </c:spPr>
          </c:marker>
          <c:cat>
            <c:multiLvlStrRef>
              <c:f>Sheet1!$A$2:$A$32</c:f>
              <c:multiLvlStrCache>
                <c:ptCount val="31"/>
                <c:lvl>
                  <c:pt idx="0">
                    <c:v>400</c:v>
                  </c:pt>
                  <c:pt idx="1">
                    <c:v>410</c:v>
                  </c:pt>
                  <c:pt idx="2">
                    <c:v>420</c:v>
                  </c:pt>
                  <c:pt idx="3">
                    <c:v>430</c:v>
                  </c:pt>
                  <c:pt idx="4">
                    <c:v>440</c:v>
                  </c:pt>
                  <c:pt idx="5">
                    <c:v>450</c:v>
                  </c:pt>
                  <c:pt idx="6">
                    <c:v>460</c:v>
                  </c:pt>
                  <c:pt idx="7">
                    <c:v>470</c:v>
                  </c:pt>
                  <c:pt idx="8">
                    <c:v>480</c:v>
                  </c:pt>
                  <c:pt idx="9">
                    <c:v>490</c:v>
                  </c:pt>
                  <c:pt idx="10">
                    <c:v>500</c:v>
                  </c:pt>
                  <c:pt idx="11">
                    <c:v>510</c:v>
                  </c:pt>
                  <c:pt idx="12">
                    <c:v>520</c:v>
                  </c:pt>
                  <c:pt idx="13">
                    <c:v>530</c:v>
                  </c:pt>
                  <c:pt idx="14">
                    <c:v>540</c:v>
                  </c:pt>
                  <c:pt idx="15">
                    <c:v>550</c:v>
                  </c:pt>
                  <c:pt idx="16">
                    <c:v>560</c:v>
                  </c:pt>
                  <c:pt idx="17">
                    <c:v>570</c:v>
                  </c:pt>
                  <c:pt idx="18">
                    <c:v>580</c:v>
                  </c:pt>
                  <c:pt idx="19">
                    <c:v>590</c:v>
                  </c:pt>
                  <c:pt idx="20">
                    <c:v>600</c:v>
                  </c:pt>
                  <c:pt idx="21">
                    <c:v>610</c:v>
                  </c:pt>
                  <c:pt idx="22">
                    <c:v>620</c:v>
                  </c:pt>
                  <c:pt idx="23">
                    <c:v>630</c:v>
                  </c:pt>
                  <c:pt idx="24">
                    <c:v>640</c:v>
                  </c:pt>
                  <c:pt idx="25">
                    <c:v>650</c:v>
                  </c:pt>
                  <c:pt idx="26">
                    <c:v>660</c:v>
                  </c:pt>
                  <c:pt idx="27">
                    <c:v>670</c:v>
                  </c:pt>
                  <c:pt idx="28">
                    <c:v>680</c:v>
                  </c:pt>
                  <c:pt idx="29">
                    <c:v>690</c:v>
                  </c:pt>
                  <c:pt idx="30">
                    <c:v>700</c:v>
                  </c:pt>
                </c:lvl>
              </c:multiLvlStrCache>
            </c:multiLvlStrRef>
          </c:cat>
          <c:val>
            <c:numRef>
              <c:f>Sheet1!$C$2:$C$32</c:f>
              <c:numCache>
                <c:formatCode>General</c:formatCode>
                <c:ptCount val="31"/>
                <c:pt idx="0">
                  <c:v>0.012</c:v>
                </c:pt>
                <c:pt idx="1">
                  <c:v>0.012</c:v>
                </c:pt>
                <c:pt idx="2">
                  <c:v>0.012</c:v>
                </c:pt>
                <c:pt idx="3">
                  <c:v>0.012</c:v>
                </c:pt>
                <c:pt idx="4">
                  <c:v>0.012</c:v>
                </c:pt>
                <c:pt idx="5">
                  <c:v>0.012</c:v>
                </c:pt>
                <c:pt idx="6">
                  <c:v>0.012</c:v>
                </c:pt>
                <c:pt idx="7">
                  <c:v>0.012</c:v>
                </c:pt>
                <c:pt idx="8">
                  <c:v>0.012</c:v>
                </c:pt>
                <c:pt idx="9">
                  <c:v>0.013</c:v>
                </c:pt>
                <c:pt idx="10">
                  <c:v>0.013</c:v>
                </c:pt>
                <c:pt idx="11">
                  <c:v>0.014</c:v>
                </c:pt>
                <c:pt idx="12">
                  <c:v>0.015</c:v>
                </c:pt>
                <c:pt idx="13">
                  <c:v>0.016</c:v>
                </c:pt>
                <c:pt idx="14">
                  <c:v>0.019</c:v>
                </c:pt>
                <c:pt idx="15">
                  <c:v>0.023</c:v>
                </c:pt>
                <c:pt idx="16">
                  <c:v>0.029</c:v>
                </c:pt>
                <c:pt idx="17">
                  <c:v>0.038</c:v>
                </c:pt>
                <c:pt idx="18">
                  <c:v>0.053</c:v>
                </c:pt>
                <c:pt idx="19">
                  <c:v>0.074</c:v>
                </c:pt>
                <c:pt idx="20">
                  <c:v>0.105</c:v>
                </c:pt>
                <c:pt idx="21">
                  <c:v>0.147</c:v>
                </c:pt>
                <c:pt idx="22">
                  <c:v>0.203</c:v>
                </c:pt>
                <c:pt idx="23">
                  <c:v>0.27</c:v>
                </c:pt>
                <c:pt idx="24">
                  <c:v>0.344</c:v>
                </c:pt>
                <c:pt idx="25">
                  <c:v>0.418</c:v>
                </c:pt>
                <c:pt idx="26">
                  <c:v>0.485</c:v>
                </c:pt>
                <c:pt idx="27">
                  <c:v>0.541</c:v>
                </c:pt>
                <c:pt idx="28">
                  <c:v>0.583</c:v>
                </c:pt>
                <c:pt idx="29">
                  <c:v>0.614</c:v>
                </c:pt>
                <c:pt idx="30">
                  <c:v>0.635</c:v>
                </c:pt>
              </c:numCache>
            </c:numRef>
          </c:val>
          <c:smooth val="0"/>
        </c:ser>
        <c:ser>
          <c:idx val="2"/>
          <c:order val="2"/>
          <c:tx>
            <c:strRef>
              <c:f>Sheet1!$D$1</c:f>
              <c:strCache>
                <c:ptCount val="1"/>
                <c:pt idx="0">
                  <c:v>0.80 mg P/L</c:v>
                </c:pt>
              </c:strCache>
            </c:strRef>
          </c:tx>
          <c:spPr>
            <a:solidFill>
              <a:srgbClr val="1F3AE0"/>
            </a:solidFill>
            <a:ln w="31750" cap="flat">
              <a:solidFill>
                <a:srgbClr val="1F3AE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3AE0"/>
              </a:solidFill>
              <a:ln w="9525" cap="flat">
                <a:solidFill>
                  <a:srgbClr val="1F3AE0"/>
                </a:solidFill>
                <a:prstDash val="solid"/>
                <a:round/>
              </a:ln>
              <a:effectLst/>
            </c:spPr>
          </c:marker>
          <c:cat>
            <c:multiLvlStrRef>
              <c:f>Sheet1!$A$2:$A$32</c:f>
              <c:multiLvlStrCache>
                <c:ptCount val="31"/>
                <c:lvl>
                  <c:pt idx="0">
                    <c:v>400</c:v>
                  </c:pt>
                  <c:pt idx="1">
                    <c:v>410</c:v>
                  </c:pt>
                  <c:pt idx="2">
                    <c:v>420</c:v>
                  </c:pt>
                  <c:pt idx="3">
                    <c:v>430</c:v>
                  </c:pt>
                  <c:pt idx="4">
                    <c:v>440</c:v>
                  </c:pt>
                  <c:pt idx="5">
                    <c:v>450</c:v>
                  </c:pt>
                  <c:pt idx="6">
                    <c:v>460</c:v>
                  </c:pt>
                  <c:pt idx="7">
                    <c:v>470</c:v>
                  </c:pt>
                  <c:pt idx="8">
                    <c:v>480</c:v>
                  </c:pt>
                  <c:pt idx="9">
                    <c:v>490</c:v>
                  </c:pt>
                  <c:pt idx="10">
                    <c:v>500</c:v>
                  </c:pt>
                  <c:pt idx="11">
                    <c:v>510</c:v>
                  </c:pt>
                  <c:pt idx="12">
                    <c:v>520</c:v>
                  </c:pt>
                  <c:pt idx="13">
                    <c:v>530</c:v>
                  </c:pt>
                  <c:pt idx="14">
                    <c:v>540</c:v>
                  </c:pt>
                  <c:pt idx="15">
                    <c:v>550</c:v>
                  </c:pt>
                  <c:pt idx="16">
                    <c:v>560</c:v>
                  </c:pt>
                  <c:pt idx="17">
                    <c:v>570</c:v>
                  </c:pt>
                  <c:pt idx="18">
                    <c:v>580</c:v>
                  </c:pt>
                  <c:pt idx="19">
                    <c:v>590</c:v>
                  </c:pt>
                  <c:pt idx="20">
                    <c:v>600</c:v>
                  </c:pt>
                  <c:pt idx="21">
                    <c:v>610</c:v>
                  </c:pt>
                  <c:pt idx="22">
                    <c:v>620</c:v>
                  </c:pt>
                  <c:pt idx="23">
                    <c:v>630</c:v>
                  </c:pt>
                  <c:pt idx="24">
                    <c:v>640</c:v>
                  </c:pt>
                  <c:pt idx="25">
                    <c:v>650</c:v>
                  </c:pt>
                  <c:pt idx="26">
                    <c:v>660</c:v>
                  </c:pt>
                  <c:pt idx="27">
                    <c:v>670</c:v>
                  </c:pt>
                  <c:pt idx="28">
                    <c:v>680</c:v>
                  </c:pt>
                  <c:pt idx="29">
                    <c:v>690</c:v>
                  </c:pt>
                  <c:pt idx="30">
                    <c:v>700</c:v>
                  </c:pt>
                </c:lvl>
              </c:multiLvlStrCache>
            </c:multiLvlStrRef>
          </c:cat>
          <c:val>
            <c:numRef>
              <c:f>Sheet1!$D$2:$D$32</c:f>
              <c:numCache>
                <c:formatCode>General</c:formatCode>
                <c:ptCount val="31"/>
                <c:pt idx="0">
                  <c:v>0.012</c:v>
                </c:pt>
                <c:pt idx="1">
                  <c:v>0.012</c:v>
                </c:pt>
                <c:pt idx="2">
                  <c:v>0.012</c:v>
                </c:pt>
                <c:pt idx="3">
                  <c:v>0.012</c:v>
                </c:pt>
                <c:pt idx="4">
                  <c:v>0.012</c:v>
                </c:pt>
                <c:pt idx="5">
                  <c:v>0.012</c:v>
                </c:pt>
                <c:pt idx="6">
                  <c:v>0.012</c:v>
                </c:pt>
                <c:pt idx="7">
                  <c:v>0.013</c:v>
                </c:pt>
                <c:pt idx="8">
                  <c:v>0.013</c:v>
                </c:pt>
                <c:pt idx="9">
                  <c:v>0.013</c:v>
                </c:pt>
                <c:pt idx="10">
                  <c:v>0.014</c:v>
                </c:pt>
                <c:pt idx="11">
                  <c:v>0.016</c:v>
                </c:pt>
                <c:pt idx="12">
                  <c:v>0.018</c:v>
                </c:pt>
                <c:pt idx="13">
                  <c:v>0.021</c:v>
                </c:pt>
                <c:pt idx="14">
                  <c:v>0.026</c:v>
                </c:pt>
                <c:pt idx="15">
                  <c:v>0.034</c:v>
                </c:pt>
                <c:pt idx="16">
                  <c:v>0.046</c:v>
                </c:pt>
                <c:pt idx="17">
                  <c:v>0.065</c:v>
                </c:pt>
                <c:pt idx="18">
                  <c:v>0.094</c:v>
                </c:pt>
                <c:pt idx="19">
                  <c:v>0.136</c:v>
                </c:pt>
                <c:pt idx="20">
                  <c:v>0.197</c:v>
                </c:pt>
                <c:pt idx="21">
                  <c:v>0.282</c:v>
                </c:pt>
                <c:pt idx="22">
                  <c:v>0.393</c:v>
                </c:pt>
                <c:pt idx="23">
                  <c:v>0.528</c:v>
                </c:pt>
                <c:pt idx="24">
                  <c:v>0.676</c:v>
                </c:pt>
                <c:pt idx="25">
                  <c:v>0.824</c:v>
                </c:pt>
                <c:pt idx="26">
                  <c:v>0.959</c:v>
                </c:pt>
                <c:pt idx="27">
                  <c:v>1.07</c:v>
                </c:pt>
                <c:pt idx="28">
                  <c:v>1.155</c:v>
                </c:pt>
                <c:pt idx="29">
                  <c:v>1.216</c:v>
                </c:pt>
                <c:pt idx="30">
                  <c:v>1.258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6B6862"/>
                    </a:solidFill>
                    <a:latin typeface="Courier New"/>
                  </a:defRPr>
                </a:pPr>
                <a:r>
                  <a:rPr sz="900" b="0" i="0" u="none" strike="noStrike">
                    <a:solidFill>
                      <a:srgbClr val="6B6862"/>
                    </a:solidFill>
                    <a:latin typeface="Courier New"/>
                  </a:rPr>
                  <a:t>Wavelength (nm)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6862"/>
                </a:solidFill>
                <a:latin typeface="Courier New"/>
              </a:defRPr>
            </a:pPr>
            <a:endParaRPr lang="en-US"/>
          </a:p>
        </c:txPr>
        <c:crossAx val="2094734552"/>
        <c:crosses val="autoZero"/>
        <c:auto val="1"/>
        <c:lblAlgn val="ctr"/>
        <c:noMultiLvlLbl val="1"/>
        <c:tickLblSkip val="5"/>
      </c:catAx>
      <c:valAx>
        <c:axId val="2094734552"/>
        <c:scaling>
          <c:orientation val="minMax"/>
          <c:max val="1.4"/>
          <c:min val="0"/>
        </c:scaling>
        <c:delete val="0"/>
        <c:axPos val="l"/>
        <c:majorGridlines>
          <c:spPr>
            <a:ln w="6350" cap="flat">
              <a:solidFill>
                <a:srgbClr val="DAD6CE"/>
              </a:solidFill>
              <a:prstDash val="solid"/>
              <a:round/>
            </a:ln>
          </c:spPr>
        </c:majorGridlines>
        <c:title>
          <c:tx>
            <c:rich>
              <a:bodyPr/>
              <a:lstStyle/>
              <a:p>
                <a:pPr>
                  <a:defRPr sz="900" b="0" i="0" u="none" strike="noStrike">
                    <a:solidFill>
                      <a:srgbClr val="6B6862"/>
                    </a:solidFill>
                    <a:latin typeface="Courier New"/>
                  </a:defRPr>
                </a:pPr>
                <a:r>
                  <a:rPr sz="900" b="0" i="0" u="none" strike="noStrike">
                    <a:solidFill>
                      <a:srgbClr val="6B6862"/>
                    </a:solidFill>
                    <a:latin typeface="Courier New"/>
                  </a:rPr>
                  <a:t>Absorbance (AU)</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862"/>
                </a:solidFill>
                <a:latin typeface="Courier New"/>
              </a:defRPr>
            </a:pPr>
            <a:endParaRPr lang="en-US"/>
          </a:p>
        </c:txPr>
        <c:crossAx val="2094734554"/>
        <c:crosses val="autoZero"/>
        <c:crossBetween val="between"/>
        <c:majorUnit val="0.35"/>
      </c:valAx>
      <c:spPr>
        <a:noFill/>
        <a:ln>
          <a:noFill/>
        </a:ln>
        <a:effectLst/>
      </c:spPr>
    </c:plotArea>
    <c:legend>
      <c:legendPos val="t"/>
      <c:overlay val="0"/>
      <c:txPr>
        <a:bodyPr/>
        <a:lstStyle/>
        <a:p>
          <a:pPr>
            <a:defRPr sz="900">
              <a:solidFill>
                <a:srgbClr val="111111"/>
              </a:solidFill>
              <a:latin typeface="Courier New"/>
              <a:cs typeface="Courier New"/>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RMSE</c:v>
                </c:pt>
              </c:strCache>
            </c:strRef>
          </c:tx>
          <c:spPr>
            <a:solidFill>
              <a:srgbClr val="1F3AE0"/>
            </a:solidFill>
            <a:effectLst/>
          </c:spPr>
          <c:invertIfNegative val="0"/>
          <c:dLbls>
            <c:numFmt formatCode="0.0000" sourceLinked="0"/>
            <c:txPr>
              <a:bodyPr/>
              <a:lstStyle/>
              <a:p>
                <a:pPr>
                  <a:defRPr b="1" i="0" strike="noStrike" sz="1200" u="none">
                    <a:solidFill>
                      <a:srgbClr val="111111"/>
                    </a:solidFill>
                    <a:latin typeface="Courier New"/>
                  </a:defRPr>
                </a:pPr>
              </a:p>
            </c:txPr>
            <c:showLegendKey val="0"/>
            <c:showVal val="1"/>
            <c:showCatName val="0"/>
            <c:showSerName val="0"/>
            <c:showPercent val="0"/>
            <c:showBubbleSize val="0"/>
            <c:showLeaderLines val="0"/>
          </c:dLbls>
          <c:cat>
            <c:multiLvlStrRef>
              <c:f>Sheet1!$A$2:$A$3</c:f>
              <c:multiLvlStrCache>
                <c:ptCount val="2"/>
                <c:lvl>
                  <c:pt idx="0">
                    <c:v>Beer–Lambert</c:v>
                  </c:pt>
                  <c:pt idx="1">
                    <c:v>Ridge (selected)</c:v>
                  </c:pt>
                </c:lvl>
              </c:multiLvlStrCache>
            </c:multiLvlStrRef>
          </c:cat>
          <c:val>
            <c:numRef>
              <c:f>Sheet1!$B$2:$B$3</c:f>
              <c:numCache>
                <c:formatCode>General</c:formatCode>
                <c:ptCount val="2"/>
                <c:pt idx="0">
                  <c:v>0.0415</c:v>
                </c:pt>
                <c:pt idx="1">
                  <c:v>0.0127</c:v>
                </c:pt>
              </c:numCache>
            </c:numRef>
          </c:val>
        </c:ser>
        <c:dLbls>
          <c:numFmt formatCode="0.0000" sourceLinked="0"/>
          <c:txPr>
            <a:bodyPr/>
            <a:lstStyle/>
            <a:p>
              <a:pPr>
                <a:defRPr b="1" i="0" strike="noStrike" sz="1200" u="none">
                  <a:solidFill>
                    <a:srgbClr val="111111"/>
                  </a:solidFill>
                  <a:latin typeface="Courier New"/>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11111"/>
                </a:solidFill>
                <a:latin typeface="Arial"/>
              </a:defRPr>
            </a:pPr>
            <a:endParaRPr lang="en-US"/>
          </a:p>
        </c:txPr>
        <c:crossAx val="2094734552"/>
        <c:crosses val="autoZero"/>
        <c:auto val="1"/>
        <c:lblAlgn val="ctr"/>
        <c:noMultiLvlLbl val="1"/>
      </c:catAx>
      <c:valAx>
        <c:axId val="2094734552"/>
        <c:scaling>
          <c:orientation val="minMax"/>
          <c:max val="0.0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LISA</c:v>
                </c:pt>
              </c:strCache>
            </c:strRef>
          </c:tx>
          <c:spPr>
            <a:solidFill>
              <a:srgbClr val="1F3AE0"/>
            </a:solidFill>
            <a:ln>
              <a:noFill/>
            </a:ln>
            <a:effectLst/>
          </c:spPr>
          <c:marker>
            <c:symbol val="circle"/>
            <c:size val="9"/>
            <c:spPr>
              <a:solidFill>
                <a:srgbClr val="1F3AE0"/>
              </a:solidFill>
              <a:ln w="9525" cap="flat">
                <a:solidFill>
                  <a:srgbClr val="1F3AE0"/>
                </a:solidFill>
                <a:prstDash val="solid"/>
                <a:round/>
              </a:ln>
              <a:effectLst/>
            </c:spPr>
          </c:marker>
          <c:xVal>
            <c:numRef>
              <c:f>Sheet1!$A$2:$A$38</c:f>
              <c:numCache>
                <c:formatCode>General</c:formatCode>
                <c:ptCount val="37"/>
                <c:pt idx="0">
                  <c:v>0.102</c:v>
                </c:pt>
                <c:pt idx="1">
                  <c:v>0.201</c:v>
                </c:pt>
                <c:pt idx="2">
                  <c:v>0.398</c:v>
                </c:pt>
                <c:pt idx="3">
                  <c:v>0.595</c:v>
                </c:pt>
                <c:pt idx="4">
                  <c:v>0.796</c:v>
                </c:pt>
                <c:pt idx="5">
                  <c:v>0.997</c:v>
                </c:pt>
                <c:pt idx="6">
                  <c:v>0.399</c:v>
                </c:pt>
                <c:pt idx="7">
                  <c:v>0</c:v>
                </c:pt>
                <c:pt idx="8">
                  <c:v>0.035</c:v>
                </c:pt>
                <c:pt idx="9">
                  <c:v>0.07</c:v>
                </c:pt>
                <c:pt idx="10">
                  <c:v>0.105</c:v>
                </c:pt>
                <c:pt idx="11">
                  <c:v>0.14</c:v>
                </c:pt>
                <c:pt idx="12">
                  <c:v>0.175</c:v>
                </c:pt>
                <c:pt idx="13">
                  <c:v>0.21</c:v>
                </c:pt>
                <c:pt idx="14">
                  <c:v>0.245</c:v>
                </c:pt>
                <c:pt idx="15">
                  <c:v>0.28</c:v>
                </c:pt>
                <c:pt idx="16">
                  <c:v>0.315</c:v>
                </c:pt>
                <c:pt idx="17">
                  <c:v>0.35</c:v>
                </c:pt>
                <c:pt idx="18">
                  <c:v>0.385</c:v>
                </c:pt>
                <c:pt idx="19">
                  <c:v>0.42</c:v>
                </c:pt>
                <c:pt idx="20">
                  <c:v>0.455</c:v>
                </c:pt>
                <c:pt idx="21">
                  <c:v>0.49</c:v>
                </c:pt>
                <c:pt idx="22">
                  <c:v>0.525</c:v>
                </c:pt>
                <c:pt idx="23">
                  <c:v>0.56</c:v>
                </c:pt>
                <c:pt idx="24">
                  <c:v>0.595</c:v>
                </c:pt>
                <c:pt idx="25">
                  <c:v>0.63</c:v>
                </c:pt>
                <c:pt idx="26">
                  <c:v>0.665</c:v>
                </c:pt>
                <c:pt idx="27">
                  <c:v>0.7</c:v>
                </c:pt>
                <c:pt idx="28">
                  <c:v>0.735</c:v>
                </c:pt>
                <c:pt idx="29">
                  <c:v>0.77</c:v>
                </c:pt>
                <c:pt idx="30">
                  <c:v>0.805</c:v>
                </c:pt>
                <c:pt idx="31">
                  <c:v>0.84</c:v>
                </c:pt>
                <c:pt idx="32">
                  <c:v>0.875</c:v>
                </c:pt>
                <c:pt idx="33">
                  <c:v>0.91</c:v>
                </c:pt>
                <c:pt idx="34">
                  <c:v>0.945</c:v>
                </c:pt>
                <c:pt idx="35">
                  <c:v>0.98</c:v>
                </c:pt>
                <c:pt idx="36">
                  <c:v>1.015</c:v>
                </c:pt>
              </c:numCache>
            </c:numRef>
          </c:xVal>
          <c:yVal>
            <c:numRef>
              <c:f>Sheet1!$B$2:$B$38</c:f>
              <c:numCache>
                <c:formatCode>General</c:formatCode>
                <c:ptCount val="37"/>
                <c:pt idx="0">
                  <c:v>0.098</c:v>
                </c:pt>
                <c:pt idx="1">
                  <c:v>0.196</c:v>
                </c:pt>
                <c:pt idx="2">
                  <c:v>0.409</c:v>
                </c:pt>
                <c:pt idx="3">
                  <c:v>0.612</c:v>
                </c:pt>
                <c:pt idx="4">
                  <c:v>0.785</c:v>
                </c:pt>
                <c:pt idx="5">
                  <c:v>0.984</c:v>
                </c:pt>
                <c:pt idx="6">
                  <c:v>0.411</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numCache>
            </c:numRef>
          </c:yVal>
          <c:smooth val="0"/>
        </c:ser>
        <c:ser>
          <c:idx val="1"/>
          <c:order val="1"/>
          <c:tx>
            <c:strRef>
              <c:f>Sheet1!$C$1</c:f>
              <c:strCache>
                <c:ptCount val="1"/>
                <c:pt idx="0">
                  <c:v>Ideal 1:1</c:v>
                </c:pt>
              </c:strCache>
            </c:strRef>
          </c:tx>
          <c:spPr>
            <a:solidFill>
              <a:srgbClr val="A9A59E"/>
            </a:solidFill>
            <a:ln>
              <a:noFill/>
            </a:ln>
            <a:effectLst/>
          </c:spPr>
          <c:marker>
            <c:symbol val="circle"/>
            <c:size val="9"/>
            <c:spPr>
              <a:solidFill>
                <a:srgbClr val="A9A59E"/>
              </a:solidFill>
              <a:ln w="9525" cap="flat">
                <a:solidFill>
                  <a:srgbClr val="A9A59E"/>
                </a:solidFill>
                <a:prstDash val="solid"/>
                <a:round/>
              </a:ln>
              <a:effectLst/>
            </c:spPr>
          </c:marker>
          <c:xVal>
            <c:numRef>
              <c:f>Sheet1!$A$2:$A$38</c:f>
              <c:numCache>
                <c:formatCode>General</c:formatCode>
                <c:ptCount val="37"/>
                <c:pt idx="0">
                  <c:v>0.102</c:v>
                </c:pt>
                <c:pt idx="1">
                  <c:v>0.201</c:v>
                </c:pt>
                <c:pt idx="2">
                  <c:v>0.398</c:v>
                </c:pt>
                <c:pt idx="3">
                  <c:v>0.595</c:v>
                </c:pt>
                <c:pt idx="4">
                  <c:v>0.796</c:v>
                </c:pt>
                <c:pt idx="5">
                  <c:v>0.997</c:v>
                </c:pt>
                <c:pt idx="6">
                  <c:v>0.399</c:v>
                </c:pt>
                <c:pt idx="7">
                  <c:v>0</c:v>
                </c:pt>
                <c:pt idx="8">
                  <c:v>0.035</c:v>
                </c:pt>
                <c:pt idx="9">
                  <c:v>0.07</c:v>
                </c:pt>
                <c:pt idx="10">
                  <c:v>0.105</c:v>
                </c:pt>
                <c:pt idx="11">
                  <c:v>0.14</c:v>
                </c:pt>
                <c:pt idx="12">
                  <c:v>0.175</c:v>
                </c:pt>
                <c:pt idx="13">
                  <c:v>0.21</c:v>
                </c:pt>
                <c:pt idx="14">
                  <c:v>0.245</c:v>
                </c:pt>
                <c:pt idx="15">
                  <c:v>0.28</c:v>
                </c:pt>
                <c:pt idx="16">
                  <c:v>0.315</c:v>
                </c:pt>
                <c:pt idx="17">
                  <c:v>0.35</c:v>
                </c:pt>
                <c:pt idx="18">
                  <c:v>0.385</c:v>
                </c:pt>
                <c:pt idx="19">
                  <c:v>0.42</c:v>
                </c:pt>
                <c:pt idx="20">
                  <c:v>0.455</c:v>
                </c:pt>
                <c:pt idx="21">
                  <c:v>0.49</c:v>
                </c:pt>
                <c:pt idx="22">
                  <c:v>0.525</c:v>
                </c:pt>
                <c:pt idx="23">
                  <c:v>0.56</c:v>
                </c:pt>
                <c:pt idx="24">
                  <c:v>0.595</c:v>
                </c:pt>
                <c:pt idx="25">
                  <c:v>0.63</c:v>
                </c:pt>
                <c:pt idx="26">
                  <c:v>0.665</c:v>
                </c:pt>
                <c:pt idx="27">
                  <c:v>0.7</c:v>
                </c:pt>
                <c:pt idx="28">
                  <c:v>0.735</c:v>
                </c:pt>
                <c:pt idx="29">
                  <c:v>0.77</c:v>
                </c:pt>
                <c:pt idx="30">
                  <c:v>0.805</c:v>
                </c:pt>
                <c:pt idx="31">
                  <c:v>0.84</c:v>
                </c:pt>
                <c:pt idx="32">
                  <c:v>0.875</c:v>
                </c:pt>
                <c:pt idx="33">
                  <c:v>0.91</c:v>
                </c:pt>
                <c:pt idx="34">
                  <c:v>0.945</c:v>
                </c:pt>
                <c:pt idx="35">
                  <c:v>0.98</c:v>
                </c:pt>
                <c:pt idx="36">
                  <c:v>1.015</c:v>
                </c:pt>
              </c:numCache>
            </c:numRef>
          </c:xVal>
          <c:yVal>
            <c:numRef>
              <c:f>Sheet1!$C$2:$C$38</c:f>
              <c:numCache>
                <c:formatCode>General</c:formatCode>
                <c:ptCount val="37"/>
                <c:pt idx="0">
                  <c:v/>
                </c:pt>
                <c:pt idx="1">
                  <c:v/>
                </c:pt>
                <c:pt idx="2">
                  <c:v/>
                </c:pt>
                <c:pt idx="3">
                  <c:v/>
                </c:pt>
                <c:pt idx="4">
                  <c:v/>
                </c:pt>
                <c:pt idx="5">
                  <c:v/>
                </c:pt>
                <c:pt idx="6">
                  <c:v/>
                </c:pt>
                <c:pt idx="7">
                  <c:v>0</c:v>
                </c:pt>
                <c:pt idx="8">
                  <c:v>0.035</c:v>
                </c:pt>
                <c:pt idx="9">
                  <c:v>0.07</c:v>
                </c:pt>
                <c:pt idx="10">
                  <c:v>0.105</c:v>
                </c:pt>
                <c:pt idx="11">
                  <c:v>0.14</c:v>
                </c:pt>
                <c:pt idx="12">
                  <c:v>0.175</c:v>
                </c:pt>
                <c:pt idx="13">
                  <c:v>0.21</c:v>
                </c:pt>
                <c:pt idx="14">
                  <c:v>0.245</c:v>
                </c:pt>
                <c:pt idx="15">
                  <c:v>0.28</c:v>
                </c:pt>
                <c:pt idx="16">
                  <c:v>0.315</c:v>
                </c:pt>
                <c:pt idx="17">
                  <c:v>0.35</c:v>
                </c:pt>
                <c:pt idx="18">
                  <c:v>0.385</c:v>
                </c:pt>
                <c:pt idx="19">
                  <c:v>0.42</c:v>
                </c:pt>
                <c:pt idx="20">
                  <c:v>0.455</c:v>
                </c:pt>
                <c:pt idx="21">
                  <c:v>0.49</c:v>
                </c:pt>
                <c:pt idx="22">
                  <c:v>0.525</c:v>
                </c:pt>
                <c:pt idx="23">
                  <c:v>0.56</c:v>
                </c:pt>
                <c:pt idx="24">
                  <c:v>0.595</c:v>
                </c:pt>
                <c:pt idx="25">
                  <c:v>0.63</c:v>
                </c:pt>
                <c:pt idx="26">
                  <c:v>0.665</c:v>
                </c:pt>
                <c:pt idx="27">
                  <c:v>0.7</c:v>
                </c:pt>
                <c:pt idx="28">
                  <c:v>0.735</c:v>
                </c:pt>
                <c:pt idx="29">
                  <c:v>0.77</c:v>
                </c:pt>
                <c:pt idx="30">
                  <c:v>0.805</c:v>
                </c:pt>
                <c:pt idx="31">
                  <c:v>0.84</c:v>
                </c:pt>
                <c:pt idx="32">
                  <c:v>0.875</c:v>
                </c:pt>
                <c:pt idx="33">
                  <c:v>0.91</c:v>
                </c:pt>
                <c:pt idx="34">
                  <c:v>0.945</c:v>
                </c:pt>
                <c:pt idx="35">
                  <c:v>0.98</c:v>
                </c:pt>
                <c:pt idx="36">
                  <c:v>1.015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1"/>
          <c:min val="0"/>
        </c:scaling>
        <c:delete val="0"/>
        <c:axPos val="b"/>
        <c:majorGridlines>
          <c:spPr>
            <a:ln w="6350" cap="flat">
              <a:solidFill>
                <a:srgbClr val="DAD6CE"/>
              </a:solidFill>
              <a:prstDash val="solid"/>
              <a:round/>
            </a:ln>
          </c:spPr>
        </c:majorGridlines>
        <c:title>
          <c:tx>
            <c:rich>
              <a:bodyPr/>
              <a:lstStyle/>
              <a:p>
                <a:pPr>
                  <a:defRPr sz="900" b="0" i="0" u="none" strike="noStrike">
                    <a:solidFill>
                      <a:srgbClr val="000000"/>
                    </a:solidFill>
                    <a:latin typeface="Courier New"/>
                  </a:defRPr>
                </a:pPr>
                <a:r>
                  <a:rPr sz="900" b="0" i="0" u="none" strike="noStrike">
                    <a:solidFill>
                      <a:srgbClr val="000000"/>
                    </a:solidFill>
                    <a:latin typeface="Courier New"/>
                  </a:rPr>
                  <a:t>Benchtop UV-Vis (mg/L)</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6B6862"/>
                </a:solidFill>
                <a:latin typeface="Courier New"/>
              </a:defRPr>
            </a:pPr>
            <a:endParaRPr lang="en-US"/>
          </a:p>
        </c:txPr>
        <c:crossAx val="2094734552"/>
        <c:crosses val="autoZero"/>
        <c:auto val="1"/>
        <c:lblAlgn val="ctr"/>
        <c:noMultiLvlLbl val="1"/>
        <c:majorUnit val="0.25"/>
      </c:valAx>
      <c:valAx>
        <c:axId val="2094734552"/>
        <c:scaling>
          <c:orientation val="minMax"/>
          <c:max val="1.1"/>
          <c:min val="0"/>
        </c:scaling>
        <c:delete val="0"/>
        <c:axPos val="l"/>
        <c:majorGridlines>
          <c:spPr>
            <a:ln w="6350" cap="flat">
              <a:solidFill>
                <a:srgbClr val="DAD6CE"/>
              </a:solidFill>
              <a:prstDash val="solid"/>
              <a:round/>
            </a:ln>
          </c:spPr>
        </c:majorGridlines>
        <c:title>
          <c:tx>
            <c:rich>
              <a:bodyPr/>
              <a:lstStyle/>
              <a:p>
                <a:pPr>
                  <a:defRPr sz="900" b="0" i="0" u="none" strike="noStrike">
                    <a:solidFill>
                      <a:srgbClr val="000000"/>
                    </a:solidFill>
                    <a:latin typeface="Courier New"/>
                  </a:defRPr>
                </a:pPr>
                <a:r>
                  <a:rPr sz="900" b="0" i="0" u="none" strike="noStrike">
                    <a:solidFill>
                      <a:srgbClr val="000000"/>
                    </a:solidFill>
                    <a:latin typeface="Courier New"/>
                  </a:rPr>
                  <a:t>LISA (mg/L)</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6B6862"/>
                </a:solidFill>
                <a:latin typeface="Courier New"/>
              </a:defRPr>
            </a:pPr>
            <a:endParaRPr lang="en-US"/>
          </a:p>
        </c:txPr>
        <c:crossAx val="2094734554"/>
        <c:crosses val="autoZero"/>
        <c:crossBetween val="midCat"/>
        <c:majorUnit val="0.25"/>
      </c:valAx>
      <c:spPr>
        <a:noFill/>
        <a:ln>
          <a:noFill/>
        </a:ln>
        <a:effectLst/>
      </c:spPr>
    </c:plotArea>
    <c:legend>
      <c:legendPos val="b"/>
      <c:overlay val="0"/>
      <c:txPr>
        <a:bodyPr/>
        <a:lstStyle/>
        <a:p>
          <a:pPr>
            <a:defRPr sz="900">
              <a:latin typeface="Courier New"/>
              <a:cs typeface="Courier New"/>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Cost at 10k units</c:v>
                </c:pt>
              </c:strCache>
            </c:strRef>
          </c:tx>
          <c:spPr>
            <a:solidFill>
              <a:srgbClr val="A9A59E"/>
            </a:solidFill>
            <a:effectLst/>
          </c:spPr>
          <c:invertIfNegative val="0"/>
          <c:dLbls>
            <c:numFmt formatCode="&quot;₹&quot;#,##0" sourceLinked="0"/>
            <c:txPr>
              <a:bodyPr/>
              <a:lstStyle/>
              <a:p>
                <a:pPr>
                  <a:defRPr b="1" i="0" strike="noStrike" sz="1000" u="none">
                    <a:solidFill>
                      <a:srgbClr val="111111"/>
                    </a:solidFill>
                    <a:latin typeface="Courier New"/>
                  </a:defRPr>
                </a:pPr>
              </a:p>
            </c:txPr>
            <c:showLegendKey val="0"/>
            <c:showVal val="1"/>
            <c:showCatName val="0"/>
            <c:showSerName val="0"/>
            <c:showPercent val="0"/>
            <c:showBubbleSize val="0"/>
            <c:showLeaderLines val="0"/>
          </c:dLbls>
          <c:cat>
            <c:multiLvlStrRef>
              <c:f>Sheet1!$A$2:$A$3</c:f>
              <c:multiLvlStrCache>
                <c:ptCount val="2"/>
                <c:lvl>
                  <c:pt idx="0">
                    <c:v>Hardware kit</c:v>
                  </c:pt>
                  <c:pt idx="1">
                    <c:v>Refill pack (50)</c:v>
                  </c:pt>
                </c:lvl>
              </c:multiLvlStrCache>
            </c:multiLvlStrRef>
          </c:cat>
          <c:val>
            <c:numRef>
              <c:f>Sheet1!$B$2:$B$3</c:f>
              <c:numCache>
                <c:formatCode>General</c:formatCode>
                <c:ptCount val="2"/>
                <c:pt idx="0">
                  <c:v>285</c:v>
                </c:pt>
                <c:pt idx="1">
                  <c:v>60</c:v>
                </c:pt>
              </c:numCache>
            </c:numRef>
          </c:val>
        </c:ser>
        <c:ser>
          <c:idx val="1"/>
          <c:order val="1"/>
          <c:tx>
            <c:strRef>
              <c:f>Sheet1!$C$1</c:f>
              <c:strCache>
                <c:ptCount val="1"/>
                <c:pt idx="0">
                  <c:v>Retail price</c:v>
                </c:pt>
              </c:strCache>
            </c:strRef>
          </c:tx>
          <c:spPr>
            <a:solidFill>
              <a:srgbClr val="1F3AE0"/>
            </a:solidFill>
            <a:effectLst/>
          </c:spPr>
          <c:invertIfNegative val="0"/>
          <c:dLbls>
            <c:numFmt formatCode="&quot;₹&quot;#,##0" sourceLinked="0"/>
            <c:txPr>
              <a:bodyPr/>
              <a:lstStyle/>
              <a:p>
                <a:pPr>
                  <a:defRPr b="1" i="0" strike="noStrike" sz="1000" u="none">
                    <a:solidFill>
                      <a:srgbClr val="111111"/>
                    </a:solidFill>
                    <a:latin typeface="Courier New"/>
                  </a:defRPr>
                </a:pPr>
              </a:p>
            </c:txPr>
            <c:showLegendKey val="0"/>
            <c:showVal val="1"/>
            <c:showCatName val="0"/>
            <c:showSerName val="0"/>
            <c:showPercent val="0"/>
            <c:showBubbleSize val="0"/>
            <c:showLeaderLines val="0"/>
          </c:dLbls>
          <c:cat>
            <c:multiLvlStrRef>
              <c:f>Sheet1!$A$2:$A$3</c:f>
              <c:multiLvlStrCache>
                <c:ptCount val="2"/>
                <c:lvl>
                  <c:pt idx="0">
                    <c:v>Hardware kit</c:v>
                  </c:pt>
                  <c:pt idx="1">
                    <c:v>Refill pack (50)</c:v>
                  </c:pt>
                </c:lvl>
              </c:multiLvlStrCache>
            </c:multiLvlStrRef>
          </c:cat>
          <c:val>
            <c:numRef>
              <c:f>Sheet1!$C$2:$C$3</c:f>
              <c:numCache>
                <c:formatCode>General</c:formatCode>
                <c:ptCount val="2"/>
                <c:pt idx="0">
                  <c:v>1999</c:v>
                </c:pt>
                <c:pt idx="1">
                  <c:v>499</c:v>
                </c:pt>
              </c:numCache>
            </c:numRef>
          </c:val>
        </c:ser>
        <c:dLbls>
          <c:numFmt formatCode="&quot;₹&quot;#,##0" sourceLinked="0"/>
          <c:txPr>
            <a:bodyPr/>
            <a:lstStyle/>
            <a:p>
              <a:pPr>
                <a:defRPr b="1" i="0" strike="noStrike" sz="1000" u="none">
                  <a:solidFill>
                    <a:srgbClr val="111111"/>
                  </a:solidFill>
                  <a:latin typeface="Courier New"/>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11111"/>
                </a:solidFill>
                <a:latin typeface="Arial"/>
              </a:defRPr>
            </a:pPr>
            <a:endParaRPr lang="en-US"/>
          </a:p>
        </c:txPr>
        <c:crossAx val="2094734552"/>
        <c:crosses val="autoZero"/>
        <c:auto val="1"/>
        <c:lblAlgn val="ctr"/>
        <c:noMultiLvlLbl val="1"/>
      </c:catAx>
      <c:valAx>
        <c:axId val="2094734552"/>
        <c:scaling>
          <c:orientation val="minMax"/>
          <c:max val="24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900">
              <a:latin typeface="Courier New"/>
              <a:cs typeface="Courier New"/>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Stuti opens (15 s). "Judges, twelve years ago Foldscope proved that a sheet of paper could become a clinical microscope. Today we present LISA, which does the same thing for water chemistry." Pause and let the cover art sit: light goes in through a slit and comes out as a spectrum. That is the whole instrument.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in four people on Earth lacks safely managed drinking water. In India the threat is chemical: the CGWB tested 15,259 wells and one in five failed on nitrate. Fluoride shows up in 263 districts, including the belt near us in Haryana. None of it has a colour, a smell or a taste."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government has already done the hard part and trained 24.8 lakh women. But their kits ask a human eye to compare a shade of blue against a paper card, in sunlight or under a tube light. So the government itself calls these results indicative. There is no GPS, no timestamp and no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either send the sample to a distant NABL lab and wait two weeks, or you hand a rural worker a paper strip and ask her to guess a shade of blue. LISA is a third category: lab-grade measurement at field-kit cost, on a phone she already 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lab spectrometer is four parts: light, sample cell, something that splits colour, and a sensor with a computer. Your phone has three of the four. We add the fourth, a diffraction grating and a razor-blade slit in a folded card, and then the software does the heavy lifting."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hackathon vapourware. A peer-reviewed paper published this month in Sensors and Actuators B shows a phone spectrometer measuring phosphorus with under 10% error, cutting a 40-minute lab test to under 5 minutes. Their cross-device result is the reason LISA fingerprints every phone. Be precise if asked: they measured total phosphorus with filtration only, so we call real-sample agreement a practical consistency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invent phone spectroscopy, and we say so. Foldscope showed frugal optics could scale, Raskar's lab and others proved phone spectrometers, Pitula showed every camera is different, and Feng proved the chemistry. LISA packages all of it for one user: a JJM tester at a handpump."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judge asks whether this is just the Chinese paper: the paper proves the physics with a $700 device. We rebuilt it for a few hundred rupees, Foldscope-style, and added what a field tester needs: an engine that refuses bad samples, local-language output and offline 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Parth lifts the device. "Folded card, two razor blades, a grating film over the camera. Five hundred rupees today, under three hundred at scale. A household CFL tube is our wavelength ruler: its mercury lines at 436, 546 and 611 nm let us calibrate every phone to within a nanometre."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Raj. "AI cannot see molecules in clear water. Chemistry makes the contaminant visible, turning phosphate into molybdenum blue. Physics then measures how much red light disappears. Double the phosphate and you double the absorbance: that is Beer–Lambert. The AI's job is to make that measurement reliable on a cheap phone in a real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 "Nine stages, under 50 milliseconds, fully offline. We lock the camera so the phone stops beautifying the image, find the rainbow, calibrate it against a tube light, subtract blanks, then run two models side by side. Quality control and uncertainty come before any number reaches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Yash. "Technical judges hate AI for the sake of AI, and so do we. LISA fits the classical Beer–Lambert model and a full-spectrum ridge model, cross-validates both by leaving out whole concentrations, and uses whichever wins. If simple physics is better, LISA uses simple physics."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mic-drop. Yash inserts the adversarial sample. "The most dangerous sensor is one that guesses when a child's drinking water is at stake. This dye has never been in our calibration space, so LISA refuses and asks for lab verification. Across our failure library (unknown dye, saturation, misalignment, over-range, uncalibrated metal, low light) it intercepted 7 out of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Screen-mirror the live app here. Demo modes: Run Demo (2 minutes), Judge Blind Test (vials X/Y/Z, sealed truth), Adversarial, Calibrate Phone (device fingerprint LISA-XXXX-XXXX), Hardware. Tap the speaker icon so the Hindi readout plays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an instrument test suite, not a pitch demo. Fifty verification tests, 144 field-stress combinations of noise, turbidity, misalignment and four phone profiles, zero false acceptances, and bit-for-bit reproducibility. Every number on this slide is computed by the engine, and anything simulated is badged as simulated. Our first milestone is running the same protocol on 100 real samples against a NABL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Aditi holds three coded vials. "Judges, pick any one. Only I hold the sealed key." Run it, then unseal the envelope. Be upfront about B-07: turbid river water reads low and QC flags it, which is exactly why the protocol adds a sample blank. We show our misses because the refusal logic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strips are cheap but subjective. Handheld meters cost about forty-five thousand rupees and test one parameter. RGB phone apps read three colour channels. LISA reads 151 spectral bands, handles several chemistries, logs everything offline, and is the only option that refuses a sample it does not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ask the government to build new labs. We plug into a network that exists: 24.8 lakh testers. If each one runs a single LISA test a week, that is about 13 crore digital, geotagged tests a year. Aquaculture, schools and housing societies are the markets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razor-and-blade. The reader goes out near cost. Revenue recurs from sealed reagent pods at about ten rupees a test and 80%+ margin, plus a dashboard subscription for panchayats and state 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"Cardboard and gratings can't be patented. The moat is data. Every validated test uploads a geotagged spectrum, so we learn real Indian water matrices, not synthetic lab water. States see contamination plumes spread in real time instead of waiting months for paper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 1 is uncomfortable honesty: a hundred blind split-samples against a NABL lab, published openly. Month 2 is fluoride for Sonipat. By month 6, 25 units with real village testers. Lead stays a research track: at 10 ppb it needs pre-concentration, and we will not overclaim."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Golden 30-second rule for Q&amp;A: a direct answer (5 s), empirical proof with a number or citation (15 s), then the roadmap (10 s). Raj takes chemistry questions, Yash takes optics and software, Stuti takes policy and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Stuti closes. "We brought analytical chemistry, software, policy, data and hardware together and took LISA from a paper to a working instrument in 24 hours. We are asking for a seed grant, a NABL validation partner and pilot access to two Haryana panchayats."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"Foldscope proved you don't need a ten-lakh microscope to save lives. LISA proves you don't need a ten-lakh spectrophotometer to know what's in your water. Thank you, and we welcome your hardest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2-image-1.jpe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jp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Slide-10-image-1.jpe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Slide-12-image-1.jpe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1.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Slide-15-image-1.jpe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Slide-19-image-1.jpe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jp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image" Target="../media/image-24-2.jp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cover_art.jpg">    </p:cNvPr>
          <p:cNvPicPr>
            <a:picLocks noChangeAspect="1"/>
          </p:cNvPicPr>
          <p:nvPr/>
        </p:nvPicPr>
        <p:blipFill>
          <a:blip r:embed="rId2"/>
          <a:srcRect l="0" r="0" t="0" b="0"/>
          <a:stretch/>
        </p:blipFill>
        <p:spPr>
          <a:xfrm>
            <a:off x="6108192" y="0"/>
            <a:ext cx="6083503" cy="6858000"/>
          </a:xfrm>
          <a:prstGeom prst="rect">
            <a:avLst/>
          </a:prstGeom>
        </p:spPr>
      </p:pic>
      <p:sp>
        <p:nvSpPr>
          <p:cNvPr id="3" name="Text 0"/>
          <p:cNvSpPr txBox="1"/>
          <p:nvPr/>
        </p:nvSpPr>
        <p:spPr>
          <a:xfrm>
            <a:off x="548640" y="457200"/>
            <a:ext cx="5303520" cy="274320"/>
          </a:xfrm>
          <a:prstGeom prst="rect">
            <a:avLst/>
          </a:prstGeom>
          <a:noFill/>
          <a:ln/>
        </p:spPr>
        <p:txBody>
          <a:bodyPr wrap="square" lIns="0" tIns="0" rIns="0" bIns="0" rtlCol="0" anchor="ctr"/>
          <a:lstStyle/>
          <a:p>
            <a:pPr indent="0" marL="0">
              <a:buNone/>
            </a:pPr>
            <a:r>
              <a:rPr lang="en-US" sz="1000" b="1" spc="200" kern="0" dirty="0">
                <a:solidFill>
                  <a:srgbClr val="111111"/>
                </a:solidFill>
                <a:latin typeface="Courier New" pitchFamily="34" charset="0"/>
                <a:ea typeface="Courier New" pitchFamily="34" charset="-122"/>
                <a:cs typeface="Courier New" pitchFamily="34" charset="-120"/>
              </a:rPr>
              <a:t>ASHOKA STARTUP CHALLENGE · 2026</a:t>
            </a:r>
            <a:endParaRPr lang="en-US" sz="1000" dirty="0"/>
          </a:p>
        </p:txBody>
      </p:sp>
      <p:sp>
        <p:nvSpPr>
          <p:cNvPr id="4" name="Text 1"/>
          <p:cNvSpPr txBox="1"/>
          <p:nvPr/>
        </p:nvSpPr>
        <p:spPr>
          <a:xfrm>
            <a:off x="475488" y="1051560"/>
            <a:ext cx="5486400" cy="1737360"/>
          </a:xfrm>
          <a:prstGeom prst="rect">
            <a:avLst/>
          </a:prstGeom>
          <a:noFill/>
          <a:ln/>
        </p:spPr>
        <p:txBody>
          <a:bodyPr wrap="square" lIns="0" tIns="0" rIns="0" bIns="0" rtlCol="0" anchor="ctr"/>
          <a:lstStyle/>
          <a:p>
            <a:pPr indent="0" marL="0">
              <a:buNone/>
            </a:pPr>
            <a:r>
              <a:rPr lang="en-US" sz="11800" spc="-400" kern="0" dirty="0">
                <a:solidFill>
                  <a:srgbClr val="111111"/>
                </a:solidFill>
                <a:latin typeface="Arial Black" pitchFamily="34" charset="0"/>
                <a:ea typeface="Arial Black" pitchFamily="34" charset="-122"/>
                <a:cs typeface="Arial Black" pitchFamily="34" charset="-120"/>
              </a:rPr>
              <a:t>LISA</a:t>
            </a:r>
            <a:endParaRPr lang="en-US" sz="11800" dirty="0"/>
          </a:p>
        </p:txBody>
      </p:sp>
      <p:sp>
        <p:nvSpPr>
          <p:cNvPr id="5" name="Text 2"/>
          <p:cNvSpPr txBox="1"/>
          <p:nvPr/>
        </p:nvSpPr>
        <p:spPr>
          <a:xfrm>
            <a:off x="566928" y="2788920"/>
            <a:ext cx="5303520" cy="822960"/>
          </a:xfrm>
          <a:prstGeom prst="rect">
            <a:avLst/>
          </a:prstGeom>
          <a:noFill/>
          <a:ln/>
        </p:spPr>
        <p:txBody>
          <a:bodyPr wrap="square" lIns="0" tIns="0" rIns="0" bIns="0" rtlCol="0" anchor="ctr"/>
          <a:lstStyle/>
          <a:p>
            <a:pPr indent="0" marL="0">
              <a:lnSpc>
                <a:spcPct val="100000"/>
              </a:lnSpc>
              <a:buNone/>
            </a:pPr>
            <a:r>
              <a:rPr lang="en-US" sz="2000" dirty="0">
                <a:solidFill>
                  <a:srgbClr val="1F3AE0"/>
                </a:solidFill>
                <a:latin typeface="Arial Black" pitchFamily="34" charset="0"/>
                <a:ea typeface="Arial Black" pitchFamily="34" charset="-122"/>
                <a:cs typeface="Arial Black" pitchFamily="34" charset="-120"/>
              </a:rPr>
              <a:t>Light-based In-field</a:t>
            </a:r>
            <a:endParaRPr lang="en-US" sz="2000" dirty="0"/>
          </a:p>
          <a:p>
            <a:pPr indent="0" marL="0">
              <a:lnSpc>
                <a:spcPct val="100000"/>
              </a:lnSpc>
              <a:buNone/>
            </a:pPr>
            <a:r>
              <a:rPr lang="en-US" sz="2000" dirty="0">
                <a:solidFill>
                  <a:srgbClr val="1F3AE0"/>
                </a:solidFill>
                <a:latin typeface="Arial Black" pitchFamily="34" charset="0"/>
                <a:ea typeface="Arial Black" pitchFamily="34" charset="-122"/>
                <a:cs typeface="Arial Black" pitchFamily="34" charset="-120"/>
              </a:rPr>
              <a:t>Spectral Analyser</a:t>
            </a:r>
            <a:endParaRPr lang="en-US" sz="2000" dirty="0"/>
          </a:p>
        </p:txBody>
      </p:sp>
      <p:sp>
        <p:nvSpPr>
          <p:cNvPr id="6" name="Text 3"/>
          <p:cNvSpPr txBox="1"/>
          <p:nvPr/>
        </p:nvSpPr>
        <p:spPr>
          <a:xfrm>
            <a:off x="566928" y="3794760"/>
            <a:ext cx="5029200" cy="1005840"/>
          </a:xfrm>
          <a:prstGeom prst="rect">
            <a:avLst/>
          </a:prstGeom>
          <a:noFill/>
          <a:ln/>
        </p:spPr>
        <p:txBody>
          <a:bodyPr wrap="square" lIns="0" tIns="0" rIns="0" bIns="0" rtlCol="0" anchor="t"/>
          <a:lstStyle/>
          <a:p>
            <a:pPr indent="0" marL="0">
              <a:buNone/>
            </a:pPr>
            <a:r>
              <a:rPr lang="en-US" sz="1500" i="1" dirty="0">
                <a:solidFill>
                  <a:srgbClr val="111111"/>
                </a:solidFill>
                <a:latin typeface="Georgia" pitchFamily="34" charset="0"/>
                <a:ea typeface="Georgia" pitchFamily="34" charset="-122"/>
                <a:cs typeface="Georgia" pitchFamily="34" charset="-120"/>
              </a:rPr>
              <a:t>A ₹500 clip-on optic and a physics-informed engine that turn any smartphone into a calibrated water-chemistry lab, and that refuse to guess when they can’t be sure.</a:t>
            </a:r>
            <a:endParaRPr lang="en-US" sz="1500" dirty="0"/>
          </a:p>
        </p:txBody>
      </p:sp>
      <p:sp>
        <p:nvSpPr>
          <p:cNvPr id="7" name="Shape 4"/>
          <p:cNvSpPr/>
          <p:nvPr/>
        </p:nvSpPr>
        <p:spPr>
          <a:xfrm>
            <a:off x="566928" y="5120640"/>
            <a:ext cx="1097280" cy="0"/>
          </a:xfrm>
          <a:prstGeom prst="line">
            <a:avLst/>
          </a:prstGeom>
          <a:noFill/>
          <a:ln w="19050">
            <a:solidFill>
              <a:srgbClr val="111111"/>
            </a:solidFill>
            <a:prstDash val="solid"/>
          </a:ln>
        </p:spPr>
      </p:sp>
      <p:sp>
        <p:nvSpPr>
          <p:cNvPr id="8" name="Text 5"/>
          <p:cNvSpPr txBox="1"/>
          <p:nvPr/>
        </p:nvSpPr>
        <p:spPr>
          <a:xfrm>
            <a:off x="566928" y="5212080"/>
            <a:ext cx="1234440" cy="365760"/>
          </a:xfrm>
          <a:prstGeom prst="rect">
            <a:avLst/>
          </a:prstGeom>
          <a:noFill/>
          <a:ln/>
        </p:spPr>
        <p:txBody>
          <a:bodyPr wrap="square" lIns="0" tIns="0" rIns="0" bIns="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400–700</a:t>
            </a:r>
            <a:endParaRPr lang="en-US" sz="1500" dirty="0"/>
          </a:p>
        </p:txBody>
      </p:sp>
      <p:sp>
        <p:nvSpPr>
          <p:cNvPr id="9" name="Text 6"/>
          <p:cNvSpPr txBox="1"/>
          <p:nvPr/>
        </p:nvSpPr>
        <p:spPr>
          <a:xfrm>
            <a:off x="566928" y="5577840"/>
            <a:ext cx="1234440" cy="228600"/>
          </a:xfrm>
          <a:prstGeom prst="rect">
            <a:avLst/>
          </a:prstGeom>
          <a:noFill/>
          <a:ln/>
        </p:spPr>
        <p:txBody>
          <a:bodyPr wrap="square" lIns="0" tIns="0" rIns="0" bIns="0" rtlCol="0" anchor="ctr"/>
          <a:lstStyle/>
          <a:p>
            <a:pPr indent="0" marL="0">
              <a:buNone/>
            </a:pPr>
            <a:r>
              <a:rPr lang="en-US" sz="850" spc="100" kern="0" dirty="0">
                <a:solidFill>
                  <a:srgbClr val="6B6862"/>
                </a:solidFill>
                <a:latin typeface="Courier New" pitchFamily="34" charset="0"/>
                <a:ea typeface="Courier New" pitchFamily="34" charset="-122"/>
                <a:cs typeface="Courier New" pitchFamily="34" charset="-120"/>
              </a:rPr>
              <a:t>nm range</a:t>
            </a:r>
            <a:endParaRPr lang="en-US" sz="850" dirty="0"/>
          </a:p>
        </p:txBody>
      </p:sp>
      <p:sp>
        <p:nvSpPr>
          <p:cNvPr id="10" name="Shape 7"/>
          <p:cNvSpPr/>
          <p:nvPr/>
        </p:nvSpPr>
        <p:spPr>
          <a:xfrm>
            <a:off x="1847088" y="5120640"/>
            <a:ext cx="1097280" cy="0"/>
          </a:xfrm>
          <a:prstGeom prst="line">
            <a:avLst/>
          </a:prstGeom>
          <a:noFill/>
          <a:ln w="19050">
            <a:solidFill>
              <a:srgbClr val="111111"/>
            </a:solidFill>
            <a:prstDash val="solid"/>
          </a:ln>
        </p:spPr>
      </p:sp>
      <p:sp>
        <p:nvSpPr>
          <p:cNvPr id="11" name="Text 8"/>
          <p:cNvSpPr txBox="1"/>
          <p:nvPr/>
        </p:nvSpPr>
        <p:spPr>
          <a:xfrm>
            <a:off x="1847088" y="5212080"/>
            <a:ext cx="1234440" cy="365760"/>
          </a:xfrm>
          <a:prstGeom prst="rect">
            <a:avLst/>
          </a:prstGeom>
          <a:noFill/>
          <a:ln/>
        </p:spPr>
        <p:txBody>
          <a:bodyPr wrap="square" lIns="0" tIns="0" rIns="0" bIns="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151</a:t>
            </a:r>
            <a:endParaRPr lang="en-US" sz="1500" dirty="0"/>
          </a:p>
        </p:txBody>
      </p:sp>
      <p:sp>
        <p:nvSpPr>
          <p:cNvPr id="12" name="Text 9"/>
          <p:cNvSpPr txBox="1"/>
          <p:nvPr/>
        </p:nvSpPr>
        <p:spPr>
          <a:xfrm>
            <a:off x="1847088" y="5577840"/>
            <a:ext cx="1234440" cy="228600"/>
          </a:xfrm>
          <a:prstGeom prst="rect">
            <a:avLst/>
          </a:prstGeom>
          <a:noFill/>
          <a:ln/>
        </p:spPr>
        <p:txBody>
          <a:bodyPr wrap="square" lIns="0" tIns="0" rIns="0" bIns="0" rtlCol="0" anchor="ctr"/>
          <a:lstStyle/>
          <a:p>
            <a:pPr indent="0" marL="0">
              <a:buNone/>
            </a:pPr>
            <a:r>
              <a:rPr lang="en-US" sz="850" spc="100" kern="0" dirty="0">
                <a:solidFill>
                  <a:srgbClr val="6B6862"/>
                </a:solidFill>
                <a:latin typeface="Courier New" pitchFamily="34" charset="0"/>
                <a:ea typeface="Courier New" pitchFamily="34" charset="-122"/>
                <a:cs typeface="Courier New" pitchFamily="34" charset="-120"/>
              </a:rPr>
              <a:t>spectral bands</a:t>
            </a:r>
            <a:endParaRPr lang="en-US" sz="850" dirty="0"/>
          </a:p>
        </p:txBody>
      </p:sp>
      <p:sp>
        <p:nvSpPr>
          <p:cNvPr id="13" name="Shape 10"/>
          <p:cNvSpPr/>
          <p:nvPr/>
        </p:nvSpPr>
        <p:spPr>
          <a:xfrm>
            <a:off x="3127248" y="5120640"/>
            <a:ext cx="1097280" cy="0"/>
          </a:xfrm>
          <a:prstGeom prst="line">
            <a:avLst/>
          </a:prstGeom>
          <a:noFill/>
          <a:ln w="19050">
            <a:solidFill>
              <a:srgbClr val="111111"/>
            </a:solidFill>
            <a:prstDash val="solid"/>
          </a:ln>
        </p:spPr>
      </p:sp>
      <p:sp>
        <p:nvSpPr>
          <p:cNvPr id="14" name="Text 11"/>
          <p:cNvSpPr txBox="1"/>
          <p:nvPr/>
        </p:nvSpPr>
        <p:spPr>
          <a:xfrm>
            <a:off x="3127248" y="5212080"/>
            <a:ext cx="1234440" cy="365760"/>
          </a:xfrm>
          <a:prstGeom prst="rect">
            <a:avLst/>
          </a:prstGeom>
          <a:noFill/>
          <a:ln/>
        </p:spPr>
        <p:txBody>
          <a:bodyPr wrap="square" lIns="0" tIns="0" rIns="0" bIns="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&lt;50 ms</a:t>
            </a:r>
            <a:endParaRPr lang="en-US" sz="1500" dirty="0"/>
          </a:p>
        </p:txBody>
      </p:sp>
      <p:sp>
        <p:nvSpPr>
          <p:cNvPr id="15" name="Text 12"/>
          <p:cNvSpPr txBox="1"/>
          <p:nvPr/>
        </p:nvSpPr>
        <p:spPr>
          <a:xfrm>
            <a:off x="3127248" y="5577840"/>
            <a:ext cx="1234440" cy="228600"/>
          </a:xfrm>
          <a:prstGeom prst="rect">
            <a:avLst/>
          </a:prstGeom>
          <a:noFill/>
          <a:ln/>
        </p:spPr>
        <p:txBody>
          <a:bodyPr wrap="square" lIns="0" tIns="0" rIns="0" bIns="0" rtlCol="0" anchor="ctr"/>
          <a:lstStyle/>
          <a:p>
            <a:pPr indent="0" marL="0">
              <a:buNone/>
            </a:pPr>
            <a:r>
              <a:rPr lang="en-US" sz="850" spc="100" kern="0" dirty="0">
                <a:solidFill>
                  <a:srgbClr val="6B6862"/>
                </a:solidFill>
                <a:latin typeface="Courier New" pitchFamily="34" charset="0"/>
                <a:ea typeface="Courier New" pitchFamily="34" charset="-122"/>
                <a:cs typeface="Courier New" pitchFamily="34" charset="-120"/>
              </a:rPr>
              <a:t>on-device DSP</a:t>
            </a:r>
            <a:endParaRPr lang="en-US" sz="850" dirty="0"/>
          </a:p>
        </p:txBody>
      </p:sp>
      <p:sp>
        <p:nvSpPr>
          <p:cNvPr id="16" name="Shape 13"/>
          <p:cNvSpPr/>
          <p:nvPr/>
        </p:nvSpPr>
        <p:spPr>
          <a:xfrm>
            <a:off x="4407408" y="5120640"/>
            <a:ext cx="1097280" cy="0"/>
          </a:xfrm>
          <a:prstGeom prst="line">
            <a:avLst/>
          </a:prstGeom>
          <a:noFill/>
          <a:ln w="19050">
            <a:solidFill>
              <a:srgbClr val="111111"/>
            </a:solidFill>
            <a:prstDash val="solid"/>
          </a:ln>
        </p:spPr>
      </p:sp>
      <p:sp>
        <p:nvSpPr>
          <p:cNvPr id="17" name="Text 14"/>
          <p:cNvSpPr txBox="1"/>
          <p:nvPr/>
        </p:nvSpPr>
        <p:spPr>
          <a:xfrm>
            <a:off x="4407408" y="5212080"/>
            <a:ext cx="1234440" cy="365760"/>
          </a:xfrm>
          <a:prstGeom prst="rect">
            <a:avLst/>
          </a:prstGeom>
          <a:noFill/>
          <a:ln/>
        </p:spPr>
        <p:txBody>
          <a:bodyPr wrap="square" lIns="0" tIns="0" rIns="0" bIns="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100%</a:t>
            </a:r>
            <a:endParaRPr lang="en-US" sz="1500" dirty="0"/>
          </a:p>
        </p:txBody>
      </p:sp>
      <p:sp>
        <p:nvSpPr>
          <p:cNvPr id="18" name="Text 15"/>
          <p:cNvSpPr txBox="1"/>
          <p:nvPr/>
        </p:nvSpPr>
        <p:spPr>
          <a:xfrm>
            <a:off x="4407408" y="5577840"/>
            <a:ext cx="1234440" cy="228600"/>
          </a:xfrm>
          <a:prstGeom prst="rect">
            <a:avLst/>
          </a:prstGeom>
          <a:noFill/>
          <a:ln/>
        </p:spPr>
        <p:txBody>
          <a:bodyPr wrap="square" lIns="0" tIns="0" rIns="0" bIns="0" rtlCol="0" anchor="ctr"/>
          <a:lstStyle/>
          <a:p>
            <a:pPr indent="0" marL="0">
              <a:buNone/>
            </a:pPr>
            <a:r>
              <a:rPr lang="en-US" sz="850" spc="100" kern="0" dirty="0">
                <a:solidFill>
                  <a:srgbClr val="6B6862"/>
                </a:solidFill>
                <a:latin typeface="Courier New" pitchFamily="34" charset="0"/>
                <a:ea typeface="Courier New" pitchFamily="34" charset="-122"/>
                <a:cs typeface="Courier New" pitchFamily="34" charset="-120"/>
              </a:rPr>
              <a:t>offline</a:t>
            </a:r>
            <a:endParaRPr lang="en-US" sz="850" dirty="0"/>
          </a:p>
        </p:txBody>
      </p:sp>
      <p:sp>
        <p:nvSpPr>
          <p:cNvPr id="19" name="Text 16"/>
          <p:cNvSpPr txBox="1"/>
          <p:nvPr/>
        </p:nvSpPr>
        <p:spPr>
          <a:xfrm>
            <a:off x="566928" y="6263640"/>
            <a:ext cx="5303520" cy="274320"/>
          </a:xfrm>
          <a:prstGeom prst="rect">
            <a:avLst/>
          </a:prstGeom>
          <a:noFill/>
          <a:ln/>
        </p:spPr>
        <p:txBody>
          <a:bodyPr wrap="square" lIns="0" tIns="0" rIns="0" bIns="0" rtlCol="0" anchor="ctr"/>
          <a:lstStyle/>
          <a:p>
            <a:pPr indent="0" marL="0">
              <a:buNone/>
            </a:pPr>
            <a:r>
              <a:rPr lang="en-US" sz="850" spc="100" kern="0" dirty="0">
                <a:solidFill>
                  <a:srgbClr val="6B6862"/>
                </a:solidFill>
                <a:latin typeface="Courier New" pitchFamily="34" charset="0"/>
                <a:ea typeface="Courier New" pitchFamily="34" charset="-122"/>
                <a:cs typeface="Courier New" pitchFamily="34" charset="-120"/>
              </a:rPr>
              <a:t>Built on Feng et al., Sensors &amp; Actuators B 462 (2026) 140011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000" b="1" spc="200" kern="0" dirty="0">
                <a:solidFill>
                  <a:srgbClr val="111111"/>
                </a:solidFill>
                <a:latin typeface="Courier New" pitchFamily="34" charset="0"/>
                <a:ea typeface="Courier New" pitchFamily="34" charset="-122"/>
                <a:cs typeface="Courier New" pitchFamily="34" charset="-120"/>
              </a:rPr>
              <a:t>02 — THE PROBLEM</a:t>
            </a:r>
            <a:endParaRPr lang="en-US" sz="1000" dirty="0"/>
          </a:p>
        </p:txBody>
      </p:sp>
      <p:sp>
        <p:nvSpPr>
          <p:cNvPr id="3" name="Text 1"/>
          <p:cNvSpPr txBox="1"/>
          <p:nvPr/>
        </p:nvSpPr>
        <p:spPr>
          <a:xfrm>
            <a:off x="6156655" y="292608"/>
            <a:ext cx="5486400" cy="274320"/>
          </a:xfrm>
          <a:prstGeom prst="rect">
            <a:avLst/>
          </a:prstGeom>
          <a:noFill/>
          <a:ln/>
        </p:spPr>
        <p:txBody>
          <a:bodyPr wrap="square" lIns="0" tIns="0" rIns="0" bIns="0" rtlCol="0" anchor="ctr"/>
          <a:lstStyle/>
          <a:p>
            <a:pPr algn="r" indent="0" marL="0">
              <a:buNone/>
            </a:pPr>
            <a:r>
              <a:rPr lang="en-US" sz="900" spc="200" kern="0" dirty="0">
                <a:solidFill>
                  <a:srgbClr val="6B6862"/>
                </a:solidFill>
                <a:latin typeface="Courier New" pitchFamily="34" charset="0"/>
                <a:ea typeface="Courier New" pitchFamily="34" charset="-122"/>
                <a:cs typeface="Courier New" pitchFamily="34" charset="-120"/>
              </a:rPr>
              <a:t>LISA  /  ASHOKA STARTUP CHALLENGE 2026</a:t>
            </a:r>
            <a:endParaRPr lang="en-US" sz="900" dirty="0"/>
          </a:p>
        </p:txBody>
      </p:sp>
      <p:sp>
        <p:nvSpPr>
          <p:cNvPr id="4"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900" dirty="0">
                <a:solidFill>
                  <a:srgbClr val="6B6862"/>
                </a:solidFill>
                <a:latin typeface="Courier New" pitchFamily="34" charset="0"/>
                <a:ea typeface="Courier New" pitchFamily="34" charset="-122"/>
                <a:cs typeface="Courier New" pitchFamily="34" charset="-120"/>
              </a:rPr>
              <a:t>02 / 24</a:t>
            </a:r>
            <a:endParaRPr lang="en-US" sz="900" dirty="0"/>
          </a:p>
        </p:txBody>
      </p:sp>
      <p:sp>
        <p:nvSpPr>
          <p:cNvPr id="5" name="Shape 3"/>
          <p:cNvSpPr/>
          <p:nvPr/>
        </p:nvSpPr>
        <p:spPr>
          <a:xfrm>
            <a:off x="210312" y="6583680"/>
            <a:ext cx="164592" cy="0"/>
          </a:xfrm>
          <a:prstGeom prst="line">
            <a:avLst/>
          </a:prstGeom>
          <a:noFill/>
          <a:ln w="9525">
            <a:solidFill>
              <a:srgbClr val="111111"/>
            </a:solidFill>
            <a:prstDash val="solid"/>
          </a:ln>
        </p:spPr>
      </p:sp>
      <p:sp>
        <p:nvSpPr>
          <p:cNvPr id="6" name="Shape 4"/>
          <p:cNvSpPr/>
          <p:nvPr/>
        </p:nvSpPr>
        <p:spPr>
          <a:xfrm>
            <a:off x="292608" y="6501384"/>
            <a:ext cx="0" cy="164592"/>
          </a:xfrm>
          <a:prstGeom prst="line">
            <a:avLst/>
          </a:prstGeom>
          <a:noFill/>
          <a:ln w="9525">
            <a:solidFill>
              <a:srgbClr val="111111"/>
            </a:solidFill>
            <a:prstDash val="solid"/>
          </a:ln>
        </p:spPr>
      </p:sp>
      <p:sp>
        <p:nvSpPr>
          <p:cNvPr id="7" name="Text 5"/>
          <p:cNvSpPr txBox="1"/>
          <p:nvPr/>
        </p:nvSpPr>
        <p:spPr>
          <a:xfrm>
            <a:off x="457200" y="777240"/>
            <a:ext cx="5669280" cy="1920240"/>
          </a:xfrm>
          <a:prstGeom prst="rect">
            <a:avLst/>
          </a:prstGeom>
          <a:noFill/>
          <a:ln/>
        </p:spPr>
        <p:txBody>
          <a:bodyPr wrap="square" lIns="0" tIns="0" rIns="0" bIns="0" rtlCol="0" anchor="ctr"/>
          <a:lstStyle/>
          <a:p>
            <a:pPr indent="0" marL="0">
              <a:buNone/>
            </a:pPr>
            <a:r>
              <a:rPr lang="en-US" sz="14000" spc="-600" kern="0" dirty="0">
                <a:solidFill>
                  <a:srgbClr val="111111"/>
                </a:solidFill>
                <a:latin typeface="Arial Black" pitchFamily="34" charset="0"/>
                <a:ea typeface="Arial Black" pitchFamily="34" charset="-122"/>
                <a:cs typeface="Arial Black" pitchFamily="34" charset="-120"/>
              </a:rPr>
              <a:t>2.1B</a:t>
            </a:r>
            <a:endParaRPr lang="en-US" sz="14000" dirty="0"/>
          </a:p>
        </p:txBody>
      </p:sp>
      <p:sp>
        <p:nvSpPr>
          <p:cNvPr id="8" name="Text 6"/>
          <p:cNvSpPr txBox="1"/>
          <p:nvPr/>
        </p:nvSpPr>
        <p:spPr>
          <a:xfrm>
            <a:off x="548640" y="2788920"/>
            <a:ext cx="4937760" cy="640080"/>
          </a:xfrm>
          <a:prstGeom prst="rect">
            <a:avLst/>
          </a:prstGeom>
          <a:noFill/>
          <a:ln/>
        </p:spPr>
        <p:txBody>
          <a:bodyPr wrap="square" lIns="0" tIns="0" rIns="0" bIns="0" rtlCol="0" anchor="t"/>
          <a:lstStyle/>
          <a:p>
            <a:pPr indent="0" marL="0">
              <a:buNone/>
            </a:pPr>
            <a:r>
              <a:rPr lang="en-US" sz="1800" dirty="0">
                <a:solidFill>
                  <a:srgbClr val="111111"/>
                </a:solidFill>
                <a:latin typeface="Arial" pitchFamily="34" charset="0"/>
                <a:ea typeface="Arial" pitchFamily="34" charset="-122"/>
                <a:cs typeface="Arial" pitchFamily="34" charset="-120"/>
              </a:rPr>
              <a:t>people, 1 in 4 on Earth, still lack </a:t>
            </a:r>
            <a:pPr indent="0" marL="0">
              <a:buNone/>
            </a:pPr>
            <a:r>
              <a:rPr lang="en-US" sz="1800" b="1" dirty="0">
                <a:solidFill>
                  <a:srgbClr val="111111"/>
                </a:solidFill>
                <a:latin typeface="Arial" pitchFamily="34" charset="0"/>
                <a:ea typeface="Arial" pitchFamily="34" charset="-122"/>
                <a:cs typeface="Arial" pitchFamily="34" charset="-120"/>
              </a:rPr>
              <a:t>safely managed</a:t>
            </a:r>
            <a:pPr indent="0" marL="0">
              <a:buNone/>
            </a:pPr>
            <a:r>
              <a:rPr lang="en-US" sz="1800" dirty="0">
                <a:solidFill>
                  <a:srgbClr val="111111"/>
                </a:solidFill>
                <a:latin typeface="Arial" pitchFamily="34" charset="0"/>
                <a:ea typeface="Arial" pitchFamily="34" charset="-122"/>
                <a:cs typeface="Arial" pitchFamily="34" charset="-120"/>
              </a:rPr>
              <a:t> drinking water.</a:t>
            </a:r>
            <a:endParaRPr lang="en-US" sz="1800" dirty="0"/>
          </a:p>
        </p:txBody>
      </p:sp>
      <p:sp>
        <p:nvSpPr>
          <p:cNvPr id="9" name="Text 7"/>
          <p:cNvSpPr txBox="1"/>
          <p:nvPr/>
        </p:nvSpPr>
        <p:spPr>
          <a:xfrm>
            <a:off x="548640" y="3611880"/>
            <a:ext cx="4754880" cy="914400"/>
          </a:xfrm>
          <a:prstGeom prst="rect">
            <a:avLst/>
          </a:prstGeom>
          <a:noFill/>
          <a:ln/>
        </p:spPr>
        <p:txBody>
          <a:bodyPr wrap="square" lIns="0" tIns="0" rIns="0" bIns="0" rtlCol="0" anchor="ctr"/>
          <a:lstStyle/>
          <a:p>
            <a:pPr indent="0" marL="0">
              <a:buNone/>
            </a:pPr>
            <a:r>
              <a:rPr lang="en-US" sz="1500" i="1" dirty="0">
                <a:solidFill>
                  <a:srgbClr val="6B6862"/>
                </a:solidFill>
                <a:latin typeface="Georgia" pitchFamily="34" charset="0"/>
                <a:ea typeface="Georgia" pitchFamily="34" charset="-122"/>
                <a:cs typeface="Georgia" pitchFamily="34" charset="-120"/>
              </a:rPr>
              <a:t>And in India the contamination is chemical and invisible. You cannot see nitrate, fluoride or iron in a glass of water.</a:t>
            </a:r>
            <a:endParaRPr lang="en-US" sz="1500" dirty="0"/>
          </a:p>
        </p:txBody>
      </p:sp>
      <p:sp>
        <p:nvSpPr>
          <p:cNvPr id="10" name="Shape 8"/>
          <p:cNvSpPr/>
          <p:nvPr/>
        </p:nvSpPr>
        <p:spPr>
          <a:xfrm>
            <a:off x="548640" y="4754880"/>
            <a:ext cx="1554480" cy="1325880"/>
          </a:xfrm>
          <a:prstGeom prst="rect">
            <a:avLst/>
          </a:prstGeom>
          <a:ln w="9525">
            <a:solidFill>
              <a:srgbClr val="111111"/>
            </a:solidFill>
            <a:prstDash val="solid"/>
          </a:ln>
        </p:spPr>
      </p:sp>
      <p:sp>
        <p:nvSpPr>
          <p:cNvPr id="11" name="Text 9"/>
          <p:cNvSpPr txBox="1"/>
          <p:nvPr/>
        </p:nvSpPr>
        <p:spPr>
          <a:xfrm>
            <a:off x="658368" y="4846320"/>
            <a:ext cx="1371600" cy="502920"/>
          </a:xfrm>
          <a:prstGeom prst="rect">
            <a:avLst/>
          </a:prstGeom>
          <a:noFill/>
          <a:ln/>
        </p:spPr>
        <p:txBody>
          <a:bodyPr wrap="square" lIns="0" tIns="0" rIns="0" bIns="0" rtlCol="0" anchor="ctr"/>
          <a:lstStyle/>
          <a:p>
            <a:pPr indent="0" marL="0">
              <a:buNone/>
            </a:pPr>
            <a:r>
              <a:rPr lang="en-US" sz="2000" dirty="0">
                <a:solidFill>
                  <a:srgbClr val="1F3AE0"/>
                </a:solidFill>
                <a:latin typeface="Arial Black" pitchFamily="34" charset="0"/>
                <a:ea typeface="Arial Black" pitchFamily="34" charset="-122"/>
                <a:cs typeface="Arial Black" pitchFamily="34" charset="-120"/>
              </a:rPr>
              <a:t>15,259</a:t>
            </a:r>
            <a:endParaRPr lang="en-US" sz="2000" dirty="0"/>
          </a:p>
        </p:txBody>
      </p:sp>
      <p:sp>
        <p:nvSpPr>
          <p:cNvPr id="12" name="Text 10"/>
          <p:cNvSpPr txBox="1"/>
          <p:nvPr/>
        </p:nvSpPr>
        <p:spPr>
          <a:xfrm>
            <a:off x="658368" y="5376672"/>
            <a:ext cx="1353312" cy="640080"/>
          </a:xfrm>
          <a:prstGeom prst="rect">
            <a:avLst/>
          </a:prstGeom>
          <a:noFill/>
          <a:ln/>
        </p:spPr>
        <p:txBody>
          <a:bodyPr wrap="square" lIns="0" tIns="0" rIns="0" bIns="0" rtlCol="0" anchor="ctr"/>
          <a:lstStyle/>
          <a:p>
            <a:pPr indent="0" marL="0">
              <a:buNone/>
            </a:pPr>
            <a:r>
              <a:rPr lang="en-US" sz="850" spc="100" kern="0" dirty="0">
                <a:solidFill>
                  <a:srgbClr val="111111"/>
                </a:solidFill>
                <a:latin typeface="Courier New" pitchFamily="34" charset="0"/>
                <a:ea typeface="Courier New" pitchFamily="34" charset="-122"/>
                <a:cs typeface="Courier New" pitchFamily="34" charset="-120"/>
              </a:rPr>
              <a:t>groundwater samples, CGWB 2024</a:t>
            </a:r>
            <a:endParaRPr lang="en-US" sz="850" dirty="0"/>
          </a:p>
        </p:txBody>
      </p:sp>
      <p:sp>
        <p:nvSpPr>
          <p:cNvPr id="13" name="Shape 11"/>
          <p:cNvSpPr/>
          <p:nvPr/>
        </p:nvSpPr>
        <p:spPr>
          <a:xfrm>
            <a:off x="2240280" y="4754880"/>
            <a:ext cx="1554480" cy="1325880"/>
          </a:xfrm>
          <a:prstGeom prst="rect">
            <a:avLst/>
          </a:prstGeom>
          <a:ln w="9525">
            <a:solidFill>
              <a:srgbClr val="111111"/>
            </a:solidFill>
            <a:prstDash val="solid"/>
          </a:ln>
        </p:spPr>
      </p:sp>
      <p:sp>
        <p:nvSpPr>
          <p:cNvPr id="14" name="Text 12"/>
          <p:cNvSpPr txBox="1"/>
          <p:nvPr/>
        </p:nvSpPr>
        <p:spPr>
          <a:xfrm>
            <a:off x="2350008" y="4846320"/>
            <a:ext cx="1371600" cy="502920"/>
          </a:xfrm>
          <a:prstGeom prst="rect">
            <a:avLst/>
          </a:prstGeom>
          <a:noFill/>
          <a:ln/>
        </p:spPr>
        <p:txBody>
          <a:bodyPr wrap="square" lIns="0" tIns="0" rIns="0" bIns="0" rtlCol="0" anchor="ctr"/>
          <a:lstStyle/>
          <a:p>
            <a:pPr indent="0" marL="0">
              <a:buNone/>
            </a:pPr>
            <a:r>
              <a:rPr lang="en-US" sz="2000" dirty="0">
                <a:solidFill>
                  <a:srgbClr val="1F3AE0"/>
                </a:solidFill>
                <a:latin typeface="Arial Black" pitchFamily="34" charset="0"/>
                <a:ea typeface="Arial Black" pitchFamily="34" charset="-122"/>
                <a:cs typeface="Arial Black" pitchFamily="34" charset="-120"/>
              </a:rPr>
              <a:t>56%</a:t>
            </a:r>
            <a:endParaRPr lang="en-US" sz="2000" dirty="0"/>
          </a:p>
        </p:txBody>
      </p:sp>
      <p:sp>
        <p:nvSpPr>
          <p:cNvPr id="15" name="Text 13"/>
          <p:cNvSpPr txBox="1"/>
          <p:nvPr/>
        </p:nvSpPr>
        <p:spPr>
          <a:xfrm>
            <a:off x="2350008" y="5376672"/>
            <a:ext cx="1353312" cy="640080"/>
          </a:xfrm>
          <a:prstGeom prst="rect">
            <a:avLst/>
          </a:prstGeom>
          <a:noFill/>
          <a:ln/>
        </p:spPr>
        <p:txBody>
          <a:bodyPr wrap="square" lIns="0" tIns="0" rIns="0" bIns="0" rtlCol="0" anchor="ctr"/>
          <a:lstStyle/>
          <a:p>
            <a:pPr indent="0" marL="0">
              <a:buNone/>
            </a:pPr>
            <a:r>
              <a:rPr lang="en-US" sz="850" spc="100" kern="0" dirty="0">
                <a:solidFill>
                  <a:srgbClr val="111111"/>
                </a:solidFill>
                <a:latin typeface="Courier New" pitchFamily="34" charset="0"/>
                <a:ea typeface="Courier New" pitchFamily="34" charset="-122"/>
                <a:cs typeface="Courier New" pitchFamily="34" charset="-120"/>
              </a:rPr>
              <a:t>of districts hit by nitrate</a:t>
            </a:r>
            <a:endParaRPr lang="en-US" sz="850" dirty="0"/>
          </a:p>
        </p:txBody>
      </p:sp>
      <p:sp>
        <p:nvSpPr>
          <p:cNvPr id="16" name="Shape 14"/>
          <p:cNvSpPr/>
          <p:nvPr/>
        </p:nvSpPr>
        <p:spPr>
          <a:xfrm>
            <a:off x="3931920" y="4754880"/>
            <a:ext cx="1554480" cy="1325880"/>
          </a:xfrm>
          <a:prstGeom prst="rect">
            <a:avLst/>
          </a:prstGeom>
          <a:ln w="9525">
            <a:solidFill>
              <a:srgbClr val="111111"/>
            </a:solidFill>
            <a:prstDash val="solid"/>
          </a:ln>
        </p:spPr>
      </p:sp>
      <p:sp>
        <p:nvSpPr>
          <p:cNvPr id="17" name="Text 15"/>
          <p:cNvSpPr txBox="1"/>
          <p:nvPr/>
        </p:nvSpPr>
        <p:spPr>
          <a:xfrm>
            <a:off x="4041648" y="4846320"/>
            <a:ext cx="1371600" cy="502920"/>
          </a:xfrm>
          <a:prstGeom prst="rect">
            <a:avLst/>
          </a:prstGeom>
          <a:noFill/>
          <a:ln/>
        </p:spPr>
        <p:txBody>
          <a:bodyPr wrap="square" lIns="0" tIns="0" rIns="0" bIns="0" rtlCol="0" anchor="ctr"/>
          <a:lstStyle/>
          <a:p>
            <a:pPr indent="0" marL="0">
              <a:buNone/>
            </a:pPr>
            <a:r>
              <a:rPr lang="en-US" sz="2000" dirty="0">
                <a:solidFill>
                  <a:srgbClr val="1F3AE0"/>
                </a:solidFill>
                <a:latin typeface="Arial Black" pitchFamily="34" charset="0"/>
                <a:ea typeface="Arial Black" pitchFamily="34" charset="-122"/>
                <a:cs typeface="Arial Black" pitchFamily="34" charset="-120"/>
              </a:rPr>
              <a:t>263</a:t>
            </a:r>
            <a:endParaRPr lang="en-US" sz="2000" dirty="0"/>
          </a:p>
        </p:txBody>
      </p:sp>
      <p:sp>
        <p:nvSpPr>
          <p:cNvPr id="18" name="Text 16"/>
          <p:cNvSpPr txBox="1"/>
          <p:nvPr/>
        </p:nvSpPr>
        <p:spPr>
          <a:xfrm>
            <a:off x="4041648" y="5376672"/>
            <a:ext cx="1353312" cy="640080"/>
          </a:xfrm>
          <a:prstGeom prst="rect">
            <a:avLst/>
          </a:prstGeom>
          <a:noFill/>
          <a:ln/>
        </p:spPr>
        <p:txBody>
          <a:bodyPr wrap="square" lIns="0" tIns="0" rIns="0" bIns="0" rtlCol="0" anchor="ctr"/>
          <a:lstStyle/>
          <a:p>
            <a:pPr indent="0" marL="0">
              <a:buNone/>
            </a:pPr>
            <a:r>
              <a:rPr lang="en-US" sz="850" spc="100" kern="0" dirty="0">
                <a:solidFill>
                  <a:srgbClr val="111111"/>
                </a:solidFill>
                <a:latin typeface="Courier New" pitchFamily="34" charset="0"/>
                <a:ea typeface="Courier New" pitchFamily="34" charset="-122"/>
                <a:cs typeface="Courier New" pitchFamily="34" charset="-120"/>
              </a:rPr>
              <a:t>districts with excess fluoride</a:t>
            </a:r>
            <a:endParaRPr lang="en-US" sz="850" dirty="0"/>
          </a:p>
        </p:txBody>
      </p:sp>
      <p:sp>
        <p:nvSpPr>
          <p:cNvPr id="19" name="Shape 17"/>
          <p:cNvSpPr/>
          <p:nvPr/>
        </p:nvSpPr>
        <p:spPr>
          <a:xfrm>
            <a:off x="6309360" y="868680"/>
            <a:ext cx="5349240" cy="5257800"/>
          </a:xfrm>
          <a:prstGeom prst="rect">
            <a:avLst/>
          </a:prstGeom>
          <a:solidFill>
            <a:srgbClr val="F7F6F3"/>
          </a:solidFill>
          <a:ln w="9525">
            <a:solidFill>
              <a:srgbClr val="111111"/>
            </a:solidFill>
            <a:prstDash val="solid"/>
          </a:ln>
        </p:spPr>
      </p:sp>
      <p:sp>
        <p:nvSpPr>
          <p:cNvPr id="20" name="Text 18"/>
          <p:cNvSpPr txBox="1"/>
          <p:nvPr/>
        </p:nvSpPr>
        <p:spPr>
          <a:xfrm>
            <a:off x="6537960" y="1051560"/>
            <a:ext cx="4937760" cy="274320"/>
          </a:xfrm>
          <a:prstGeom prst="rect">
            <a:avLst/>
          </a:prstGeom>
          <a:noFill/>
          <a:ln/>
        </p:spPr>
        <p:txBody>
          <a:bodyPr wrap="square" lIns="0" tIns="0" rIns="0" bIns="0" rtlCol="0" anchor="ctr"/>
          <a:lstStyle/>
          <a:p>
            <a:pPr indent="0" marL="0">
              <a:buNone/>
            </a:pPr>
            <a:r>
              <a:rPr lang="en-US" sz="900" b="1" spc="100" kern="0" dirty="0">
                <a:solidFill>
                  <a:srgbClr val="111111"/>
                </a:solidFill>
                <a:latin typeface="Courier New" pitchFamily="34" charset="0"/>
                <a:ea typeface="Courier New" pitchFamily="34" charset="-122"/>
                <a:cs typeface="Courier New" pitchFamily="34" charset="-120"/>
              </a:rPr>
              <a:t>FIG. 02 — % OF GROUNDWATER SAMPLES ABOVE BIS LIMIT</a:t>
            </a:r>
            <a:endParaRPr lang="en-US" sz="900" dirty="0"/>
          </a:p>
        </p:txBody>
      </p:sp>
      <p:graphicFrame>
        <p:nvGraphicFramePr>
          <p:cNvPr id="21" name="Chart 0" descr=""/>
          <p:cNvGraphicFramePr/>
          <p:nvPr/>
        </p:nvGraphicFramePr>
        <p:xfrm>
          <a:off x="6400800" y="1371600"/>
          <a:ext cx="5120640" cy="4617720"/>
        </p:xfrm>
        <a:graphic xmlns:a="http://schemas.openxmlformats.org/drawingml/2006/main">
          <a:graphicData uri="http://schemas.openxmlformats.org/drawingml/2006/chart">
            <c:chart xmlns:c="http://schemas.openxmlformats.org/drawingml/2006/chart" r:id="rId2"/>
          </a:graphicData>
        </a:graphic>
      </p:graphicFrame>
      <p:sp>
        <p:nvSpPr>
          <p:cNvPr id="22" name="Text 19"/>
          <p:cNvSpPr txBox="1"/>
          <p:nvPr/>
        </p:nvSpPr>
        <p:spPr>
          <a:xfrm>
            <a:off x="548640" y="6419088"/>
            <a:ext cx="9326880" cy="292608"/>
          </a:xfrm>
          <a:prstGeom prst="rect">
            <a:avLst/>
          </a:prstGeom>
          <a:noFill/>
          <a:ln/>
        </p:spPr>
        <p:txBody>
          <a:bodyPr wrap="square" lIns="0" tIns="0" rIns="0" bIns="0" rtlCol="0" anchor="b"/>
          <a:lstStyle/>
          <a:p>
            <a:pPr indent="0" marL="0">
              <a:buNone/>
            </a:pPr>
            <a:r>
              <a:rPr lang="en-US" sz="800" dirty="0">
                <a:solidFill>
                  <a:srgbClr val="6B6862"/>
                </a:solidFill>
                <a:latin typeface="Courier New" pitchFamily="34" charset="0"/>
                <a:ea typeface="Courier New" pitchFamily="34" charset="-122"/>
                <a:cs typeface="Courier New" pitchFamily="34" charset="-120"/>
              </a:rPr>
              <a:t>Sources: WHO/UNICEF JMP 2025 (Progress on household drinking water 2000–2024); CGWB Annual Ground Water Quality Report 2024, via Mongabay India (Jan 2025).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000" b="1" spc="200" kern="0" dirty="0">
                <a:solidFill>
                  <a:srgbClr val="111111"/>
                </a:solidFill>
                <a:latin typeface="Courier New" pitchFamily="34" charset="0"/>
                <a:ea typeface="Courier New" pitchFamily="34" charset="-122"/>
                <a:cs typeface="Courier New" pitchFamily="34" charset="-120"/>
              </a:rPr>
              <a:t>03 — THE BLIND SPOT</a:t>
            </a:r>
            <a:endParaRPr lang="en-US" sz="1000" dirty="0"/>
          </a:p>
        </p:txBody>
      </p:sp>
      <p:sp>
        <p:nvSpPr>
          <p:cNvPr id="3" name="Text 1"/>
          <p:cNvSpPr txBox="1"/>
          <p:nvPr/>
        </p:nvSpPr>
        <p:spPr>
          <a:xfrm>
            <a:off x="6156655" y="292608"/>
            <a:ext cx="5486400" cy="274320"/>
          </a:xfrm>
          <a:prstGeom prst="rect">
            <a:avLst/>
          </a:prstGeom>
          <a:noFill/>
          <a:ln/>
        </p:spPr>
        <p:txBody>
          <a:bodyPr wrap="square" lIns="0" tIns="0" rIns="0" bIns="0" rtlCol="0" anchor="ctr"/>
          <a:lstStyle/>
          <a:p>
            <a:pPr algn="r" indent="0" marL="0">
              <a:buNone/>
            </a:pPr>
            <a:r>
              <a:rPr lang="en-US" sz="900" spc="200" kern="0" dirty="0">
                <a:solidFill>
                  <a:srgbClr val="6B6862"/>
                </a:solidFill>
                <a:latin typeface="Courier New" pitchFamily="34" charset="0"/>
                <a:ea typeface="Courier New" pitchFamily="34" charset="-122"/>
                <a:cs typeface="Courier New" pitchFamily="34" charset="-120"/>
              </a:rPr>
              <a:t>LISA  /  ASHOKA STARTUP CHALLENGE 2026</a:t>
            </a:r>
            <a:endParaRPr lang="en-US" sz="900" dirty="0"/>
          </a:p>
        </p:txBody>
      </p:sp>
      <p:sp>
        <p:nvSpPr>
          <p:cNvPr id="4"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900" dirty="0">
                <a:solidFill>
                  <a:srgbClr val="6B6862"/>
                </a:solidFill>
                <a:latin typeface="Courier New" pitchFamily="34" charset="0"/>
                <a:ea typeface="Courier New" pitchFamily="34" charset="-122"/>
                <a:cs typeface="Courier New" pitchFamily="34" charset="-120"/>
              </a:rPr>
              <a:t>03 / 24</a:t>
            </a:r>
            <a:endParaRPr lang="en-US" sz="900" dirty="0"/>
          </a:p>
        </p:txBody>
      </p:sp>
      <p:sp>
        <p:nvSpPr>
          <p:cNvPr id="5" name="Shape 3"/>
          <p:cNvSpPr/>
          <p:nvPr/>
        </p:nvSpPr>
        <p:spPr>
          <a:xfrm>
            <a:off x="210312" y="6583680"/>
            <a:ext cx="164592" cy="0"/>
          </a:xfrm>
          <a:prstGeom prst="line">
            <a:avLst/>
          </a:prstGeom>
          <a:noFill/>
          <a:ln w="9525">
            <a:solidFill>
              <a:srgbClr val="111111"/>
            </a:solidFill>
            <a:prstDash val="solid"/>
          </a:ln>
        </p:spPr>
      </p:sp>
      <p:sp>
        <p:nvSpPr>
          <p:cNvPr id="6" name="Shape 4"/>
          <p:cNvSpPr/>
          <p:nvPr/>
        </p:nvSpPr>
        <p:spPr>
          <a:xfrm>
            <a:off x="292608" y="6501384"/>
            <a:ext cx="0" cy="164592"/>
          </a:xfrm>
          <a:prstGeom prst="line">
            <a:avLst/>
          </a:prstGeom>
          <a:noFill/>
          <a:ln w="9525">
            <a:solidFill>
              <a:srgbClr val="111111"/>
            </a:solidFill>
            <a:prstDash val="solid"/>
          </a:ln>
        </p:spPr>
      </p:sp>
      <p:sp>
        <p:nvSpPr>
          <p:cNvPr id="7" name="Text 5"/>
          <p:cNvSpPr txBox="1"/>
          <p:nvPr/>
        </p:nvSpPr>
        <p:spPr>
          <a:xfrm>
            <a:off x="548640" y="685800"/>
            <a:ext cx="10515600" cy="1280160"/>
          </a:xfrm>
          <a:prstGeom prst="rect">
            <a:avLst/>
          </a:prstGeom>
          <a:noFill/>
          <a:ln/>
        </p:spPr>
        <p:txBody>
          <a:bodyPr wrap="square" lIns="0" tIns="0" rIns="0" bIns="0" rtlCol="0" anchor="t"/>
          <a:lstStyle/>
          <a:p>
            <a:pPr indent="0" marL="0">
              <a:lnSpc>
                <a:spcPct val="92000"/>
              </a:lnSpc>
              <a:buNone/>
            </a:pPr>
            <a:r>
              <a:rPr lang="en-US" sz="3400" dirty="0">
                <a:solidFill>
                  <a:srgbClr val="111111"/>
                </a:solidFill>
                <a:latin typeface="Arial Black" pitchFamily="34" charset="0"/>
                <a:ea typeface="Arial Black" pitchFamily="34" charset="-122"/>
                <a:cs typeface="Arial Black" pitchFamily="34" charset="-120"/>
              </a:rPr>
              <a:t>India already has the testers.</a:t>
            </a:r>
            <a:pPr indent="0" marL="0">
              <a:lnSpc>
                <a:spcPct val="92000"/>
              </a:lnSpc>
              <a:buNone/>
            </a:pPr>
            <a:endParaRPr lang="en-US" sz="3400" dirty="0"/>
          </a:p>
          <a:p>
            <a:pPr indent="0" marL="0">
              <a:lnSpc>
                <a:spcPct val="92000"/>
              </a:lnSpc>
              <a:buNone/>
            </a:pPr>
            <a:r>
              <a:rPr lang="en-US" sz="3400" dirty="0">
                <a:solidFill>
                  <a:srgbClr val="1F3AE0"/>
                </a:solidFill>
                <a:latin typeface="Arial Black" pitchFamily="34" charset="0"/>
                <a:ea typeface="Arial Black" pitchFamily="34" charset="-122"/>
                <a:cs typeface="Arial Black" pitchFamily="34" charset="-120"/>
              </a:rPr>
              <a:t>It doesn’t have the instrument.</a:t>
            </a:r>
            <a:endParaRPr lang="en-US" sz="3400" dirty="0"/>
          </a:p>
        </p:txBody>
      </p:sp>
      <p:sp>
        <p:nvSpPr>
          <p:cNvPr id="8" name="Shape 6"/>
          <p:cNvSpPr/>
          <p:nvPr/>
        </p:nvSpPr>
        <p:spPr>
          <a:xfrm>
            <a:off x="548640" y="2331720"/>
            <a:ext cx="3383280" cy="0"/>
          </a:xfrm>
          <a:prstGeom prst="line">
            <a:avLst/>
          </a:prstGeom>
          <a:noFill/>
          <a:ln w="31750">
            <a:solidFill>
              <a:srgbClr val="111111"/>
            </a:solidFill>
            <a:prstDash val="solid"/>
          </a:ln>
        </p:spPr>
      </p:sp>
      <p:sp>
        <p:nvSpPr>
          <p:cNvPr id="9" name="Text 7"/>
          <p:cNvSpPr txBox="1"/>
          <p:nvPr/>
        </p:nvSpPr>
        <p:spPr>
          <a:xfrm>
            <a:off x="548640" y="2468880"/>
            <a:ext cx="3566160" cy="914400"/>
          </a:xfrm>
          <a:prstGeom prst="rect">
            <a:avLst/>
          </a:prstGeom>
          <a:noFill/>
          <a:ln/>
        </p:spPr>
        <p:txBody>
          <a:bodyPr wrap="square" lIns="0" tIns="0" rIns="0" bIns="0" rtlCol="0" anchor="ctr"/>
          <a:lstStyle/>
          <a:p>
            <a:pPr indent="0" marL="0">
              <a:buNone/>
            </a:pPr>
            <a:r>
              <a:rPr lang="en-US" sz="4400" dirty="0">
                <a:solidFill>
                  <a:srgbClr val="111111"/>
                </a:solidFill>
                <a:latin typeface="Arial Black" pitchFamily="34" charset="0"/>
                <a:ea typeface="Arial Black" pitchFamily="34" charset="-122"/>
                <a:cs typeface="Arial Black" pitchFamily="34" charset="-120"/>
              </a:rPr>
              <a:t>24.8 lakh</a:t>
            </a:r>
            <a:endParaRPr lang="en-US" sz="4400" dirty="0"/>
          </a:p>
        </p:txBody>
      </p:sp>
      <p:sp>
        <p:nvSpPr>
          <p:cNvPr id="10" name="Text 8"/>
          <p:cNvSpPr txBox="1"/>
          <p:nvPr/>
        </p:nvSpPr>
        <p:spPr>
          <a:xfrm>
            <a:off x="548640" y="3429000"/>
            <a:ext cx="3291840" cy="822960"/>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rural women trained under Jal Jeevan Mission to test water with Field Testing Kits (FTKs)</a:t>
            </a:r>
            <a:endParaRPr lang="en-US" sz="1300" dirty="0"/>
          </a:p>
        </p:txBody>
      </p:sp>
      <p:sp>
        <p:nvSpPr>
          <p:cNvPr id="11" name="Shape 9"/>
          <p:cNvSpPr/>
          <p:nvPr/>
        </p:nvSpPr>
        <p:spPr>
          <a:xfrm>
            <a:off x="4297680" y="2331720"/>
            <a:ext cx="3383280" cy="0"/>
          </a:xfrm>
          <a:prstGeom prst="line">
            <a:avLst/>
          </a:prstGeom>
          <a:noFill/>
          <a:ln w="31750">
            <a:solidFill>
              <a:srgbClr val="111111"/>
            </a:solidFill>
            <a:prstDash val="solid"/>
          </a:ln>
        </p:spPr>
      </p:sp>
      <p:sp>
        <p:nvSpPr>
          <p:cNvPr id="12" name="Text 10"/>
          <p:cNvSpPr txBox="1"/>
          <p:nvPr/>
        </p:nvSpPr>
        <p:spPr>
          <a:xfrm>
            <a:off x="4297680" y="2468880"/>
            <a:ext cx="3566160" cy="914400"/>
          </a:xfrm>
          <a:prstGeom prst="rect">
            <a:avLst/>
          </a:prstGeom>
          <a:noFill/>
          <a:ln/>
        </p:spPr>
        <p:txBody>
          <a:bodyPr wrap="square" lIns="0" tIns="0" rIns="0" bIns="0" rtlCol="0" anchor="ctr"/>
          <a:lstStyle/>
          <a:p>
            <a:pPr indent="0" marL="0">
              <a:buNone/>
            </a:pPr>
            <a:r>
              <a:rPr lang="en-US" sz="4400" dirty="0">
                <a:solidFill>
                  <a:srgbClr val="111111"/>
                </a:solidFill>
                <a:latin typeface="Arial Black" pitchFamily="34" charset="0"/>
                <a:ea typeface="Arial Black" pitchFamily="34" charset="-122"/>
                <a:cs typeface="Arial Black" pitchFamily="34" charset="-120"/>
              </a:rPr>
              <a:t>93.8 lakh</a:t>
            </a:r>
            <a:endParaRPr lang="en-US" sz="4400" dirty="0"/>
          </a:p>
        </p:txBody>
      </p:sp>
      <p:sp>
        <p:nvSpPr>
          <p:cNvPr id="13" name="Text 11"/>
          <p:cNvSpPr txBox="1"/>
          <p:nvPr/>
        </p:nvSpPr>
        <p:spPr>
          <a:xfrm>
            <a:off x="4297680" y="3429000"/>
            <a:ext cx="3291840" cy="822960"/>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water samples tested in 2024–25, and 47.6 lakh in 2025–26 so far</a:t>
            </a:r>
            <a:endParaRPr lang="en-US" sz="1300" dirty="0"/>
          </a:p>
        </p:txBody>
      </p:sp>
      <p:sp>
        <p:nvSpPr>
          <p:cNvPr id="14" name="Shape 12"/>
          <p:cNvSpPr/>
          <p:nvPr/>
        </p:nvSpPr>
        <p:spPr>
          <a:xfrm>
            <a:off x="8046720" y="2331720"/>
            <a:ext cx="3383280" cy="0"/>
          </a:xfrm>
          <a:prstGeom prst="line">
            <a:avLst/>
          </a:prstGeom>
          <a:noFill/>
          <a:ln w="31750">
            <a:solidFill>
              <a:srgbClr val="111111"/>
            </a:solidFill>
            <a:prstDash val="solid"/>
          </a:ln>
        </p:spPr>
      </p:sp>
      <p:sp>
        <p:nvSpPr>
          <p:cNvPr id="15" name="Text 13"/>
          <p:cNvSpPr txBox="1"/>
          <p:nvPr/>
        </p:nvSpPr>
        <p:spPr>
          <a:xfrm>
            <a:off x="8046720" y="2468880"/>
            <a:ext cx="3566160" cy="914400"/>
          </a:xfrm>
          <a:prstGeom prst="rect">
            <a:avLst/>
          </a:prstGeom>
          <a:noFill/>
          <a:ln/>
        </p:spPr>
        <p:txBody>
          <a:bodyPr wrap="square" lIns="0" tIns="0" rIns="0" bIns="0" rtlCol="0" anchor="ctr"/>
          <a:lstStyle/>
          <a:p>
            <a:pPr indent="0" marL="0">
              <a:buNone/>
            </a:pPr>
            <a:r>
              <a:rPr lang="en-US" sz="4400" dirty="0">
                <a:solidFill>
                  <a:srgbClr val="E8431A"/>
                </a:solidFill>
                <a:latin typeface="Arial Black" pitchFamily="34" charset="0"/>
                <a:ea typeface="Arial Black" pitchFamily="34" charset="-122"/>
                <a:cs typeface="Arial Black" pitchFamily="34" charset="-120"/>
              </a:rPr>
              <a:t>0</a:t>
            </a:r>
            <a:endParaRPr lang="en-US" sz="4400" dirty="0"/>
          </a:p>
        </p:txBody>
      </p:sp>
      <p:sp>
        <p:nvSpPr>
          <p:cNvPr id="16" name="Text 14"/>
          <p:cNvSpPr txBox="1"/>
          <p:nvPr/>
        </p:nvSpPr>
        <p:spPr>
          <a:xfrm>
            <a:off x="8046720" y="3429000"/>
            <a:ext cx="3291840" cy="822960"/>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objective readings: FTK results are matched by eye against a printed colour chart</a:t>
            </a:r>
            <a:endParaRPr lang="en-US" sz="1300" dirty="0"/>
          </a:p>
        </p:txBody>
      </p:sp>
      <p:sp>
        <p:nvSpPr>
          <p:cNvPr id="17" name="Shape 15"/>
          <p:cNvSpPr/>
          <p:nvPr/>
        </p:nvSpPr>
        <p:spPr>
          <a:xfrm>
            <a:off x="548640" y="4572000"/>
            <a:ext cx="11091672" cy="1417320"/>
          </a:xfrm>
          <a:prstGeom prst="rect">
            <a:avLst/>
          </a:prstGeom>
          <a:solidFill>
            <a:srgbClr val="111111"/>
          </a:solidFill>
          <a:ln/>
        </p:spPr>
      </p:sp>
      <p:sp>
        <p:nvSpPr>
          <p:cNvPr id="18" name="Text 16"/>
          <p:cNvSpPr txBox="1"/>
          <p:nvPr/>
        </p:nvSpPr>
        <p:spPr>
          <a:xfrm>
            <a:off x="868680" y="4709160"/>
            <a:ext cx="8412480" cy="1143000"/>
          </a:xfrm>
          <a:prstGeom prst="rect">
            <a:avLst/>
          </a:prstGeom>
          <a:noFill/>
          <a:ln/>
        </p:spPr>
        <p:txBody>
          <a:bodyPr wrap="square" lIns="0" tIns="0" rIns="0" bIns="0" rtlCol="0" anchor="ctr"/>
          <a:lstStyle/>
          <a:p>
            <a:pPr indent="0" marL="0">
              <a:buNone/>
            </a:pPr>
            <a:r>
              <a:rPr lang="en-US" sz="1700" i="1" dirty="0">
                <a:solidFill>
                  <a:srgbClr val="FFFFFF"/>
                </a:solidFill>
                <a:latin typeface="Georgia" pitchFamily="34" charset="0"/>
                <a:ea typeface="Georgia" pitchFamily="34" charset="-122"/>
                <a:cs typeface="Georgia" pitchFamily="34" charset="-120"/>
              </a:rPr>
              <a:t>“Results obtained through FTKs serve as indicative screening results and are supplemented through confirmatory testing in laboratories.”</a:t>
            </a:r>
            <a:endParaRPr lang="en-US" sz="1700" dirty="0"/>
          </a:p>
        </p:txBody>
      </p:sp>
      <p:sp>
        <p:nvSpPr>
          <p:cNvPr id="19" name="Text 17"/>
          <p:cNvSpPr txBox="1"/>
          <p:nvPr/>
        </p:nvSpPr>
        <p:spPr>
          <a:xfrm>
            <a:off x="9464040" y="4892040"/>
            <a:ext cx="2011680" cy="731520"/>
          </a:xfrm>
          <a:prstGeom prst="rect">
            <a:avLst/>
          </a:prstGeom>
          <a:noFill/>
          <a:ln/>
        </p:spPr>
        <p:txBody>
          <a:bodyPr wrap="square" lIns="0" tIns="0" rIns="0" bIns="0" rtlCol="0" anchor="ctr"/>
          <a:lstStyle/>
          <a:p>
            <a:pPr algn="r" indent="0" marL="0">
              <a:buNone/>
            </a:pPr>
            <a:r>
              <a:rPr lang="en-US" sz="900" spc="100" kern="0" dirty="0">
                <a:solidFill>
                  <a:srgbClr val="CFCBC3"/>
                </a:solidFill>
                <a:latin typeface="Courier New" pitchFamily="34" charset="0"/>
                <a:ea typeface="Courier New" pitchFamily="34" charset="-122"/>
                <a:cs typeface="Courier New" pitchFamily="34" charset="-120"/>
              </a:rPr>
              <a:t>PIB · MINISTRY OF JAL SHAKTI</a:t>
            </a:r>
            <a:endParaRPr lang="en-US" sz="900" dirty="0"/>
          </a:p>
          <a:p>
            <a:pPr algn="r" indent="0" marL="0">
              <a:buNone/>
            </a:pPr>
            <a:r>
              <a:rPr lang="en-US" sz="900" spc="100" kern="0" dirty="0">
                <a:solidFill>
                  <a:srgbClr val="CFCBC3"/>
                </a:solidFill>
                <a:latin typeface="Courier New" pitchFamily="34" charset="0"/>
                <a:ea typeface="Courier New" pitchFamily="34" charset="-122"/>
                <a:cs typeface="Courier New" pitchFamily="34" charset="-120"/>
              </a:rPr>
              <a:t>16 MARCH 2026</a:t>
            </a:r>
            <a:endParaRPr lang="en-US" sz="900" dirty="0"/>
          </a:p>
        </p:txBody>
      </p:sp>
      <p:sp>
        <p:nvSpPr>
          <p:cNvPr id="20" name="Text 18"/>
          <p:cNvSpPr txBox="1"/>
          <p:nvPr/>
        </p:nvSpPr>
        <p:spPr>
          <a:xfrm>
            <a:off x="548640" y="6419088"/>
            <a:ext cx="9326880" cy="292608"/>
          </a:xfrm>
          <a:prstGeom prst="rect">
            <a:avLst/>
          </a:prstGeom>
          <a:noFill/>
          <a:ln/>
        </p:spPr>
        <p:txBody>
          <a:bodyPr wrap="square" lIns="0" tIns="0" rIns="0" bIns="0" rtlCol="0" anchor="b"/>
          <a:lstStyle/>
          <a:p>
            <a:pPr indent="0" marL="0">
              <a:buNone/>
            </a:pPr>
            <a:r>
              <a:rPr lang="en-US" sz="800" dirty="0">
                <a:solidFill>
                  <a:srgbClr val="6B6862"/>
                </a:solidFill>
                <a:latin typeface="Courier New" pitchFamily="34" charset="0"/>
                <a:ea typeface="Courier New" pitchFamily="34" charset="-122"/>
                <a:cs typeface="Courier New" pitchFamily="34" charset="-120"/>
              </a:rPr>
              <a:t>Source: Press Information Bureau, “Field Testing Kits under JJM for community water monitoring”, 2026. FTK = colour-chart chemical kit.</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000" b="1" spc="200" kern="0" dirty="0">
                <a:solidFill>
                  <a:srgbClr val="111111"/>
                </a:solidFill>
                <a:latin typeface="Courier New" pitchFamily="34" charset="0"/>
                <a:ea typeface="Courier New" pitchFamily="34" charset="-122"/>
                <a:cs typeface="Courier New" pitchFamily="34" charset="-120"/>
              </a:rPr>
              <a:t>04 — THE TRADE-OFF</a:t>
            </a:r>
            <a:endParaRPr lang="en-US" sz="1000" dirty="0"/>
          </a:p>
        </p:txBody>
      </p:sp>
      <p:sp>
        <p:nvSpPr>
          <p:cNvPr id="3" name="Text 1"/>
          <p:cNvSpPr txBox="1"/>
          <p:nvPr/>
        </p:nvSpPr>
        <p:spPr>
          <a:xfrm>
            <a:off x="6156655" y="292608"/>
            <a:ext cx="5486400" cy="274320"/>
          </a:xfrm>
          <a:prstGeom prst="rect">
            <a:avLst/>
          </a:prstGeom>
          <a:noFill/>
          <a:ln/>
        </p:spPr>
        <p:txBody>
          <a:bodyPr wrap="square" lIns="0" tIns="0" rIns="0" bIns="0" rtlCol="0" anchor="ctr"/>
          <a:lstStyle/>
          <a:p>
            <a:pPr algn="r" indent="0" marL="0">
              <a:buNone/>
            </a:pPr>
            <a:r>
              <a:rPr lang="en-US" sz="900" spc="200" kern="0" dirty="0">
                <a:solidFill>
                  <a:srgbClr val="6B6862"/>
                </a:solidFill>
                <a:latin typeface="Courier New" pitchFamily="34" charset="0"/>
                <a:ea typeface="Courier New" pitchFamily="34" charset="-122"/>
                <a:cs typeface="Courier New" pitchFamily="34" charset="-120"/>
              </a:rPr>
              <a:t>LISA  /  ASHOKA STARTUP CHALLENGE 2026</a:t>
            </a:r>
            <a:endParaRPr lang="en-US" sz="900" dirty="0"/>
          </a:p>
        </p:txBody>
      </p:sp>
      <p:sp>
        <p:nvSpPr>
          <p:cNvPr id="4"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900" dirty="0">
                <a:solidFill>
                  <a:srgbClr val="6B6862"/>
                </a:solidFill>
                <a:latin typeface="Courier New" pitchFamily="34" charset="0"/>
                <a:ea typeface="Courier New" pitchFamily="34" charset="-122"/>
                <a:cs typeface="Courier New" pitchFamily="34" charset="-120"/>
              </a:rPr>
              <a:t>04 / 24</a:t>
            </a:r>
            <a:endParaRPr lang="en-US" sz="900" dirty="0"/>
          </a:p>
        </p:txBody>
      </p:sp>
      <p:sp>
        <p:nvSpPr>
          <p:cNvPr id="5" name="Shape 3"/>
          <p:cNvSpPr/>
          <p:nvPr/>
        </p:nvSpPr>
        <p:spPr>
          <a:xfrm>
            <a:off x="210312" y="6583680"/>
            <a:ext cx="164592" cy="0"/>
          </a:xfrm>
          <a:prstGeom prst="line">
            <a:avLst/>
          </a:prstGeom>
          <a:noFill/>
          <a:ln w="9525">
            <a:solidFill>
              <a:srgbClr val="111111"/>
            </a:solidFill>
            <a:prstDash val="solid"/>
          </a:ln>
        </p:spPr>
      </p:sp>
      <p:sp>
        <p:nvSpPr>
          <p:cNvPr id="6" name="Shape 4"/>
          <p:cNvSpPr/>
          <p:nvPr/>
        </p:nvSpPr>
        <p:spPr>
          <a:xfrm>
            <a:off x="292608" y="6501384"/>
            <a:ext cx="0" cy="164592"/>
          </a:xfrm>
          <a:prstGeom prst="line">
            <a:avLst/>
          </a:prstGeom>
          <a:noFill/>
          <a:ln w="9525">
            <a:solidFill>
              <a:srgbClr val="111111"/>
            </a:solidFill>
            <a:prstDash val="solid"/>
          </a:ln>
        </p:spPr>
      </p:sp>
      <p:sp>
        <p:nvSpPr>
          <p:cNvPr id="7" name="Text 5"/>
          <p:cNvSpPr txBox="1"/>
          <p:nvPr/>
        </p:nvSpPr>
        <p:spPr>
          <a:xfrm>
            <a:off x="548640" y="685800"/>
            <a:ext cx="10515600" cy="1280160"/>
          </a:xfrm>
          <a:prstGeom prst="rect">
            <a:avLst/>
          </a:prstGeom>
          <a:noFill/>
          <a:ln/>
        </p:spPr>
        <p:txBody>
          <a:bodyPr wrap="square" lIns="0" tIns="0" rIns="0" bIns="0" rtlCol="0" anchor="t"/>
          <a:lstStyle/>
          <a:p>
            <a:pPr indent="0" marL="0">
              <a:lnSpc>
                <a:spcPct val="92000"/>
              </a:lnSpc>
              <a:buNone/>
            </a:pPr>
            <a:r>
              <a:rPr lang="en-US" sz="3400" dirty="0">
                <a:solidFill>
                  <a:srgbClr val="111111"/>
                </a:solidFill>
                <a:latin typeface="Arial Black" pitchFamily="34" charset="0"/>
                <a:ea typeface="Arial Black" pitchFamily="34" charset="-122"/>
                <a:cs typeface="Arial Black" pitchFamily="34" charset="-120"/>
              </a:rPr>
              <a:t>Accurate or accessible.</a:t>
            </a:r>
            <a:pPr indent="0" marL="0">
              <a:lnSpc>
                <a:spcPct val="92000"/>
              </a:lnSpc>
              <a:buNone/>
            </a:pPr>
            <a:endParaRPr lang="en-US" sz="3400" dirty="0"/>
          </a:p>
          <a:p>
            <a:pPr indent="0" marL="0">
              <a:lnSpc>
                <a:spcPct val="92000"/>
              </a:lnSpc>
              <a:buNone/>
            </a:pPr>
            <a:r>
              <a:rPr lang="en-US" sz="3400" dirty="0">
                <a:solidFill>
                  <a:srgbClr val="6B6862"/>
                </a:solidFill>
                <a:latin typeface="Arial Black" pitchFamily="34" charset="0"/>
                <a:ea typeface="Arial Black" pitchFamily="34" charset="-122"/>
                <a:cs typeface="Arial Black" pitchFamily="34" charset="-120"/>
              </a:rPr>
              <a:t>Today, never both.</a:t>
            </a:r>
            <a:endParaRPr lang="en-US" sz="3400" dirty="0"/>
          </a:p>
        </p:txBody>
      </p:sp>
      <p:sp>
        <p:nvSpPr>
          <p:cNvPr id="8" name="Shape 6"/>
          <p:cNvSpPr/>
          <p:nvPr/>
        </p:nvSpPr>
        <p:spPr>
          <a:xfrm>
            <a:off x="548640" y="2240280"/>
            <a:ext cx="3520440" cy="3840480"/>
          </a:xfrm>
          <a:prstGeom prst="rect">
            <a:avLst/>
          </a:prstGeom>
          <a:ln w="12700">
            <a:solidFill>
              <a:srgbClr val="111111"/>
            </a:solidFill>
            <a:prstDash val="solid"/>
          </a:ln>
        </p:spPr>
      </p:sp>
      <p:sp>
        <p:nvSpPr>
          <p:cNvPr id="9" name="Text 7"/>
          <p:cNvSpPr txBox="1"/>
          <p:nvPr/>
        </p:nvSpPr>
        <p:spPr>
          <a:xfrm>
            <a:off x="822960" y="2514600"/>
            <a:ext cx="3017520" cy="274320"/>
          </a:xfrm>
          <a:prstGeom prst="rect">
            <a:avLst/>
          </a:prstGeom>
          <a:noFill/>
          <a:ln/>
        </p:spPr>
        <p:txBody>
          <a:bodyPr wrap="square" lIns="0" tIns="0" rIns="0" bIns="0" rtlCol="0" anchor="ctr"/>
          <a:lstStyle/>
          <a:p>
            <a:pPr indent="0" marL="0">
              <a:buNone/>
            </a:pPr>
            <a:r>
              <a:rPr lang="en-US" sz="1100" b="1" spc="300" kern="0" dirty="0">
                <a:solidFill>
                  <a:srgbClr val="111111"/>
                </a:solidFill>
                <a:latin typeface="Courier New" pitchFamily="34" charset="0"/>
                <a:ea typeface="Courier New" pitchFamily="34" charset="-122"/>
                <a:cs typeface="Courier New" pitchFamily="34" charset="-120"/>
              </a:rPr>
              <a:t>ACCREDITED LAB</a:t>
            </a:r>
            <a:endParaRPr lang="en-US" sz="1100" dirty="0"/>
          </a:p>
        </p:txBody>
      </p:sp>
      <p:sp>
        <p:nvSpPr>
          <p:cNvPr id="10" name="Text 8"/>
          <p:cNvSpPr txBox="1"/>
          <p:nvPr/>
        </p:nvSpPr>
        <p:spPr>
          <a:xfrm>
            <a:off x="822960" y="2834640"/>
            <a:ext cx="3017520" cy="502920"/>
          </a:xfrm>
          <a:prstGeom prst="rect">
            <a:avLst/>
          </a:prstGeom>
          <a:noFill/>
          <a:ln/>
        </p:spPr>
        <p:txBody>
          <a:bodyPr wrap="square" lIns="0" tIns="0" rIns="0" bIns="0" rtlCol="0" anchor="ctr"/>
          <a:lstStyle/>
          <a:p>
            <a:pPr indent="0" marL="0">
              <a:buNone/>
            </a:pPr>
            <a:r>
              <a:rPr lang="en-US" sz="1900" dirty="0">
                <a:solidFill>
                  <a:srgbClr val="111111"/>
                </a:solidFill>
                <a:latin typeface="Arial Black" pitchFamily="34" charset="0"/>
                <a:ea typeface="Arial Black" pitchFamily="34" charset="-122"/>
                <a:cs typeface="Arial Black" pitchFamily="34" charset="-120"/>
              </a:rPr>
              <a:t>UV-Vis / ICP-MS</a:t>
            </a:r>
            <a:endParaRPr lang="en-US" sz="1900" dirty="0"/>
          </a:p>
        </p:txBody>
      </p:sp>
      <p:sp>
        <p:nvSpPr>
          <p:cNvPr id="11" name="Text 9"/>
          <p:cNvSpPr txBox="1"/>
          <p:nvPr/>
        </p:nvSpPr>
        <p:spPr>
          <a:xfrm>
            <a:off x="822960" y="3566160"/>
            <a:ext cx="3017520" cy="228600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111111"/>
                </a:solidFill>
                <a:latin typeface="Arial" pitchFamily="34" charset="0"/>
                <a:ea typeface="Arial" pitchFamily="34" charset="-122"/>
                <a:cs typeface="Arial" pitchFamily="34" charset="-120"/>
              </a:rPr>
              <a:t>High accuracy</a:t>
            </a:r>
            <a:endParaRPr lang="en-US" sz="1350" dirty="0"/>
          </a:p>
          <a:p>
            <a:pPr marL="342900" indent="-342900">
              <a:spcAft>
                <a:spcPts val="900"/>
              </a:spcAft>
              <a:buSzPct val="100000"/>
              <a:buChar char="■"/>
            </a:pPr>
            <a:r>
              <a:rPr lang="en-US" sz="1350" dirty="0">
                <a:solidFill>
                  <a:srgbClr val="111111"/>
                </a:solidFill>
                <a:latin typeface="Arial" pitchFamily="34" charset="0"/>
                <a:ea typeface="Arial" pitchFamily="34" charset="-122"/>
                <a:cs typeface="Arial" pitchFamily="34" charset="-120"/>
              </a:rPr>
              <a:t>Days to weeks of turnaround</a:t>
            </a:r>
            <a:endParaRPr lang="en-US" sz="1350" dirty="0"/>
          </a:p>
          <a:p>
            <a:pPr marL="342900" indent="-342900">
              <a:spcAft>
                <a:spcPts val="900"/>
              </a:spcAft>
              <a:buSzPct val="100000"/>
              <a:buChar char="■"/>
            </a:pPr>
            <a:r>
              <a:rPr lang="en-US" sz="1350" dirty="0">
                <a:solidFill>
                  <a:srgbClr val="111111"/>
                </a:solidFill>
                <a:latin typeface="Arial" pitchFamily="34" charset="0"/>
                <a:ea typeface="Arial" pitchFamily="34" charset="-122"/>
                <a:cs typeface="Arial" pitchFamily="34" charset="-120"/>
              </a:rPr>
              <a:t>₹500–₹2,500 per sample</a:t>
            </a:r>
            <a:endParaRPr lang="en-US" sz="1350" dirty="0"/>
          </a:p>
          <a:p>
            <a:pPr marL="342900" indent="-342900">
              <a:spcAft>
                <a:spcPts val="900"/>
              </a:spcAft>
              <a:buSzPct val="100000"/>
              <a:buChar char="■"/>
            </a:pPr>
            <a:r>
              <a:rPr lang="en-US" sz="1350" dirty="0">
                <a:solidFill>
                  <a:srgbClr val="111111"/>
                </a:solidFill>
                <a:latin typeface="Arial" pitchFamily="34" charset="0"/>
                <a:ea typeface="Arial" pitchFamily="34" charset="-122"/>
                <a:cs typeface="Arial" pitchFamily="34" charset="-120"/>
              </a:rPr>
              <a:t>Trained chemist + cold chain</a:t>
            </a:r>
            <a:endParaRPr lang="en-US" sz="1350" dirty="0"/>
          </a:p>
          <a:p>
            <a:pPr marL="342900" indent="-342900">
              <a:spcAft>
                <a:spcPts val="900"/>
              </a:spcAft>
              <a:buSzPct val="100000"/>
              <a:buChar char="■"/>
            </a:pPr>
            <a:r>
              <a:rPr lang="en-US" sz="1350" dirty="0">
                <a:solidFill>
                  <a:srgbClr val="111111"/>
                </a:solidFill>
                <a:latin typeface="Arial" pitchFamily="34" charset="0"/>
                <a:ea typeface="Arial" pitchFamily="34" charset="-122"/>
                <a:cs typeface="Arial" pitchFamily="34" charset="-120"/>
              </a:rPr>
              <a:t>Far from the handpump</a:t>
            </a:r>
            <a:endParaRPr lang="en-US" sz="1350" dirty="0"/>
          </a:p>
        </p:txBody>
      </p:sp>
      <p:sp>
        <p:nvSpPr>
          <p:cNvPr id="12" name="Shape 10"/>
          <p:cNvSpPr/>
          <p:nvPr/>
        </p:nvSpPr>
        <p:spPr>
          <a:xfrm>
            <a:off x="4297680" y="2240280"/>
            <a:ext cx="3520440" cy="3840480"/>
          </a:xfrm>
          <a:prstGeom prst="rect">
            <a:avLst/>
          </a:prstGeom>
          <a:ln w="12700">
            <a:solidFill>
              <a:srgbClr val="111111"/>
            </a:solidFill>
            <a:prstDash val="solid"/>
          </a:ln>
        </p:spPr>
      </p:sp>
      <p:sp>
        <p:nvSpPr>
          <p:cNvPr id="13" name="Text 11"/>
          <p:cNvSpPr txBox="1"/>
          <p:nvPr/>
        </p:nvSpPr>
        <p:spPr>
          <a:xfrm>
            <a:off x="4572000" y="2514600"/>
            <a:ext cx="3017520" cy="274320"/>
          </a:xfrm>
          <a:prstGeom prst="rect">
            <a:avLst/>
          </a:prstGeom>
          <a:noFill/>
          <a:ln/>
        </p:spPr>
        <p:txBody>
          <a:bodyPr wrap="square" lIns="0" tIns="0" rIns="0" bIns="0" rtlCol="0" anchor="ctr"/>
          <a:lstStyle/>
          <a:p>
            <a:pPr indent="0" marL="0">
              <a:buNone/>
            </a:pPr>
            <a:r>
              <a:rPr lang="en-US" sz="1100" b="1" spc="300" kern="0" dirty="0">
                <a:solidFill>
                  <a:srgbClr val="111111"/>
                </a:solidFill>
                <a:latin typeface="Courier New" pitchFamily="34" charset="0"/>
                <a:ea typeface="Courier New" pitchFamily="34" charset="-122"/>
                <a:cs typeface="Courier New" pitchFamily="34" charset="-120"/>
              </a:rPr>
              <a:t>FIELD TEST KIT</a:t>
            </a:r>
            <a:endParaRPr lang="en-US" sz="1100" dirty="0"/>
          </a:p>
        </p:txBody>
      </p:sp>
      <p:sp>
        <p:nvSpPr>
          <p:cNvPr id="14" name="Text 12"/>
          <p:cNvSpPr txBox="1"/>
          <p:nvPr/>
        </p:nvSpPr>
        <p:spPr>
          <a:xfrm>
            <a:off x="4572000" y="2834640"/>
            <a:ext cx="3017520" cy="502920"/>
          </a:xfrm>
          <a:prstGeom prst="rect">
            <a:avLst/>
          </a:prstGeom>
          <a:noFill/>
          <a:ln/>
        </p:spPr>
        <p:txBody>
          <a:bodyPr wrap="square" lIns="0" tIns="0" rIns="0" bIns="0" rtlCol="0" anchor="ctr"/>
          <a:lstStyle/>
          <a:p>
            <a:pPr indent="0" marL="0">
              <a:buNone/>
            </a:pPr>
            <a:r>
              <a:rPr lang="en-US" sz="1900" dirty="0">
                <a:solidFill>
                  <a:srgbClr val="111111"/>
                </a:solidFill>
                <a:latin typeface="Arial Black" pitchFamily="34" charset="0"/>
                <a:ea typeface="Arial Black" pitchFamily="34" charset="-122"/>
                <a:cs typeface="Arial Black" pitchFamily="34" charset="-120"/>
              </a:rPr>
              <a:t>Paper colour chart</a:t>
            </a:r>
            <a:endParaRPr lang="en-US" sz="1900" dirty="0"/>
          </a:p>
        </p:txBody>
      </p:sp>
      <p:sp>
        <p:nvSpPr>
          <p:cNvPr id="15" name="Text 13"/>
          <p:cNvSpPr txBox="1"/>
          <p:nvPr/>
        </p:nvSpPr>
        <p:spPr>
          <a:xfrm>
            <a:off x="4572000" y="3566160"/>
            <a:ext cx="3017520" cy="228600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111111"/>
                </a:solidFill>
                <a:latin typeface="Arial" pitchFamily="34" charset="0"/>
                <a:ea typeface="Arial" pitchFamily="34" charset="-122"/>
                <a:cs typeface="Arial" pitchFamily="34" charset="-120"/>
              </a:rPr>
              <a:t>Cheap, minutes, portable</a:t>
            </a:r>
            <a:endParaRPr lang="en-US" sz="1350" dirty="0"/>
          </a:p>
          <a:p>
            <a:pPr marL="342900" indent="-342900">
              <a:spcAft>
                <a:spcPts val="900"/>
              </a:spcAft>
              <a:buSzPct val="100000"/>
              <a:buChar char="■"/>
            </a:pPr>
            <a:r>
              <a:rPr lang="en-US" sz="1350" dirty="0">
                <a:solidFill>
                  <a:srgbClr val="111111"/>
                </a:solidFill>
                <a:latin typeface="Arial" pitchFamily="34" charset="0"/>
                <a:ea typeface="Arial" pitchFamily="34" charset="-122"/>
                <a:cs typeface="Arial" pitchFamily="34" charset="-120"/>
              </a:rPr>
              <a:t>Subjective, reads by eye</a:t>
            </a:r>
            <a:endParaRPr lang="en-US" sz="1350" dirty="0"/>
          </a:p>
          <a:p>
            <a:pPr marL="342900" indent="-342900">
              <a:spcAft>
                <a:spcPts val="900"/>
              </a:spcAft>
              <a:buSzPct val="100000"/>
              <a:buChar char="■"/>
            </a:pPr>
            <a:r>
              <a:rPr lang="en-US" sz="1350" dirty="0">
                <a:solidFill>
                  <a:srgbClr val="111111"/>
                </a:solidFill>
                <a:latin typeface="Arial" pitchFamily="34" charset="0"/>
                <a:ea typeface="Arial" pitchFamily="34" charset="-122"/>
                <a:cs typeface="Arial" pitchFamily="34" charset="-120"/>
              </a:rPr>
              <a:t>Lighting-dependent error</a:t>
            </a:r>
            <a:endParaRPr lang="en-US" sz="1350" dirty="0"/>
          </a:p>
          <a:p>
            <a:pPr marL="342900" indent="-342900">
              <a:spcAft>
                <a:spcPts val="900"/>
              </a:spcAft>
              <a:buSzPct val="100000"/>
              <a:buChar char="■"/>
            </a:pPr>
            <a:r>
              <a:rPr lang="en-US" sz="1350" dirty="0">
                <a:solidFill>
                  <a:srgbClr val="111111"/>
                </a:solidFill>
                <a:latin typeface="Arial" pitchFamily="34" charset="0"/>
                <a:ea typeface="Arial" pitchFamily="34" charset="-122"/>
                <a:cs typeface="Arial" pitchFamily="34" charset="-120"/>
              </a:rPr>
              <a:t>No digital record or GPS</a:t>
            </a:r>
            <a:endParaRPr lang="en-US" sz="1350" dirty="0"/>
          </a:p>
          <a:p>
            <a:pPr marL="342900" indent="-342900">
              <a:spcAft>
                <a:spcPts val="900"/>
              </a:spcAft>
              <a:buSzPct val="100000"/>
              <a:buChar char="■"/>
            </a:pPr>
            <a:r>
              <a:rPr lang="en-US" sz="1350" dirty="0">
                <a:solidFill>
                  <a:srgbClr val="111111"/>
                </a:solidFill>
                <a:latin typeface="Arial" pitchFamily="34" charset="0"/>
                <a:ea typeface="Arial" pitchFamily="34" charset="-122"/>
                <a:cs typeface="Arial" pitchFamily="34" charset="-120"/>
              </a:rPr>
              <a:t>Legally “indicative” only</a:t>
            </a:r>
            <a:endParaRPr lang="en-US" sz="1350" dirty="0"/>
          </a:p>
        </p:txBody>
      </p:sp>
      <p:sp>
        <p:nvSpPr>
          <p:cNvPr id="16" name="Shape 14"/>
          <p:cNvSpPr/>
          <p:nvPr/>
        </p:nvSpPr>
        <p:spPr>
          <a:xfrm>
            <a:off x="8046720" y="2240280"/>
            <a:ext cx="3520440" cy="3840480"/>
          </a:xfrm>
          <a:prstGeom prst="rect">
            <a:avLst/>
          </a:prstGeom>
          <a:solidFill>
            <a:srgbClr val="1F3AE0"/>
          </a:solidFill>
          <a:ln/>
        </p:spPr>
      </p:sp>
      <p:sp>
        <p:nvSpPr>
          <p:cNvPr id="17" name="Text 15"/>
          <p:cNvSpPr txBox="1"/>
          <p:nvPr/>
        </p:nvSpPr>
        <p:spPr>
          <a:xfrm>
            <a:off x="8321040" y="2514600"/>
            <a:ext cx="3017520" cy="27432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ourier New" pitchFamily="34" charset="0"/>
                <a:ea typeface="Courier New" pitchFamily="34" charset="-122"/>
                <a:cs typeface="Courier New" pitchFamily="34" charset="-120"/>
              </a:rPr>
              <a:t>LISA</a:t>
            </a:r>
            <a:endParaRPr lang="en-US" sz="1100" dirty="0"/>
          </a:p>
        </p:txBody>
      </p:sp>
      <p:sp>
        <p:nvSpPr>
          <p:cNvPr id="18" name="Text 16"/>
          <p:cNvSpPr txBox="1"/>
          <p:nvPr/>
        </p:nvSpPr>
        <p:spPr>
          <a:xfrm>
            <a:off x="8321040" y="2834640"/>
            <a:ext cx="3017520" cy="502920"/>
          </a:xfrm>
          <a:prstGeom prst="rect">
            <a:avLst/>
          </a:prstGeom>
          <a:noFill/>
          <a:ln/>
        </p:spPr>
        <p:txBody>
          <a:bodyPr wrap="square" lIns="0" tIns="0" rIns="0" bIns="0" rtlCol="0" anchor="ctr"/>
          <a:lstStyle/>
          <a:p>
            <a:pPr indent="0" marL="0">
              <a:buNone/>
            </a:pPr>
            <a:r>
              <a:rPr lang="en-US" sz="1900" dirty="0">
                <a:solidFill>
                  <a:srgbClr val="FFFFFF"/>
                </a:solidFill>
                <a:latin typeface="Arial Black" pitchFamily="34" charset="0"/>
                <a:ea typeface="Arial Black" pitchFamily="34" charset="-122"/>
                <a:cs typeface="Arial Black" pitchFamily="34" charset="-120"/>
              </a:rPr>
              <a:t>The third category</a:t>
            </a:r>
            <a:endParaRPr lang="en-US" sz="1900" dirty="0"/>
          </a:p>
        </p:txBody>
      </p:sp>
      <p:sp>
        <p:nvSpPr>
          <p:cNvPr id="19" name="Text 17"/>
          <p:cNvSpPr txBox="1"/>
          <p:nvPr/>
        </p:nvSpPr>
        <p:spPr>
          <a:xfrm>
            <a:off x="8321040" y="3566160"/>
            <a:ext cx="3017520" cy="228600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Full-spectrum measurement</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Minutes, at the source</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₹8–12 per test (target)</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Phone you already own</a:t>
            </a:r>
            <a:endParaRPr lang="en-US" sz="1350" dirty="0"/>
          </a:p>
          <a:p>
            <a:pPr marL="342900" indent="-342900">
              <a:spcAft>
                <a:spcPts val="900"/>
              </a:spcAft>
              <a:buSzPct val="100000"/>
              <a:buChar char="■"/>
            </a:pPr>
            <a:r>
              <a:rPr lang="en-US" sz="1350" dirty="0">
                <a:solidFill>
                  <a:srgbClr val="FFFFFF"/>
                </a:solidFill>
                <a:latin typeface="Arial" pitchFamily="34" charset="0"/>
                <a:ea typeface="Arial" pitchFamily="34" charset="-122"/>
                <a:cs typeface="Arial" pitchFamily="34" charset="-120"/>
              </a:rPr>
              <a:t>Geotagged, audited, offline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000" b="1" spc="200" kern="0" dirty="0">
                <a:solidFill>
                  <a:srgbClr val="111111"/>
                </a:solidFill>
                <a:latin typeface="Courier New" pitchFamily="34" charset="0"/>
                <a:ea typeface="Courier New" pitchFamily="34" charset="-122"/>
                <a:cs typeface="Courier New" pitchFamily="34" charset="-120"/>
              </a:rPr>
              <a:t>05 — THE INSIGHT</a:t>
            </a:r>
            <a:endParaRPr lang="en-US" sz="1000" dirty="0"/>
          </a:p>
        </p:txBody>
      </p:sp>
      <p:sp>
        <p:nvSpPr>
          <p:cNvPr id="3" name="Text 1"/>
          <p:cNvSpPr txBox="1"/>
          <p:nvPr/>
        </p:nvSpPr>
        <p:spPr>
          <a:xfrm>
            <a:off x="6156655" y="292608"/>
            <a:ext cx="5486400" cy="274320"/>
          </a:xfrm>
          <a:prstGeom prst="rect">
            <a:avLst/>
          </a:prstGeom>
          <a:noFill/>
          <a:ln/>
        </p:spPr>
        <p:txBody>
          <a:bodyPr wrap="square" lIns="0" tIns="0" rIns="0" bIns="0" rtlCol="0" anchor="ctr"/>
          <a:lstStyle/>
          <a:p>
            <a:pPr algn="r" indent="0" marL="0">
              <a:buNone/>
            </a:pPr>
            <a:r>
              <a:rPr lang="en-US" sz="900" spc="200" kern="0" dirty="0">
                <a:solidFill>
                  <a:srgbClr val="6B6862"/>
                </a:solidFill>
                <a:latin typeface="Courier New" pitchFamily="34" charset="0"/>
                <a:ea typeface="Courier New" pitchFamily="34" charset="-122"/>
                <a:cs typeface="Courier New" pitchFamily="34" charset="-120"/>
              </a:rPr>
              <a:t>LISA  /  ASHOKA STARTUP CHALLENGE 2026</a:t>
            </a:r>
            <a:endParaRPr lang="en-US" sz="900" dirty="0"/>
          </a:p>
        </p:txBody>
      </p:sp>
      <p:sp>
        <p:nvSpPr>
          <p:cNvPr id="4"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900" dirty="0">
                <a:solidFill>
                  <a:srgbClr val="6B6862"/>
                </a:solidFill>
                <a:latin typeface="Courier New" pitchFamily="34" charset="0"/>
                <a:ea typeface="Courier New" pitchFamily="34" charset="-122"/>
                <a:cs typeface="Courier New" pitchFamily="34" charset="-120"/>
              </a:rPr>
              <a:t>05 / 24</a:t>
            </a:r>
            <a:endParaRPr lang="en-US" sz="900" dirty="0"/>
          </a:p>
        </p:txBody>
      </p:sp>
      <p:sp>
        <p:nvSpPr>
          <p:cNvPr id="5" name="Shape 3"/>
          <p:cNvSpPr/>
          <p:nvPr/>
        </p:nvSpPr>
        <p:spPr>
          <a:xfrm>
            <a:off x="210312" y="6583680"/>
            <a:ext cx="164592" cy="0"/>
          </a:xfrm>
          <a:prstGeom prst="line">
            <a:avLst/>
          </a:prstGeom>
          <a:noFill/>
          <a:ln w="9525">
            <a:solidFill>
              <a:srgbClr val="111111"/>
            </a:solidFill>
            <a:prstDash val="solid"/>
          </a:ln>
        </p:spPr>
      </p:sp>
      <p:sp>
        <p:nvSpPr>
          <p:cNvPr id="6" name="Shape 4"/>
          <p:cNvSpPr/>
          <p:nvPr/>
        </p:nvSpPr>
        <p:spPr>
          <a:xfrm>
            <a:off x="292608" y="6501384"/>
            <a:ext cx="0" cy="164592"/>
          </a:xfrm>
          <a:prstGeom prst="line">
            <a:avLst/>
          </a:prstGeom>
          <a:noFill/>
          <a:ln w="9525">
            <a:solidFill>
              <a:srgbClr val="111111"/>
            </a:solidFill>
            <a:prstDash val="solid"/>
          </a:ln>
        </p:spPr>
      </p:sp>
      <p:sp>
        <p:nvSpPr>
          <p:cNvPr id="7" name="Text 5"/>
          <p:cNvSpPr txBox="1"/>
          <p:nvPr/>
        </p:nvSpPr>
        <p:spPr>
          <a:xfrm>
            <a:off x="548640" y="685800"/>
            <a:ext cx="10515600" cy="1280160"/>
          </a:xfrm>
          <a:prstGeom prst="rect">
            <a:avLst/>
          </a:prstGeom>
          <a:noFill/>
          <a:ln/>
        </p:spPr>
        <p:txBody>
          <a:bodyPr wrap="square" lIns="0" tIns="0" rIns="0" bIns="0" rtlCol="0" anchor="t"/>
          <a:lstStyle/>
          <a:p>
            <a:pPr indent="0" marL="0">
              <a:lnSpc>
                <a:spcPct val="92000"/>
              </a:lnSpc>
              <a:buNone/>
            </a:pPr>
            <a:r>
              <a:rPr lang="en-US" sz="3400" dirty="0">
                <a:solidFill>
                  <a:srgbClr val="111111"/>
                </a:solidFill>
                <a:latin typeface="Arial Black" pitchFamily="34" charset="0"/>
                <a:ea typeface="Arial Black" pitchFamily="34" charset="-122"/>
                <a:cs typeface="Arial Black" pitchFamily="34" charset="-120"/>
              </a:rPr>
              <a:t>Every smartphone is already</a:t>
            </a:r>
            <a:pPr indent="0" marL="0">
              <a:lnSpc>
                <a:spcPct val="92000"/>
              </a:lnSpc>
              <a:buNone/>
            </a:pPr>
            <a:endParaRPr lang="en-US" sz="3400" dirty="0"/>
          </a:p>
          <a:p>
            <a:pPr indent="0" marL="0">
              <a:lnSpc>
                <a:spcPct val="92000"/>
              </a:lnSpc>
              <a:buNone/>
            </a:pPr>
            <a:r>
              <a:rPr lang="en-US" sz="3400" dirty="0">
                <a:solidFill>
                  <a:srgbClr val="1F3AE0"/>
                </a:solidFill>
                <a:latin typeface="Arial Black" pitchFamily="34" charset="0"/>
                <a:ea typeface="Arial Black" pitchFamily="34" charset="-122"/>
                <a:cs typeface="Arial Black" pitchFamily="34" charset="-120"/>
              </a:rPr>
              <a:t>¾ of a spectrometer.</a:t>
            </a:r>
            <a:endParaRPr lang="en-US" sz="3400" dirty="0"/>
          </a:p>
        </p:txBody>
      </p:sp>
      <p:sp>
        <p:nvSpPr>
          <p:cNvPr id="8" name="Shape 6"/>
          <p:cNvSpPr/>
          <p:nvPr/>
        </p:nvSpPr>
        <p:spPr>
          <a:xfrm>
            <a:off x="548640" y="2377440"/>
            <a:ext cx="2560320" cy="2377440"/>
          </a:xfrm>
          <a:prstGeom prst="rect">
            <a:avLst/>
          </a:prstGeom>
          <a:ln w="12700">
            <a:solidFill>
              <a:srgbClr val="111111"/>
            </a:solidFill>
            <a:prstDash val="solid"/>
          </a:ln>
        </p:spPr>
      </p:sp>
      <p:sp>
        <p:nvSpPr>
          <p:cNvPr id="9" name="Text 7"/>
          <p:cNvSpPr txBox="1"/>
          <p:nvPr/>
        </p:nvSpPr>
        <p:spPr>
          <a:xfrm>
            <a:off x="777240" y="2578608"/>
            <a:ext cx="914400" cy="274320"/>
          </a:xfrm>
          <a:prstGeom prst="rect">
            <a:avLst/>
          </a:prstGeom>
          <a:noFill/>
          <a:ln/>
        </p:spPr>
        <p:txBody>
          <a:bodyPr wrap="square" lIns="0" tIns="0" rIns="0" bIns="0" rtlCol="0" anchor="ctr"/>
          <a:lstStyle/>
          <a:p>
            <a:pPr indent="0" marL="0">
              <a:buNone/>
            </a:pPr>
            <a:r>
              <a:rPr lang="en-US" sz="1100" b="1" spc="100" kern="0" dirty="0">
                <a:solidFill>
                  <a:srgbClr val="111111"/>
                </a:solidFill>
                <a:latin typeface="Courier New" pitchFamily="34" charset="0"/>
                <a:ea typeface="Courier New" pitchFamily="34" charset="-122"/>
                <a:cs typeface="Courier New" pitchFamily="34" charset="-120"/>
              </a:rPr>
              <a:t>01</a:t>
            </a:r>
            <a:endParaRPr lang="en-US" sz="1100" dirty="0"/>
          </a:p>
        </p:txBody>
      </p:sp>
      <p:pic>
        <p:nvPicPr>
          <p:cNvPr id="10" name="Image 0" descr="preencoded.png">    </p:cNvPr>
          <p:cNvPicPr>
            <a:picLocks noChangeAspect="1"/>
          </p:cNvPicPr>
          <p:nvPr/>
        </p:nvPicPr>
        <p:blipFill>
          <a:blip r:embed="rId2"/>
          <a:stretch>
            <a:fillRect/>
          </a:stretch>
        </p:blipFill>
        <p:spPr>
          <a:xfrm>
            <a:off x="2377440" y="2560320"/>
            <a:ext cx="457200" cy="457200"/>
          </a:xfrm>
          <a:prstGeom prst="rect">
            <a:avLst/>
          </a:prstGeom>
        </p:spPr>
      </p:pic>
      <p:sp>
        <p:nvSpPr>
          <p:cNvPr id="11" name="Text 8"/>
          <p:cNvSpPr txBox="1"/>
          <p:nvPr/>
        </p:nvSpPr>
        <p:spPr>
          <a:xfrm>
            <a:off x="777240" y="3474720"/>
            <a:ext cx="2194560" cy="365760"/>
          </a:xfrm>
          <a:prstGeom prst="rect">
            <a:avLst/>
          </a:prstGeom>
          <a:noFill/>
          <a:ln/>
        </p:spPr>
        <p:txBody>
          <a:bodyPr wrap="square" lIns="0" tIns="0" rIns="0" bIns="0" rtlCol="0" anchor="ctr"/>
          <a:lstStyle/>
          <a:p>
            <a:pPr indent="0" marL="0">
              <a:buNone/>
            </a:pPr>
            <a:r>
              <a:rPr lang="en-US" sz="1400" dirty="0">
                <a:solidFill>
                  <a:srgbClr val="111111"/>
                </a:solidFill>
                <a:latin typeface="Arial Black" pitchFamily="34" charset="0"/>
                <a:ea typeface="Arial Black" pitchFamily="34" charset="-122"/>
                <a:cs typeface="Arial Black" pitchFamily="34" charset="-120"/>
              </a:rPr>
              <a:t>LIGHT SOURCE</a:t>
            </a:r>
            <a:endParaRPr lang="en-US" sz="1400" dirty="0"/>
          </a:p>
        </p:txBody>
      </p:sp>
      <p:sp>
        <p:nvSpPr>
          <p:cNvPr id="12" name="Text 9"/>
          <p:cNvSpPr txBox="1"/>
          <p:nvPr/>
        </p:nvSpPr>
        <p:spPr>
          <a:xfrm>
            <a:off x="777240" y="3840480"/>
            <a:ext cx="2194560" cy="320040"/>
          </a:xfrm>
          <a:prstGeom prst="rect">
            <a:avLst/>
          </a:prstGeom>
          <a:noFill/>
          <a:ln/>
        </p:spPr>
        <p:txBody>
          <a:bodyPr wrap="square" lIns="0" tIns="0" rIns="0" bIns="0" rtlCol="0" anchor="t"/>
          <a:lstStyle/>
          <a:p>
            <a:pPr indent="0" marL="0">
              <a:buNone/>
            </a:pPr>
            <a:r>
              <a:rPr lang="en-US" sz="1300" dirty="0">
                <a:solidFill>
                  <a:srgbClr val="6B6862"/>
                </a:solidFill>
                <a:latin typeface="Arial" pitchFamily="34" charset="0"/>
                <a:ea typeface="Arial" pitchFamily="34" charset="-122"/>
                <a:cs typeface="Arial" pitchFamily="34" charset="-120"/>
              </a:rPr>
              <a:t>White LED</a:t>
            </a:r>
            <a:endParaRPr lang="en-US" sz="1300" dirty="0"/>
          </a:p>
        </p:txBody>
      </p:sp>
      <p:sp>
        <p:nvSpPr>
          <p:cNvPr id="13" name="Text 10"/>
          <p:cNvSpPr txBox="1"/>
          <p:nvPr/>
        </p:nvSpPr>
        <p:spPr>
          <a:xfrm>
            <a:off x="777240" y="4343400"/>
            <a:ext cx="2286000" cy="274320"/>
          </a:xfrm>
          <a:prstGeom prst="rect">
            <a:avLst/>
          </a:prstGeom>
          <a:noFill/>
          <a:ln/>
        </p:spPr>
        <p:txBody>
          <a:bodyPr wrap="square" lIns="0" tIns="0" rIns="0" bIns="0" rtlCol="0" anchor="ctr"/>
          <a:lstStyle/>
          <a:p>
            <a:pPr indent="0" marL="0">
              <a:buNone/>
            </a:pPr>
            <a:r>
              <a:rPr lang="en-US" sz="850" b="1" spc="100" kern="0" dirty="0">
                <a:solidFill>
                  <a:srgbClr val="1F3AE0"/>
                </a:solidFill>
                <a:latin typeface="Courier New" pitchFamily="34" charset="0"/>
                <a:ea typeface="Courier New" pitchFamily="34" charset="-122"/>
                <a:cs typeface="Courier New" pitchFamily="34" charset="-120"/>
              </a:rPr>
              <a:t>ALREADY IN YOUR POCKET</a:t>
            </a:r>
            <a:endParaRPr lang="en-US" sz="850" dirty="0"/>
          </a:p>
        </p:txBody>
      </p:sp>
      <p:sp>
        <p:nvSpPr>
          <p:cNvPr id="14" name="Shape 11"/>
          <p:cNvSpPr/>
          <p:nvPr/>
        </p:nvSpPr>
        <p:spPr>
          <a:xfrm>
            <a:off x="3364992" y="2377440"/>
            <a:ext cx="2560320" cy="2377440"/>
          </a:xfrm>
          <a:prstGeom prst="rect">
            <a:avLst/>
          </a:prstGeom>
          <a:ln w="12700">
            <a:solidFill>
              <a:srgbClr val="111111"/>
            </a:solidFill>
            <a:prstDash val="solid"/>
          </a:ln>
        </p:spPr>
      </p:sp>
      <p:sp>
        <p:nvSpPr>
          <p:cNvPr id="15" name="Text 12"/>
          <p:cNvSpPr txBox="1"/>
          <p:nvPr/>
        </p:nvSpPr>
        <p:spPr>
          <a:xfrm>
            <a:off x="3593592" y="2578608"/>
            <a:ext cx="914400" cy="274320"/>
          </a:xfrm>
          <a:prstGeom prst="rect">
            <a:avLst/>
          </a:prstGeom>
          <a:noFill/>
          <a:ln/>
        </p:spPr>
        <p:txBody>
          <a:bodyPr wrap="square" lIns="0" tIns="0" rIns="0" bIns="0" rtlCol="0" anchor="ctr"/>
          <a:lstStyle/>
          <a:p>
            <a:pPr indent="0" marL="0">
              <a:buNone/>
            </a:pPr>
            <a:r>
              <a:rPr lang="en-US" sz="1100" b="1" spc="100" kern="0" dirty="0">
                <a:solidFill>
                  <a:srgbClr val="111111"/>
                </a:solidFill>
                <a:latin typeface="Courier New" pitchFamily="34" charset="0"/>
                <a:ea typeface="Courier New" pitchFamily="34" charset="-122"/>
                <a:cs typeface="Courier New" pitchFamily="34" charset="-120"/>
              </a:rPr>
              <a:t>02</a:t>
            </a:r>
            <a:endParaRPr lang="en-US" sz="1100" dirty="0"/>
          </a:p>
        </p:txBody>
      </p:sp>
      <p:pic>
        <p:nvPicPr>
          <p:cNvPr id="16" name="Image 1" descr="preencoded.png">    </p:cNvPr>
          <p:cNvPicPr>
            <a:picLocks noChangeAspect="1"/>
          </p:cNvPicPr>
          <p:nvPr/>
        </p:nvPicPr>
        <p:blipFill>
          <a:blip r:embed="rId3"/>
          <a:stretch>
            <a:fillRect/>
          </a:stretch>
        </p:blipFill>
        <p:spPr>
          <a:xfrm>
            <a:off x="5193792" y="2560320"/>
            <a:ext cx="457200" cy="457200"/>
          </a:xfrm>
          <a:prstGeom prst="rect">
            <a:avLst/>
          </a:prstGeom>
        </p:spPr>
      </p:pic>
      <p:sp>
        <p:nvSpPr>
          <p:cNvPr id="17" name="Text 13"/>
          <p:cNvSpPr txBox="1"/>
          <p:nvPr/>
        </p:nvSpPr>
        <p:spPr>
          <a:xfrm>
            <a:off x="3593592" y="3474720"/>
            <a:ext cx="2194560" cy="365760"/>
          </a:xfrm>
          <a:prstGeom prst="rect">
            <a:avLst/>
          </a:prstGeom>
          <a:noFill/>
          <a:ln/>
        </p:spPr>
        <p:txBody>
          <a:bodyPr wrap="square" lIns="0" tIns="0" rIns="0" bIns="0" rtlCol="0" anchor="ctr"/>
          <a:lstStyle/>
          <a:p>
            <a:pPr indent="0" marL="0">
              <a:buNone/>
            </a:pPr>
            <a:r>
              <a:rPr lang="en-US" sz="1400" dirty="0">
                <a:solidFill>
                  <a:srgbClr val="111111"/>
                </a:solidFill>
                <a:latin typeface="Arial Black" pitchFamily="34" charset="0"/>
                <a:ea typeface="Arial Black" pitchFamily="34" charset="-122"/>
                <a:cs typeface="Arial Black" pitchFamily="34" charset="-120"/>
              </a:rPr>
              <a:t>SAMPLE CELL</a:t>
            </a:r>
            <a:endParaRPr lang="en-US" sz="1400" dirty="0"/>
          </a:p>
        </p:txBody>
      </p:sp>
      <p:sp>
        <p:nvSpPr>
          <p:cNvPr id="18" name="Text 14"/>
          <p:cNvSpPr txBox="1"/>
          <p:nvPr/>
        </p:nvSpPr>
        <p:spPr>
          <a:xfrm>
            <a:off x="3593592" y="3840480"/>
            <a:ext cx="2194560" cy="320040"/>
          </a:xfrm>
          <a:prstGeom prst="rect">
            <a:avLst/>
          </a:prstGeom>
          <a:noFill/>
          <a:ln/>
        </p:spPr>
        <p:txBody>
          <a:bodyPr wrap="square" lIns="0" tIns="0" rIns="0" bIns="0" rtlCol="0" anchor="t"/>
          <a:lstStyle/>
          <a:p>
            <a:pPr indent="0" marL="0">
              <a:buNone/>
            </a:pPr>
            <a:r>
              <a:rPr lang="en-US" sz="1300" dirty="0">
                <a:solidFill>
                  <a:srgbClr val="6B6862"/>
                </a:solidFill>
                <a:latin typeface="Arial" pitchFamily="34" charset="0"/>
                <a:ea typeface="Arial" pitchFamily="34" charset="-122"/>
                <a:cs typeface="Arial" pitchFamily="34" charset="-120"/>
              </a:rPr>
              <a:t>10 mm cuvette</a:t>
            </a:r>
            <a:endParaRPr lang="en-US" sz="1300" dirty="0"/>
          </a:p>
        </p:txBody>
      </p:sp>
      <p:sp>
        <p:nvSpPr>
          <p:cNvPr id="19" name="Text 15"/>
          <p:cNvSpPr txBox="1"/>
          <p:nvPr/>
        </p:nvSpPr>
        <p:spPr>
          <a:xfrm>
            <a:off x="3593592" y="4343400"/>
            <a:ext cx="2286000" cy="274320"/>
          </a:xfrm>
          <a:prstGeom prst="rect">
            <a:avLst/>
          </a:prstGeom>
          <a:noFill/>
          <a:ln/>
        </p:spPr>
        <p:txBody>
          <a:bodyPr wrap="square" lIns="0" tIns="0" rIns="0" bIns="0" rtlCol="0" anchor="ctr"/>
          <a:lstStyle/>
          <a:p>
            <a:pPr indent="0" marL="0">
              <a:buNone/>
            </a:pPr>
            <a:r>
              <a:rPr lang="en-US" sz="850" b="1" spc="100" kern="0" dirty="0">
                <a:solidFill>
                  <a:srgbClr val="1F3AE0"/>
                </a:solidFill>
                <a:latin typeface="Courier New" pitchFamily="34" charset="0"/>
                <a:ea typeface="Courier New" pitchFamily="34" charset="-122"/>
                <a:cs typeface="Courier New" pitchFamily="34" charset="-120"/>
              </a:rPr>
              <a:t>ALREADY IN YOUR POCKET</a:t>
            </a:r>
            <a:endParaRPr lang="en-US" sz="850" dirty="0"/>
          </a:p>
        </p:txBody>
      </p:sp>
      <p:sp>
        <p:nvSpPr>
          <p:cNvPr id="20" name="Shape 16"/>
          <p:cNvSpPr/>
          <p:nvPr/>
        </p:nvSpPr>
        <p:spPr>
          <a:xfrm>
            <a:off x="6181344" y="2377440"/>
            <a:ext cx="2560320" cy="2377440"/>
          </a:xfrm>
          <a:prstGeom prst="rect">
            <a:avLst/>
          </a:prstGeom>
          <a:solidFill>
            <a:srgbClr val="111111"/>
          </a:solidFill>
          <a:ln w="12700">
            <a:solidFill>
              <a:srgbClr val="111111"/>
            </a:solidFill>
            <a:prstDash val="solid"/>
          </a:ln>
        </p:spPr>
      </p:sp>
      <p:sp>
        <p:nvSpPr>
          <p:cNvPr id="21" name="Text 17"/>
          <p:cNvSpPr txBox="1"/>
          <p:nvPr/>
        </p:nvSpPr>
        <p:spPr>
          <a:xfrm>
            <a:off x="6409944" y="2578608"/>
            <a:ext cx="914400" cy="274320"/>
          </a:xfrm>
          <a:prstGeom prst="rect">
            <a:avLst/>
          </a:prstGeom>
          <a:noFill/>
          <a:ln/>
        </p:spPr>
        <p:txBody>
          <a:bodyPr wrap="square" lIns="0" tIns="0" rIns="0" bIns="0" rtlCol="0" anchor="ctr"/>
          <a:lstStyle/>
          <a:p>
            <a:pPr indent="0" marL="0">
              <a:buNone/>
            </a:pPr>
            <a:r>
              <a:rPr lang="en-US" sz="1100" b="1" spc="100" kern="0" dirty="0">
                <a:solidFill>
                  <a:srgbClr val="FFFFFF"/>
                </a:solidFill>
                <a:latin typeface="Courier New" pitchFamily="34" charset="0"/>
                <a:ea typeface="Courier New" pitchFamily="34" charset="-122"/>
                <a:cs typeface="Courier New" pitchFamily="34" charset="-120"/>
              </a:rPr>
              <a:t>03</a:t>
            </a:r>
            <a:endParaRPr lang="en-US" sz="1100" dirty="0"/>
          </a:p>
        </p:txBody>
      </p:sp>
      <p:pic>
        <p:nvPicPr>
          <p:cNvPr id="22" name="Image 2" descr="preencoded.png">    </p:cNvPr>
          <p:cNvPicPr>
            <a:picLocks noChangeAspect="1"/>
          </p:cNvPicPr>
          <p:nvPr/>
        </p:nvPicPr>
        <p:blipFill>
          <a:blip r:embed="rId4"/>
          <a:stretch>
            <a:fillRect/>
          </a:stretch>
        </p:blipFill>
        <p:spPr>
          <a:xfrm>
            <a:off x="8010144" y="2560320"/>
            <a:ext cx="457200" cy="457200"/>
          </a:xfrm>
          <a:prstGeom prst="rect">
            <a:avLst/>
          </a:prstGeom>
        </p:spPr>
      </p:pic>
      <p:sp>
        <p:nvSpPr>
          <p:cNvPr id="23" name="Text 18"/>
          <p:cNvSpPr txBox="1"/>
          <p:nvPr/>
        </p:nvSpPr>
        <p:spPr>
          <a:xfrm>
            <a:off x="6409944" y="3474720"/>
            <a:ext cx="2194560" cy="365760"/>
          </a:xfrm>
          <a:prstGeom prst="rect">
            <a:avLst/>
          </a:prstGeom>
          <a:noFill/>
          <a:ln/>
        </p:spPr>
        <p:txBody>
          <a:bodyPr wrap="square" lIns="0" tIns="0" rIns="0" bIns="0" rtlCol="0" anchor="ctr"/>
          <a:lstStyle/>
          <a:p>
            <a:pPr indent="0" marL="0">
              <a:buNone/>
            </a:pPr>
            <a:r>
              <a:rPr lang="en-US" sz="1400" dirty="0">
                <a:solidFill>
                  <a:srgbClr val="FFFFFF"/>
                </a:solidFill>
                <a:latin typeface="Arial Black" pitchFamily="34" charset="0"/>
                <a:ea typeface="Arial Black" pitchFamily="34" charset="-122"/>
                <a:cs typeface="Arial Black" pitchFamily="34" charset="-120"/>
              </a:rPr>
              <a:t>DISPERSION</a:t>
            </a:r>
            <a:endParaRPr lang="en-US" sz="1400" dirty="0"/>
          </a:p>
        </p:txBody>
      </p:sp>
      <p:sp>
        <p:nvSpPr>
          <p:cNvPr id="24" name="Text 19"/>
          <p:cNvSpPr txBox="1"/>
          <p:nvPr/>
        </p:nvSpPr>
        <p:spPr>
          <a:xfrm>
            <a:off x="6409944" y="3840480"/>
            <a:ext cx="2194560" cy="320040"/>
          </a:xfrm>
          <a:prstGeom prst="rect">
            <a:avLst/>
          </a:prstGeom>
          <a:noFill/>
          <a:ln/>
        </p:spPr>
        <p:txBody>
          <a:bodyPr wrap="square" lIns="0" tIns="0" rIns="0" bIns="0" rtlCol="0" anchor="t"/>
          <a:lstStyle/>
          <a:p>
            <a:pPr indent="0" marL="0">
              <a:buNone/>
            </a:pPr>
            <a:r>
              <a:rPr lang="en-US" sz="1300" dirty="0">
                <a:solidFill>
                  <a:srgbClr val="D0CCC4"/>
                </a:solidFill>
                <a:latin typeface="Arial" pitchFamily="34" charset="0"/>
                <a:ea typeface="Arial" pitchFamily="34" charset="-122"/>
                <a:cs typeface="Arial" pitchFamily="34" charset="-120"/>
              </a:rPr>
              <a:t>Grating + slit</a:t>
            </a:r>
            <a:endParaRPr lang="en-US" sz="1300" dirty="0"/>
          </a:p>
        </p:txBody>
      </p:sp>
      <p:sp>
        <p:nvSpPr>
          <p:cNvPr id="25" name="Text 20"/>
          <p:cNvSpPr txBox="1"/>
          <p:nvPr/>
        </p:nvSpPr>
        <p:spPr>
          <a:xfrm>
            <a:off x="6409944" y="4343400"/>
            <a:ext cx="2286000" cy="274320"/>
          </a:xfrm>
          <a:prstGeom prst="rect">
            <a:avLst/>
          </a:prstGeom>
          <a:noFill/>
          <a:ln/>
        </p:spPr>
        <p:txBody>
          <a:bodyPr wrap="square" lIns="0" tIns="0" rIns="0" bIns="0" rtlCol="0" anchor="ctr"/>
          <a:lstStyle/>
          <a:p>
            <a:pPr indent="0" marL="0">
              <a:buNone/>
            </a:pPr>
            <a:r>
              <a:rPr lang="en-US" sz="850" b="1" spc="100" kern="0" dirty="0">
                <a:solidFill>
                  <a:srgbClr val="FFFFFF"/>
                </a:solidFill>
                <a:latin typeface="Courier New" pitchFamily="34" charset="0"/>
                <a:ea typeface="Courier New" pitchFamily="34" charset="-122"/>
                <a:cs typeface="Courier New" pitchFamily="34" charset="-120"/>
              </a:rPr>
              <a:t>← LISA ADDS THIS, ~₹200</a:t>
            </a:r>
            <a:endParaRPr lang="en-US" sz="850" dirty="0"/>
          </a:p>
        </p:txBody>
      </p:sp>
      <p:sp>
        <p:nvSpPr>
          <p:cNvPr id="26" name="Shape 21"/>
          <p:cNvSpPr/>
          <p:nvPr/>
        </p:nvSpPr>
        <p:spPr>
          <a:xfrm>
            <a:off x="8997696" y="2377440"/>
            <a:ext cx="2560320" cy="2377440"/>
          </a:xfrm>
          <a:prstGeom prst="rect">
            <a:avLst/>
          </a:prstGeom>
          <a:ln w="12700">
            <a:solidFill>
              <a:srgbClr val="111111"/>
            </a:solidFill>
            <a:prstDash val="solid"/>
          </a:ln>
        </p:spPr>
      </p:sp>
      <p:sp>
        <p:nvSpPr>
          <p:cNvPr id="27" name="Text 22"/>
          <p:cNvSpPr txBox="1"/>
          <p:nvPr/>
        </p:nvSpPr>
        <p:spPr>
          <a:xfrm>
            <a:off x="9226296" y="2578608"/>
            <a:ext cx="914400" cy="274320"/>
          </a:xfrm>
          <a:prstGeom prst="rect">
            <a:avLst/>
          </a:prstGeom>
          <a:noFill/>
          <a:ln/>
        </p:spPr>
        <p:txBody>
          <a:bodyPr wrap="square" lIns="0" tIns="0" rIns="0" bIns="0" rtlCol="0" anchor="ctr"/>
          <a:lstStyle/>
          <a:p>
            <a:pPr indent="0" marL="0">
              <a:buNone/>
            </a:pPr>
            <a:r>
              <a:rPr lang="en-US" sz="1100" b="1" spc="100" kern="0" dirty="0">
                <a:solidFill>
                  <a:srgbClr val="111111"/>
                </a:solidFill>
                <a:latin typeface="Courier New" pitchFamily="34" charset="0"/>
                <a:ea typeface="Courier New" pitchFamily="34" charset="-122"/>
                <a:cs typeface="Courier New" pitchFamily="34" charset="-120"/>
              </a:rPr>
              <a:t>04</a:t>
            </a:r>
            <a:endParaRPr lang="en-US" sz="1100" dirty="0"/>
          </a:p>
        </p:txBody>
      </p:sp>
      <p:pic>
        <p:nvPicPr>
          <p:cNvPr id="28" name="Image 3" descr="preencoded.png">    </p:cNvPr>
          <p:cNvPicPr>
            <a:picLocks noChangeAspect="1"/>
          </p:cNvPicPr>
          <p:nvPr/>
        </p:nvPicPr>
        <p:blipFill>
          <a:blip r:embed="rId5"/>
          <a:stretch>
            <a:fillRect/>
          </a:stretch>
        </p:blipFill>
        <p:spPr>
          <a:xfrm>
            <a:off x="10826496" y="2560320"/>
            <a:ext cx="457200" cy="457200"/>
          </a:xfrm>
          <a:prstGeom prst="rect">
            <a:avLst/>
          </a:prstGeom>
        </p:spPr>
      </p:pic>
      <p:sp>
        <p:nvSpPr>
          <p:cNvPr id="29" name="Text 23"/>
          <p:cNvSpPr txBox="1"/>
          <p:nvPr/>
        </p:nvSpPr>
        <p:spPr>
          <a:xfrm>
            <a:off x="9226296" y="3474720"/>
            <a:ext cx="2194560" cy="365760"/>
          </a:xfrm>
          <a:prstGeom prst="rect">
            <a:avLst/>
          </a:prstGeom>
          <a:noFill/>
          <a:ln/>
        </p:spPr>
        <p:txBody>
          <a:bodyPr wrap="square" lIns="0" tIns="0" rIns="0" bIns="0" rtlCol="0" anchor="ctr"/>
          <a:lstStyle/>
          <a:p>
            <a:pPr indent="0" marL="0">
              <a:buNone/>
            </a:pPr>
            <a:r>
              <a:rPr lang="en-US" sz="1400" dirty="0">
                <a:solidFill>
                  <a:srgbClr val="111111"/>
                </a:solidFill>
                <a:latin typeface="Arial Black" pitchFamily="34" charset="0"/>
                <a:ea typeface="Arial Black" pitchFamily="34" charset="-122"/>
                <a:cs typeface="Arial Black" pitchFamily="34" charset="-120"/>
              </a:rPr>
              <a:t>DETECTOR + CPU</a:t>
            </a:r>
            <a:endParaRPr lang="en-US" sz="1400" dirty="0"/>
          </a:p>
        </p:txBody>
      </p:sp>
      <p:sp>
        <p:nvSpPr>
          <p:cNvPr id="30" name="Text 24"/>
          <p:cNvSpPr txBox="1"/>
          <p:nvPr/>
        </p:nvSpPr>
        <p:spPr>
          <a:xfrm>
            <a:off x="9226296" y="3840480"/>
            <a:ext cx="2194560" cy="320040"/>
          </a:xfrm>
          <a:prstGeom prst="rect">
            <a:avLst/>
          </a:prstGeom>
          <a:noFill/>
          <a:ln/>
        </p:spPr>
        <p:txBody>
          <a:bodyPr wrap="square" lIns="0" tIns="0" rIns="0" bIns="0" rtlCol="0" anchor="t"/>
          <a:lstStyle/>
          <a:p>
            <a:pPr indent="0" marL="0">
              <a:buNone/>
            </a:pPr>
            <a:r>
              <a:rPr lang="en-US" sz="1300" dirty="0">
                <a:solidFill>
                  <a:srgbClr val="6B6862"/>
                </a:solidFill>
                <a:latin typeface="Arial" pitchFamily="34" charset="0"/>
                <a:ea typeface="Arial" pitchFamily="34" charset="-122"/>
                <a:cs typeface="Arial" pitchFamily="34" charset="-120"/>
              </a:rPr>
              <a:t>CMOS + SoC</a:t>
            </a:r>
            <a:endParaRPr lang="en-US" sz="1300" dirty="0"/>
          </a:p>
        </p:txBody>
      </p:sp>
      <p:sp>
        <p:nvSpPr>
          <p:cNvPr id="31" name="Text 25"/>
          <p:cNvSpPr txBox="1"/>
          <p:nvPr/>
        </p:nvSpPr>
        <p:spPr>
          <a:xfrm>
            <a:off x="9226296" y="4343400"/>
            <a:ext cx="2286000" cy="274320"/>
          </a:xfrm>
          <a:prstGeom prst="rect">
            <a:avLst/>
          </a:prstGeom>
          <a:noFill/>
          <a:ln/>
        </p:spPr>
        <p:txBody>
          <a:bodyPr wrap="square" lIns="0" tIns="0" rIns="0" bIns="0" rtlCol="0" anchor="ctr"/>
          <a:lstStyle/>
          <a:p>
            <a:pPr indent="0" marL="0">
              <a:buNone/>
            </a:pPr>
            <a:r>
              <a:rPr lang="en-US" sz="850" b="1" spc="100" kern="0" dirty="0">
                <a:solidFill>
                  <a:srgbClr val="1F3AE0"/>
                </a:solidFill>
                <a:latin typeface="Courier New" pitchFamily="34" charset="0"/>
                <a:ea typeface="Courier New" pitchFamily="34" charset="-122"/>
                <a:cs typeface="Courier New" pitchFamily="34" charset="-120"/>
              </a:rPr>
              <a:t>ALREADY IN YOUR POCKET</a:t>
            </a:r>
            <a:endParaRPr lang="en-US" sz="850" dirty="0"/>
          </a:p>
        </p:txBody>
      </p:sp>
      <p:sp>
        <p:nvSpPr>
          <p:cNvPr id="32" name="Text 26"/>
          <p:cNvSpPr txBox="1"/>
          <p:nvPr/>
        </p:nvSpPr>
        <p:spPr>
          <a:xfrm>
            <a:off x="548640" y="5074920"/>
            <a:ext cx="10607040" cy="822960"/>
          </a:xfrm>
          <a:prstGeom prst="rect">
            <a:avLst/>
          </a:prstGeom>
          <a:noFill/>
          <a:ln/>
        </p:spPr>
        <p:txBody>
          <a:bodyPr wrap="square" lIns="0" tIns="0" rIns="0" bIns="0" rtlCol="0" anchor="ctr"/>
          <a:lstStyle/>
          <a:p>
            <a:pPr indent="0" marL="0">
              <a:buNone/>
            </a:pPr>
            <a:r>
              <a:rPr lang="en-US" sz="1600" i="1" dirty="0">
                <a:solidFill>
                  <a:srgbClr val="111111"/>
                </a:solidFill>
                <a:latin typeface="Georgia" pitchFamily="34" charset="0"/>
                <a:ea typeface="Georgia" pitchFamily="34" charset="-122"/>
                <a:cs typeface="Georgia" pitchFamily="34" charset="-120"/>
              </a:rPr>
              <a:t>A ₹10-lakh benchtop spectrophotometer has four parts. 700 million Indians already carry three of them. LISA supplies the missing optical geometry, and the software that makes a consumer camera behave like an instrument.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000" b="1" spc="200" kern="0" dirty="0">
                <a:solidFill>
                  <a:srgbClr val="111111"/>
                </a:solidFill>
                <a:latin typeface="Courier New" pitchFamily="34" charset="0"/>
                <a:ea typeface="Courier New" pitchFamily="34" charset="-122"/>
                <a:cs typeface="Courier New" pitchFamily="34" charset="-120"/>
              </a:rPr>
              <a:t>06 — RESEARCH FOUNDATION</a:t>
            </a:r>
            <a:endParaRPr lang="en-US" sz="1000" dirty="0"/>
          </a:p>
        </p:txBody>
      </p:sp>
      <p:sp>
        <p:nvSpPr>
          <p:cNvPr id="3" name="Text 1"/>
          <p:cNvSpPr txBox="1"/>
          <p:nvPr/>
        </p:nvSpPr>
        <p:spPr>
          <a:xfrm>
            <a:off x="6156655" y="292608"/>
            <a:ext cx="5486400" cy="274320"/>
          </a:xfrm>
          <a:prstGeom prst="rect">
            <a:avLst/>
          </a:prstGeom>
          <a:noFill/>
          <a:ln/>
        </p:spPr>
        <p:txBody>
          <a:bodyPr wrap="square" lIns="0" tIns="0" rIns="0" bIns="0" rtlCol="0" anchor="ctr"/>
          <a:lstStyle/>
          <a:p>
            <a:pPr algn="r" indent="0" marL="0">
              <a:buNone/>
            </a:pPr>
            <a:r>
              <a:rPr lang="en-US" sz="900" spc="200" kern="0" dirty="0">
                <a:solidFill>
                  <a:srgbClr val="6B6862"/>
                </a:solidFill>
                <a:latin typeface="Courier New" pitchFamily="34" charset="0"/>
                <a:ea typeface="Courier New" pitchFamily="34" charset="-122"/>
                <a:cs typeface="Courier New" pitchFamily="34" charset="-120"/>
              </a:rPr>
              <a:t>LISA  /  ASHOKA STARTUP CHALLENGE 2026</a:t>
            </a:r>
            <a:endParaRPr lang="en-US" sz="900" dirty="0"/>
          </a:p>
        </p:txBody>
      </p:sp>
      <p:sp>
        <p:nvSpPr>
          <p:cNvPr id="4"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900" dirty="0">
                <a:solidFill>
                  <a:srgbClr val="6B6862"/>
                </a:solidFill>
                <a:latin typeface="Courier New" pitchFamily="34" charset="0"/>
                <a:ea typeface="Courier New" pitchFamily="34" charset="-122"/>
                <a:cs typeface="Courier New" pitchFamily="34" charset="-120"/>
              </a:rPr>
              <a:t>06 / 24</a:t>
            </a:r>
            <a:endParaRPr lang="en-US" sz="900" dirty="0"/>
          </a:p>
        </p:txBody>
      </p:sp>
      <p:sp>
        <p:nvSpPr>
          <p:cNvPr id="5" name="Shape 3"/>
          <p:cNvSpPr/>
          <p:nvPr/>
        </p:nvSpPr>
        <p:spPr>
          <a:xfrm>
            <a:off x="210312" y="6583680"/>
            <a:ext cx="164592" cy="0"/>
          </a:xfrm>
          <a:prstGeom prst="line">
            <a:avLst/>
          </a:prstGeom>
          <a:noFill/>
          <a:ln w="9525">
            <a:solidFill>
              <a:srgbClr val="111111"/>
            </a:solidFill>
            <a:prstDash val="solid"/>
          </a:ln>
        </p:spPr>
      </p:sp>
      <p:sp>
        <p:nvSpPr>
          <p:cNvPr id="6" name="Shape 4"/>
          <p:cNvSpPr/>
          <p:nvPr/>
        </p:nvSpPr>
        <p:spPr>
          <a:xfrm>
            <a:off x="292608" y="6501384"/>
            <a:ext cx="0" cy="164592"/>
          </a:xfrm>
          <a:prstGeom prst="line">
            <a:avLst/>
          </a:prstGeom>
          <a:noFill/>
          <a:ln w="9525">
            <a:solidFill>
              <a:srgbClr val="111111"/>
            </a:solidFill>
            <a:prstDash val="solid"/>
          </a:ln>
        </p:spPr>
      </p:sp>
      <p:sp>
        <p:nvSpPr>
          <p:cNvPr id="7" name="Shape 5"/>
          <p:cNvSpPr/>
          <p:nvPr/>
        </p:nvSpPr>
        <p:spPr>
          <a:xfrm>
            <a:off x="0" y="731520"/>
            <a:ext cx="4572000" cy="6126480"/>
          </a:xfrm>
          <a:prstGeom prst="rect">
            <a:avLst/>
          </a:prstGeom>
          <a:solidFill>
            <a:srgbClr val="111111"/>
          </a:solidFill>
          <a:ln/>
        </p:spPr>
      </p:sp>
      <p:sp>
        <p:nvSpPr>
          <p:cNvPr id="8" name="Text 6"/>
          <p:cNvSpPr txBox="1"/>
          <p:nvPr/>
        </p:nvSpPr>
        <p:spPr>
          <a:xfrm>
            <a:off x="548640" y="1051560"/>
            <a:ext cx="3657600" cy="274320"/>
          </a:xfrm>
          <a:prstGeom prst="rect">
            <a:avLst/>
          </a:prstGeom>
          <a:noFill/>
          <a:ln/>
        </p:spPr>
        <p:txBody>
          <a:bodyPr wrap="square" lIns="0" tIns="0" rIns="0" bIns="0" rtlCol="0" anchor="ctr"/>
          <a:lstStyle/>
          <a:p>
            <a:pPr indent="0" marL="0">
              <a:buNone/>
            </a:pPr>
            <a:r>
              <a:rPr lang="en-US" sz="1000" b="1" spc="300" kern="0" dirty="0">
                <a:solidFill>
                  <a:srgbClr val="CFCBC3"/>
                </a:solidFill>
                <a:latin typeface="Courier New" pitchFamily="34" charset="0"/>
                <a:ea typeface="Courier New" pitchFamily="34" charset="-122"/>
                <a:cs typeface="Courier New" pitchFamily="34" charset="-120"/>
              </a:rPr>
              <a:t>THE PAPER WE BUILD ON</a:t>
            </a:r>
            <a:endParaRPr lang="en-US" sz="1000" dirty="0"/>
          </a:p>
        </p:txBody>
      </p:sp>
      <p:sp>
        <p:nvSpPr>
          <p:cNvPr id="9" name="Text 7"/>
          <p:cNvSpPr txBox="1"/>
          <p:nvPr/>
        </p:nvSpPr>
        <p:spPr>
          <a:xfrm>
            <a:off x="548640" y="1463040"/>
            <a:ext cx="3657600" cy="2011680"/>
          </a:xfrm>
          <a:prstGeom prst="rect">
            <a:avLst/>
          </a:prstGeom>
          <a:noFill/>
          <a:ln/>
        </p:spPr>
        <p:txBody>
          <a:bodyPr wrap="square" lIns="0" tIns="0" rIns="0" bIns="0" rtlCol="0" anchor="t"/>
          <a:lstStyle/>
          <a:p>
            <a:pPr indent="0" marL="0">
              <a:buNone/>
            </a:pPr>
            <a:r>
              <a:rPr lang="en-US" sz="2100" i="1" dirty="0">
                <a:solidFill>
                  <a:srgbClr val="FFFFFF"/>
                </a:solidFill>
                <a:latin typeface="Georgia" pitchFamily="34" charset="0"/>
                <a:ea typeface="Georgia" pitchFamily="34" charset="-122"/>
                <a:cs typeface="Georgia" pitchFamily="34" charset="-120"/>
              </a:rPr>
              <a:t>“A consumer-ready smartphone spectrometer for accessible intelligent pocket sensing”</a:t>
            </a:r>
            <a:endParaRPr lang="en-US" sz="2100" dirty="0"/>
          </a:p>
        </p:txBody>
      </p:sp>
      <p:sp>
        <p:nvSpPr>
          <p:cNvPr id="10" name="Text 8"/>
          <p:cNvSpPr txBox="1"/>
          <p:nvPr/>
        </p:nvSpPr>
        <p:spPr>
          <a:xfrm>
            <a:off x="548640" y="3611880"/>
            <a:ext cx="3749040" cy="27432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Feng J, Liu Y, Fu Y, Li X, Ai B</a:t>
            </a:r>
            <a:endParaRPr lang="en-US" sz="1200" dirty="0"/>
          </a:p>
        </p:txBody>
      </p:sp>
      <p:sp>
        <p:nvSpPr>
          <p:cNvPr id="11" name="Text 9"/>
          <p:cNvSpPr txBox="1"/>
          <p:nvPr/>
        </p:nvSpPr>
        <p:spPr>
          <a:xfrm>
            <a:off x="548640" y="3886200"/>
            <a:ext cx="3749040" cy="274320"/>
          </a:xfrm>
          <a:prstGeom prst="rect">
            <a:avLst/>
          </a:prstGeom>
          <a:noFill/>
          <a:ln/>
        </p:spPr>
        <p:txBody>
          <a:bodyPr wrap="square" lIns="0" tIns="0" rIns="0" bIns="0" rtlCol="0" anchor="t"/>
          <a:lstStyle/>
          <a:p>
            <a:pPr indent="0" marL="0">
              <a:buNone/>
            </a:pPr>
            <a:r>
              <a:rPr lang="en-US" sz="1200" dirty="0">
                <a:solidFill>
                  <a:srgbClr val="CFCBC3"/>
                </a:solidFill>
                <a:latin typeface="Arial" pitchFamily="34" charset="0"/>
                <a:ea typeface="Arial" pitchFamily="34" charset="-122"/>
                <a:cs typeface="Arial" pitchFamily="34" charset="-120"/>
              </a:rPr>
              <a:t>Chongqing University</a:t>
            </a:r>
            <a:endParaRPr lang="en-US" sz="1200" dirty="0"/>
          </a:p>
        </p:txBody>
      </p:sp>
      <p:sp>
        <p:nvSpPr>
          <p:cNvPr id="12" name="Text 10"/>
          <p:cNvSpPr txBox="1"/>
          <p:nvPr/>
        </p:nvSpPr>
        <p:spPr>
          <a:xfrm>
            <a:off x="548640" y="4389120"/>
            <a:ext cx="3840480" cy="822960"/>
          </a:xfrm>
          <a:prstGeom prst="rect">
            <a:avLst/>
          </a:prstGeom>
          <a:noFill/>
          <a:ln/>
        </p:spPr>
        <p:txBody>
          <a:bodyPr wrap="square" lIns="0" tIns="0" rIns="0" bIns="0" rtlCol="0" anchor="ctr"/>
          <a:lstStyle/>
          <a:p>
            <a:pPr indent="0" marL="0">
              <a:buNone/>
            </a:pPr>
            <a:r>
              <a:rPr lang="en-US" sz="1000" spc="100" kern="0" dirty="0">
                <a:solidFill>
                  <a:srgbClr val="CFCBC3"/>
                </a:solidFill>
                <a:latin typeface="Courier New" pitchFamily="34" charset="0"/>
                <a:ea typeface="Courier New" pitchFamily="34" charset="-122"/>
                <a:cs typeface="Courier New" pitchFamily="34" charset="-120"/>
              </a:rPr>
              <a:t>Sensors &amp; Actuators B: Chemical</a:t>
            </a:r>
            <a:endParaRPr lang="en-US" sz="1000" dirty="0"/>
          </a:p>
          <a:p>
            <a:pPr indent="0" marL="0">
              <a:buNone/>
            </a:pPr>
            <a:r>
              <a:rPr lang="en-US" sz="1000" spc="100" kern="0" dirty="0">
                <a:solidFill>
                  <a:srgbClr val="CFCBC3"/>
                </a:solidFill>
                <a:latin typeface="Courier New" pitchFamily="34" charset="0"/>
                <a:ea typeface="Courier New" pitchFamily="34" charset="-122"/>
                <a:cs typeface="Courier New" pitchFamily="34" charset="-120"/>
              </a:rPr>
              <a:t>Vol. 462 · 140011 · 1 Sep 2026</a:t>
            </a:r>
            <a:endParaRPr lang="en-US" sz="1000" dirty="0"/>
          </a:p>
          <a:p>
            <a:pPr indent="0" marL="0">
              <a:buNone/>
            </a:pPr>
            <a:r>
              <a:rPr lang="en-US" sz="1000" spc="100" kern="0" dirty="0">
                <a:solidFill>
                  <a:srgbClr val="CFCBC3"/>
                </a:solidFill>
                <a:latin typeface="Courier New" pitchFamily="34" charset="0"/>
                <a:ea typeface="Courier New" pitchFamily="34" charset="-122"/>
                <a:cs typeface="Courier New" pitchFamily="34" charset="-120"/>
              </a:rPr>
              <a:t>DOI 10.1016/j.snb.2026.140011</a:t>
            </a:r>
            <a:endParaRPr lang="en-US" sz="1000" dirty="0"/>
          </a:p>
        </p:txBody>
      </p:sp>
      <p:sp>
        <p:nvSpPr>
          <p:cNvPr id="13" name="Text 11"/>
          <p:cNvSpPr txBox="1"/>
          <p:nvPr/>
        </p:nvSpPr>
        <p:spPr>
          <a:xfrm>
            <a:off x="548640" y="5440680"/>
            <a:ext cx="3840480" cy="502920"/>
          </a:xfrm>
          <a:prstGeom prst="rect">
            <a:avLst/>
          </a:prstGeom>
          <a:noFill/>
          <a:ln/>
        </p:spPr>
        <p:txBody>
          <a:bodyPr wrap="square" lIns="0" tIns="0" rIns="0" bIns="0" rtlCol="0" anchor="ctr"/>
          <a:lstStyle/>
          <a:p>
            <a:pPr indent="0" marL="0">
              <a:buNone/>
            </a:pPr>
            <a:r>
              <a:rPr lang="en-US" sz="2400" dirty="0">
                <a:solidFill>
                  <a:srgbClr val="8FA1FF"/>
                </a:solidFill>
                <a:latin typeface="Arial Black" pitchFamily="34" charset="0"/>
                <a:ea typeface="Arial Black" pitchFamily="34" charset="-122"/>
                <a:cs typeface="Arial Black" pitchFamily="34" charset="-120"/>
              </a:rPr>
              <a:t>40+ min → &lt;5 min</a:t>
            </a:r>
            <a:endParaRPr lang="en-US" sz="2400" dirty="0"/>
          </a:p>
        </p:txBody>
      </p:sp>
      <p:sp>
        <p:nvSpPr>
          <p:cNvPr id="14" name="Text 12"/>
          <p:cNvSpPr txBox="1"/>
          <p:nvPr/>
        </p:nvSpPr>
        <p:spPr>
          <a:xfrm>
            <a:off x="548640" y="5943600"/>
            <a:ext cx="3657600" cy="274320"/>
          </a:xfrm>
          <a:prstGeom prst="rect">
            <a:avLst/>
          </a:prstGeom>
          <a:noFill/>
          <a:ln/>
        </p:spPr>
        <p:txBody>
          <a:bodyPr wrap="square" lIns="0" tIns="0" rIns="0" bIns="0" rtlCol="0" anchor="ctr"/>
          <a:lstStyle/>
          <a:p>
            <a:pPr indent="0" marL="0">
              <a:buNone/>
            </a:pPr>
            <a:r>
              <a:rPr lang="en-US" sz="900" spc="100" kern="0" dirty="0">
                <a:solidFill>
                  <a:srgbClr val="CFCBC3"/>
                </a:solidFill>
                <a:latin typeface="Courier New" pitchFamily="34" charset="0"/>
                <a:ea typeface="Courier New" pitchFamily="34" charset="-122"/>
                <a:cs typeface="Courier New" pitchFamily="34" charset="-120"/>
              </a:rPr>
              <a:t>TOTAL-PHOSPHORUS ANALYSIS TIME</a:t>
            </a:r>
            <a:endParaRPr lang="en-US" sz="900" dirty="0"/>
          </a:p>
        </p:txBody>
      </p:sp>
      <p:sp>
        <p:nvSpPr>
          <p:cNvPr id="15" name="Text 13"/>
          <p:cNvSpPr txBox="1"/>
          <p:nvPr/>
        </p:nvSpPr>
        <p:spPr>
          <a:xfrm>
            <a:off x="5029200" y="868680"/>
            <a:ext cx="6400800" cy="548640"/>
          </a:xfrm>
          <a:prstGeom prst="rect">
            <a:avLst/>
          </a:prstGeom>
          <a:noFill/>
          <a:ln/>
        </p:spPr>
        <p:txBody>
          <a:bodyPr wrap="square" lIns="0" tIns="0" rIns="0" bIns="0" rtlCol="0" anchor="ctr"/>
          <a:lstStyle/>
          <a:p>
            <a:pPr indent="0" marL="0">
              <a:buNone/>
            </a:pPr>
            <a:r>
              <a:rPr lang="en-US" sz="2600" dirty="0">
                <a:solidFill>
                  <a:srgbClr val="111111"/>
                </a:solidFill>
                <a:latin typeface="Arial Black" pitchFamily="34" charset="0"/>
                <a:ea typeface="Arial Black" pitchFamily="34" charset="-122"/>
                <a:cs typeface="Arial Black" pitchFamily="34" charset="-120"/>
              </a:rPr>
              <a:t>What it proved</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0" y="1554480"/>
          <a:ext cx="6629400" cy="914400"/>
        </p:xfrm>
        <a:graphic>
          <a:graphicData uri="http://schemas.openxmlformats.org/drawingml/2006/table">
            <a:tbl>
              <a:tblPr/>
              <a:tblGrid>
                <a:gridCol w="2331720"/>
                <a:gridCol w="2240280"/>
                <a:gridCol w="2057400"/>
              </a:tblGrid>
              <a:tr h="475488">
                <a:tc>
                  <a:txBody>
                    <a:bodyPr/>
                    <a:lstStyle/>
                    <a:p>
                      <a:pPr indent="0" marL="0">
                        <a:buNone/>
                      </a:pPr>
                      <a:r>
                        <a:rPr lang="en-US" sz="950" b="1" dirty="0">
                          <a:solidFill>
                            <a:srgbClr val="FFFFFF"/>
                          </a:solidFill>
                          <a:latin typeface="Courier New" pitchFamily="34" charset="0"/>
                          <a:ea typeface="Courier New" pitchFamily="34" charset="-122"/>
                          <a:cs typeface="Courier New" pitchFamily="34" charset="-120"/>
                        </a:rPr>
                        <a:t>RESULT IN THE PAPER</a:t>
                      </a:r>
                      <a:endParaRPr lang="en-US" sz="9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c>
                  <a:txBody>
                    <a:bodyPr/>
                    <a:lstStyle/>
                    <a:p>
                      <a:pPr indent="0" marL="0">
                        <a:buNone/>
                      </a:pPr>
                      <a:r>
                        <a:rPr lang="en-US" sz="950" b="1" dirty="0">
                          <a:solidFill>
                            <a:srgbClr val="FFFFFF"/>
                          </a:solidFill>
                          <a:latin typeface="Courier New" pitchFamily="34" charset="0"/>
                          <a:ea typeface="Courier New" pitchFamily="34" charset="-122"/>
                          <a:cs typeface="Courier New" pitchFamily="34" charset="-120"/>
                        </a:rPr>
                        <a:t>NUMBER</a:t>
                      </a:r>
                      <a:endParaRPr lang="en-US" sz="9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c>
                  <a:txBody>
                    <a:bodyPr/>
                    <a:lstStyle/>
                    <a:p>
                      <a:pPr indent="0" marL="0">
                        <a:buNone/>
                      </a:pPr>
                      <a:r>
                        <a:rPr lang="en-US" sz="950" b="1" dirty="0">
                          <a:solidFill>
                            <a:srgbClr val="FFFFFF"/>
                          </a:solidFill>
                          <a:latin typeface="Courier New" pitchFamily="34" charset="0"/>
                          <a:ea typeface="Courier New" pitchFamily="34" charset="-122"/>
                          <a:cs typeface="Courier New" pitchFamily="34" charset="-120"/>
                        </a:rPr>
                        <a:t>WHAT IT MEANS FOR LISA</a:t>
                      </a:r>
                      <a:endParaRPr lang="en-US" sz="9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r>
              <a:tr h="475488">
                <a:tc>
                  <a:txBody>
                    <a:bodyPr/>
                    <a:lstStyle/>
                    <a:p>
                      <a:pPr indent="0" marL="0">
                        <a:buNone/>
                      </a:pPr>
                      <a:r>
                        <a:rPr lang="en-US" sz="1100" dirty="0">
                          <a:solidFill>
                            <a:srgbClr val="111111"/>
                          </a:solidFill>
                          <a:latin typeface="Arial" pitchFamily="34" charset="0"/>
                          <a:ea typeface="Arial" pitchFamily="34" charset="-122"/>
                          <a:cs typeface="Arial" pitchFamily="34" charset="-120"/>
                        </a:rPr>
                        <a:t>Optical module</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050" b="1" dirty="0">
                          <a:solidFill>
                            <a:srgbClr val="1F3AE0"/>
                          </a:solidFill>
                          <a:latin typeface="Courier New" pitchFamily="34" charset="0"/>
                          <a:ea typeface="Courier New" pitchFamily="34" charset="-122"/>
                          <a:cs typeface="Courier New" pitchFamily="34" charset="-120"/>
                        </a:rPr>
                        <a:t>69×47×26 mm · 35 g</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100" dirty="0">
                          <a:solidFill>
                            <a:srgbClr val="111111"/>
                          </a:solidFill>
                          <a:latin typeface="Arial" pitchFamily="34" charset="0"/>
                          <a:ea typeface="Arial" pitchFamily="34" charset="-122"/>
                          <a:cs typeface="Arial" pitchFamily="34" charset="-120"/>
                        </a:rPr>
                        <a:t>Form-factor target for v2</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475488">
                <a:tc>
                  <a:txBody>
                    <a:bodyPr/>
                    <a:lstStyle/>
                    <a:p>
                      <a:pPr indent="0" marL="0">
                        <a:buNone/>
                      </a:pPr>
                      <a:r>
                        <a:rPr lang="en-US" sz="1100" dirty="0">
                          <a:solidFill>
                            <a:srgbClr val="111111"/>
                          </a:solidFill>
                          <a:latin typeface="Arial" pitchFamily="34" charset="0"/>
                          <a:ea typeface="Arial" pitchFamily="34" charset="-122"/>
                          <a:cs typeface="Arial" pitchFamily="34" charset="-120"/>
                        </a:rPr>
                        <a:t>Range / wavelength accuracy</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050" b="1" dirty="0">
                          <a:solidFill>
                            <a:srgbClr val="1F3AE0"/>
                          </a:solidFill>
                          <a:latin typeface="Courier New" pitchFamily="34" charset="0"/>
                          <a:ea typeface="Courier New" pitchFamily="34" charset="-122"/>
                          <a:cs typeface="Courier New" pitchFamily="34" charset="-120"/>
                        </a:rPr>
                        <a:t>400–700 nm · ±1 nm</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100" dirty="0">
                          <a:solidFill>
                            <a:srgbClr val="111111"/>
                          </a:solidFill>
                          <a:latin typeface="Arial" pitchFamily="34" charset="0"/>
                          <a:ea typeface="Arial" pitchFamily="34" charset="-122"/>
                          <a:cs typeface="Arial" pitchFamily="34" charset="-120"/>
                        </a:rPr>
                        <a:t>Identical design range</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475488">
                <a:tc>
                  <a:txBody>
                    <a:bodyPr/>
                    <a:lstStyle/>
                    <a:p>
                      <a:pPr indent="0" marL="0">
                        <a:buNone/>
                      </a:pPr>
                      <a:r>
                        <a:rPr lang="en-US" sz="1100" dirty="0">
                          <a:solidFill>
                            <a:srgbClr val="111111"/>
                          </a:solidFill>
                          <a:latin typeface="Arial" pitchFamily="34" charset="0"/>
                          <a:ea typeface="Arial" pitchFamily="34" charset="-122"/>
                          <a:cs typeface="Arial" pitchFamily="34" charset="-120"/>
                        </a:rPr>
                        <a:t>Signal-to-noise · intensity drift</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050" b="1" dirty="0">
                          <a:solidFill>
                            <a:srgbClr val="1F3AE0"/>
                          </a:solidFill>
                          <a:latin typeface="Courier New" pitchFamily="34" charset="0"/>
                          <a:ea typeface="Courier New" pitchFamily="34" charset="-122"/>
                          <a:cs typeface="Courier New" pitchFamily="34" charset="-120"/>
                        </a:rPr>
                        <a:t>&gt;500:1 · &lt;1.5%</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100" dirty="0">
                          <a:solidFill>
                            <a:srgbClr val="111111"/>
                          </a:solidFill>
                          <a:latin typeface="Arial" pitchFamily="34" charset="0"/>
                          <a:ea typeface="Arial" pitchFamily="34" charset="-122"/>
                          <a:cs typeface="Arial" pitchFamily="34" charset="-120"/>
                        </a:rPr>
                        <a:t>Benchmark for our hardware</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475488">
                <a:tc>
                  <a:txBody>
                    <a:bodyPr/>
                    <a:lstStyle/>
                    <a:p>
                      <a:pPr indent="0" marL="0">
                        <a:buNone/>
                      </a:pPr>
                      <a:r>
                        <a:rPr lang="en-US" sz="1100" dirty="0">
                          <a:solidFill>
                            <a:srgbClr val="111111"/>
                          </a:solidFill>
                          <a:latin typeface="Arial" pitchFamily="34" charset="0"/>
                          <a:ea typeface="Arial" pitchFamily="34" charset="-122"/>
                          <a:cs typeface="Arial" pitchFamily="34" charset="-120"/>
                        </a:rPr>
                        <a:t>Total-phosphorus accuracy</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050" b="1" dirty="0">
                          <a:solidFill>
                            <a:srgbClr val="1F3AE0"/>
                          </a:solidFill>
                          <a:latin typeface="Courier New" pitchFamily="34" charset="0"/>
                          <a:ea typeface="Courier New" pitchFamily="34" charset="-122"/>
                          <a:cs typeface="Courier New" pitchFamily="34" charset="-120"/>
                        </a:rPr>
                        <a:t>&lt;10% rel. error · RSD &lt;1%</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100" dirty="0">
                          <a:solidFill>
                            <a:srgbClr val="111111"/>
                          </a:solidFill>
                          <a:latin typeface="Arial" pitchFamily="34" charset="0"/>
                          <a:ea typeface="Arial" pitchFamily="34" charset="-122"/>
                          <a:cs typeface="Arial" pitchFamily="34" charset="-120"/>
                        </a:rPr>
                        <a:t>Phone + chemistry works</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475488">
                <a:tc>
                  <a:txBody>
                    <a:bodyPr/>
                    <a:lstStyle/>
                    <a:p>
                      <a:pPr indent="0" marL="0">
                        <a:buNone/>
                      </a:pPr>
                      <a:r>
                        <a:rPr lang="en-US" sz="1100" dirty="0">
                          <a:solidFill>
                            <a:srgbClr val="111111"/>
                          </a:solidFill>
                          <a:latin typeface="Arial" pitchFamily="34" charset="0"/>
                          <a:ea typeface="Arial" pitchFamily="34" charset="-122"/>
                          <a:cs typeface="Arial" pitchFamily="34" charset="-120"/>
                        </a:rPr>
                        <a:t>Real wastewater (20 samples)</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050" b="1" dirty="0">
                          <a:solidFill>
                            <a:srgbClr val="1F3AE0"/>
                          </a:solidFill>
                          <a:latin typeface="Courier New" pitchFamily="34" charset="0"/>
                          <a:ea typeface="Courier New" pitchFamily="34" charset="-122"/>
                          <a:cs typeface="Courier New" pitchFamily="34" charset="-120"/>
                        </a:rPr>
                        <a:t>MAE 0.020 mg/L · 16/20 ≤10%</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100" dirty="0">
                          <a:solidFill>
                            <a:srgbClr val="111111"/>
                          </a:solidFill>
                          <a:latin typeface="Arial" pitchFamily="34" charset="0"/>
                          <a:ea typeface="Arial" pitchFamily="34" charset="-122"/>
                          <a:cs typeface="Arial" pitchFamily="34" charset="-120"/>
                        </a:rPr>
                        <a:t>Field screening, honestly framed</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475488">
                <a:tc>
                  <a:txBody>
                    <a:bodyPr/>
                    <a:lstStyle/>
                    <a:p>
                      <a:pPr indent="0" marL="0">
                        <a:buNone/>
                      </a:pPr>
                      <a:r>
                        <a:rPr lang="en-US" sz="1100" dirty="0">
                          <a:solidFill>
                            <a:srgbClr val="111111"/>
                          </a:solidFill>
                          <a:latin typeface="Arial" pitchFamily="34" charset="0"/>
                          <a:ea typeface="Arial" pitchFamily="34" charset="-122"/>
                          <a:cs typeface="Arial" pitchFamily="34" charset="-120"/>
                        </a:rPr>
                        <a:t>AI model (GAF + 2D-CNN, 480 spectra)</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050" b="1" dirty="0">
                          <a:solidFill>
                            <a:srgbClr val="1F3AE0"/>
                          </a:solidFill>
                          <a:latin typeface="Courier New" pitchFamily="34" charset="0"/>
                          <a:ea typeface="Courier New" pitchFamily="34" charset="-122"/>
                          <a:cs typeface="Courier New" pitchFamily="34" charset="-120"/>
                        </a:rPr>
                        <a:t>R² 0.996 vs PLSR 0.960</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100" dirty="0">
                          <a:solidFill>
                            <a:srgbClr val="111111"/>
                          </a:solidFill>
                          <a:latin typeface="Arial" pitchFamily="34" charset="0"/>
                          <a:ea typeface="Arial" pitchFamily="34" charset="-122"/>
                          <a:cs typeface="Arial" pitchFamily="34" charset="-120"/>
                        </a:rPr>
                        <a:t>Our v2 model at scale</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475488">
                <a:tc>
                  <a:txBody>
                    <a:bodyPr/>
                    <a:lstStyle/>
                    <a:p>
                      <a:pPr indent="0" marL="0">
                        <a:buNone/>
                      </a:pPr>
                      <a:r>
                        <a:rPr lang="en-US" sz="1100" dirty="0">
                          <a:solidFill>
                            <a:srgbClr val="111111"/>
                          </a:solidFill>
                          <a:latin typeface="Arial" pitchFamily="34" charset="0"/>
                          <a:ea typeface="Arial" pitchFamily="34" charset="-122"/>
                          <a:cs typeface="Arial" pitchFamily="34" charset="-120"/>
                        </a:rPr>
                        <a:t>Cross-device calibration</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050" b="1" dirty="0">
                          <a:solidFill>
                            <a:srgbClr val="1F3AE0"/>
                          </a:solidFill>
                          <a:latin typeface="Courier New" pitchFamily="34" charset="0"/>
                          <a:ea typeface="Courier New" pitchFamily="34" charset="-122"/>
                          <a:cs typeface="Courier New" pitchFamily="34" charset="-120"/>
                        </a:rPr>
                        <a:t>R² 0.42–0.64 → 0.91–0.97</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100" dirty="0">
                          <a:solidFill>
                            <a:srgbClr val="111111"/>
                          </a:solidFill>
                          <a:latin typeface="Arial" pitchFamily="34" charset="0"/>
                          <a:ea typeface="Arial" pitchFamily="34" charset="-122"/>
                          <a:cs typeface="Arial" pitchFamily="34" charset="-120"/>
                        </a:rPr>
                        <a:t>Why we fingerprint each phone</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475488">
                <a:tc>
                  <a:txBody>
                    <a:bodyPr/>
                    <a:lstStyle/>
                    <a:p>
                      <a:pPr indent="0" marL="0">
                        <a:buNone/>
                      </a:pPr>
                      <a:r>
                        <a:rPr lang="en-US" sz="1100" dirty="0">
                          <a:solidFill>
                            <a:srgbClr val="111111"/>
                          </a:solidFill>
                          <a:latin typeface="Arial" pitchFamily="34" charset="0"/>
                          <a:ea typeface="Arial" pitchFamily="34" charset="-122"/>
                          <a:cs typeface="Arial" pitchFamily="34" charset="-120"/>
                        </a:rPr>
                        <a:t>Price</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050" b="1" dirty="0">
                          <a:solidFill>
                            <a:srgbClr val="1F3AE0"/>
                          </a:solidFill>
                          <a:latin typeface="Courier New" pitchFamily="34" charset="0"/>
                          <a:ea typeface="Courier New" pitchFamily="34" charset="-122"/>
                          <a:cs typeface="Courier New" pitchFamily="34" charset="-120"/>
                        </a:rPr>
                        <a:t>&lt; $700 (bench &gt; $10k)</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100" dirty="0">
                          <a:solidFill>
                            <a:srgbClr val="111111"/>
                          </a:solidFill>
                          <a:latin typeface="Arial" pitchFamily="34" charset="0"/>
                          <a:ea typeface="Arial" pitchFamily="34" charset="-122"/>
                          <a:cs typeface="Arial" pitchFamily="34" charset="-120"/>
                        </a:rPr>
                        <a:t>We go 10× cheaper</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bl>
          </a:graphicData>
        </a:graphic>
      </p:graphicFrame>
      <p:sp>
        <p:nvSpPr>
          <p:cNvPr id="17" name="Text 14"/>
          <p:cNvSpPr txBox="1"/>
          <p:nvPr/>
        </p:nvSpPr>
        <p:spPr>
          <a:xfrm>
            <a:off x="5029200" y="6053328"/>
            <a:ext cx="6629400" cy="365760"/>
          </a:xfrm>
          <a:prstGeom prst="rect">
            <a:avLst/>
          </a:prstGeom>
          <a:noFill/>
          <a:ln/>
        </p:spPr>
        <p:txBody>
          <a:bodyPr wrap="square" lIns="0" tIns="0" rIns="0" bIns="0" rtlCol="0" anchor="t"/>
          <a:lstStyle/>
          <a:p>
            <a:pPr indent="0" marL="0">
              <a:buNone/>
            </a:pPr>
            <a:r>
              <a:rPr lang="en-US" sz="800" dirty="0">
                <a:solidFill>
                  <a:srgbClr val="6B6862"/>
                </a:solidFill>
                <a:latin typeface="Courier New" pitchFamily="34" charset="0"/>
                <a:ea typeface="Courier New" pitchFamily="34" charset="-122"/>
                <a:cs typeface="Courier New" pitchFamily="34" charset="-120"/>
              </a:rPr>
              <a:t>Figures as reported in Feng et al. 2026. The paper measured total phosphorus; LISA measures orthophosphate and says so.</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000" b="1" spc="200" kern="0" dirty="0">
                <a:solidFill>
                  <a:srgbClr val="111111"/>
                </a:solidFill>
                <a:latin typeface="Courier New" pitchFamily="34" charset="0"/>
                <a:ea typeface="Courier New" pitchFamily="34" charset="-122"/>
                <a:cs typeface="Courier New" pitchFamily="34" charset="-120"/>
              </a:rPr>
              <a:t>07 — RELATED WORK</a:t>
            </a:r>
            <a:endParaRPr lang="en-US" sz="1000" dirty="0"/>
          </a:p>
        </p:txBody>
      </p:sp>
      <p:sp>
        <p:nvSpPr>
          <p:cNvPr id="3" name="Text 1"/>
          <p:cNvSpPr txBox="1"/>
          <p:nvPr/>
        </p:nvSpPr>
        <p:spPr>
          <a:xfrm>
            <a:off x="6156655" y="292608"/>
            <a:ext cx="5486400" cy="274320"/>
          </a:xfrm>
          <a:prstGeom prst="rect">
            <a:avLst/>
          </a:prstGeom>
          <a:noFill/>
          <a:ln/>
        </p:spPr>
        <p:txBody>
          <a:bodyPr wrap="square" lIns="0" tIns="0" rIns="0" bIns="0" rtlCol="0" anchor="ctr"/>
          <a:lstStyle/>
          <a:p>
            <a:pPr algn="r" indent="0" marL="0">
              <a:buNone/>
            </a:pPr>
            <a:r>
              <a:rPr lang="en-US" sz="900" spc="200" kern="0" dirty="0">
                <a:solidFill>
                  <a:srgbClr val="6B6862"/>
                </a:solidFill>
                <a:latin typeface="Courier New" pitchFamily="34" charset="0"/>
                <a:ea typeface="Courier New" pitchFamily="34" charset="-122"/>
                <a:cs typeface="Courier New" pitchFamily="34" charset="-120"/>
              </a:rPr>
              <a:t>LISA  /  ASHOKA STARTUP CHALLENGE 2026</a:t>
            </a:r>
            <a:endParaRPr lang="en-US" sz="900" dirty="0"/>
          </a:p>
        </p:txBody>
      </p:sp>
      <p:sp>
        <p:nvSpPr>
          <p:cNvPr id="4"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900" dirty="0">
                <a:solidFill>
                  <a:srgbClr val="6B6862"/>
                </a:solidFill>
                <a:latin typeface="Courier New" pitchFamily="34" charset="0"/>
                <a:ea typeface="Courier New" pitchFamily="34" charset="-122"/>
                <a:cs typeface="Courier New" pitchFamily="34" charset="-120"/>
              </a:rPr>
              <a:t>07 / 24</a:t>
            </a:r>
            <a:endParaRPr lang="en-US" sz="900" dirty="0"/>
          </a:p>
        </p:txBody>
      </p:sp>
      <p:sp>
        <p:nvSpPr>
          <p:cNvPr id="5" name="Shape 3"/>
          <p:cNvSpPr/>
          <p:nvPr/>
        </p:nvSpPr>
        <p:spPr>
          <a:xfrm>
            <a:off x="210312" y="6583680"/>
            <a:ext cx="164592" cy="0"/>
          </a:xfrm>
          <a:prstGeom prst="line">
            <a:avLst/>
          </a:prstGeom>
          <a:noFill/>
          <a:ln w="9525">
            <a:solidFill>
              <a:srgbClr val="111111"/>
            </a:solidFill>
            <a:prstDash val="solid"/>
          </a:ln>
        </p:spPr>
      </p:sp>
      <p:sp>
        <p:nvSpPr>
          <p:cNvPr id="6" name="Shape 4"/>
          <p:cNvSpPr/>
          <p:nvPr/>
        </p:nvSpPr>
        <p:spPr>
          <a:xfrm>
            <a:off x="292608" y="6501384"/>
            <a:ext cx="0" cy="164592"/>
          </a:xfrm>
          <a:prstGeom prst="line">
            <a:avLst/>
          </a:prstGeom>
          <a:noFill/>
          <a:ln w="9525">
            <a:solidFill>
              <a:srgbClr val="111111"/>
            </a:solidFill>
            <a:prstDash val="solid"/>
          </a:ln>
        </p:spPr>
      </p:sp>
      <p:sp>
        <p:nvSpPr>
          <p:cNvPr id="7" name="Text 5"/>
          <p:cNvSpPr txBox="1"/>
          <p:nvPr/>
        </p:nvSpPr>
        <p:spPr>
          <a:xfrm>
            <a:off x="548640" y="685800"/>
            <a:ext cx="10515600" cy="1280160"/>
          </a:xfrm>
          <a:prstGeom prst="rect">
            <a:avLst/>
          </a:prstGeom>
          <a:noFill/>
          <a:ln/>
        </p:spPr>
        <p:txBody>
          <a:bodyPr wrap="square" lIns="0" tIns="0" rIns="0" bIns="0" rtlCol="0" anchor="t"/>
          <a:lstStyle/>
          <a:p>
            <a:pPr indent="0" marL="0">
              <a:lnSpc>
                <a:spcPct val="92000"/>
              </a:lnSpc>
              <a:buNone/>
            </a:pPr>
            <a:r>
              <a:rPr lang="en-US" sz="3400" dirty="0">
                <a:solidFill>
                  <a:srgbClr val="111111"/>
                </a:solidFill>
                <a:latin typeface="Arial Black" pitchFamily="34" charset="0"/>
                <a:ea typeface="Arial Black" pitchFamily="34" charset="-122"/>
                <a:cs typeface="Arial Black" pitchFamily="34" charset="-120"/>
              </a:rPr>
              <a:t>A decade of pocket optics.</a:t>
            </a:r>
            <a:pPr indent="0" marL="0">
              <a:lnSpc>
                <a:spcPct val="92000"/>
              </a:lnSpc>
              <a:buNone/>
            </a:pPr>
            <a:endParaRPr lang="en-US" sz="3400" dirty="0"/>
          </a:p>
          <a:p>
            <a:pPr indent="0" marL="0">
              <a:lnSpc>
                <a:spcPct val="92000"/>
              </a:lnSpc>
              <a:buNone/>
            </a:pPr>
            <a:r>
              <a:rPr lang="en-US" sz="3400" dirty="0">
                <a:solidFill>
                  <a:srgbClr val="6B6862"/>
                </a:solidFill>
                <a:latin typeface="Arial Black" pitchFamily="34" charset="0"/>
                <a:ea typeface="Arial Black" pitchFamily="34" charset="-122"/>
                <a:cs typeface="Arial Black" pitchFamily="34" charset="-120"/>
              </a:rPr>
              <a:t>LISA is the field-ready synthesis.</a:t>
            </a:r>
            <a:endParaRPr lang="en-US" sz="3400" dirty="0"/>
          </a:p>
        </p:txBody>
      </p:sp>
      <p:sp>
        <p:nvSpPr>
          <p:cNvPr id="8" name="Shape 6"/>
          <p:cNvSpPr/>
          <p:nvPr/>
        </p:nvSpPr>
        <p:spPr>
          <a:xfrm>
            <a:off x="548640" y="2788920"/>
            <a:ext cx="11091672" cy="0"/>
          </a:xfrm>
          <a:prstGeom prst="line">
            <a:avLst/>
          </a:prstGeom>
          <a:noFill/>
          <a:ln w="19050">
            <a:solidFill>
              <a:srgbClr val="111111"/>
            </a:solidFill>
            <a:prstDash val="solid"/>
          </a:ln>
        </p:spPr>
      </p:sp>
      <p:sp>
        <p:nvSpPr>
          <p:cNvPr id="9" name="Shape 7"/>
          <p:cNvSpPr/>
          <p:nvPr/>
        </p:nvSpPr>
        <p:spPr>
          <a:xfrm>
            <a:off x="548640" y="2724912"/>
            <a:ext cx="128016" cy="128016"/>
          </a:xfrm>
          <a:prstGeom prst="rect">
            <a:avLst/>
          </a:prstGeom>
          <a:solidFill>
            <a:srgbClr val="111111"/>
          </a:solidFill>
          <a:ln/>
        </p:spPr>
      </p:sp>
      <p:sp>
        <p:nvSpPr>
          <p:cNvPr id="10" name="Text 8"/>
          <p:cNvSpPr txBox="1"/>
          <p:nvPr/>
        </p:nvSpPr>
        <p:spPr>
          <a:xfrm>
            <a:off x="548640" y="2240280"/>
            <a:ext cx="1280160" cy="411480"/>
          </a:xfrm>
          <a:prstGeom prst="rect">
            <a:avLst/>
          </a:prstGeom>
          <a:noFill/>
          <a:ln/>
        </p:spPr>
        <p:txBody>
          <a:bodyPr wrap="square" lIns="0" tIns="0" rIns="0" bIns="0" rtlCol="0" anchor="ctr"/>
          <a:lstStyle/>
          <a:p>
            <a:pPr indent="0" marL="0">
              <a:buNone/>
            </a:pPr>
            <a:r>
              <a:rPr lang="en-US" sz="1800" dirty="0">
                <a:solidFill>
                  <a:srgbClr val="111111"/>
                </a:solidFill>
                <a:latin typeface="Arial Black" pitchFamily="34" charset="0"/>
                <a:ea typeface="Arial Black" pitchFamily="34" charset="-122"/>
                <a:cs typeface="Arial Black" pitchFamily="34" charset="-120"/>
              </a:rPr>
              <a:t>2014</a:t>
            </a:r>
            <a:endParaRPr lang="en-US" sz="1800" dirty="0"/>
          </a:p>
        </p:txBody>
      </p:sp>
      <p:sp>
        <p:nvSpPr>
          <p:cNvPr id="11" name="Text 9"/>
          <p:cNvSpPr txBox="1"/>
          <p:nvPr/>
        </p:nvSpPr>
        <p:spPr>
          <a:xfrm>
            <a:off x="548640" y="3017520"/>
            <a:ext cx="1298448" cy="548640"/>
          </a:xfrm>
          <a:prstGeom prst="rect">
            <a:avLst/>
          </a:prstGeom>
          <a:noFill/>
          <a:ln/>
        </p:spPr>
        <p:txBody>
          <a:bodyPr wrap="square" lIns="0" tIns="0" rIns="0" bIns="0" rtlCol="0" anchor="t"/>
          <a:lstStyle/>
          <a:p>
            <a:pPr indent="0" marL="0">
              <a:buNone/>
            </a:pPr>
            <a:r>
              <a:rPr lang="en-US" sz="1200" b="1" dirty="0">
                <a:solidFill>
                  <a:srgbClr val="111111"/>
                </a:solidFill>
                <a:latin typeface="Arial" pitchFamily="34" charset="0"/>
                <a:ea typeface="Arial" pitchFamily="34" charset="-122"/>
                <a:cs typeface="Arial" pitchFamily="34" charset="-120"/>
              </a:rPr>
              <a:t>Foldscope</a:t>
            </a:r>
            <a:endParaRPr lang="en-US" sz="1200" dirty="0"/>
          </a:p>
        </p:txBody>
      </p:sp>
      <p:sp>
        <p:nvSpPr>
          <p:cNvPr id="12" name="Text 10"/>
          <p:cNvSpPr txBox="1"/>
          <p:nvPr/>
        </p:nvSpPr>
        <p:spPr>
          <a:xfrm>
            <a:off x="548640" y="3611880"/>
            <a:ext cx="1298448" cy="777240"/>
          </a:xfrm>
          <a:prstGeom prst="rect">
            <a:avLst/>
          </a:prstGeom>
          <a:noFill/>
          <a:ln/>
        </p:spPr>
        <p:txBody>
          <a:bodyPr wrap="square" lIns="0" tIns="0" rIns="0" bIns="0" rtlCol="0" anchor="t"/>
          <a:lstStyle/>
          <a:p>
            <a:pPr indent="0" marL="0">
              <a:buNone/>
            </a:pPr>
            <a:r>
              <a:rPr lang="en-US" sz="850" spc="100" kern="0" dirty="0">
                <a:solidFill>
                  <a:srgbClr val="4A4843"/>
                </a:solidFill>
                <a:latin typeface="Courier New" pitchFamily="34" charset="0"/>
                <a:ea typeface="Courier New" pitchFamily="34" charset="-122"/>
                <a:cs typeface="Courier New" pitchFamily="34" charset="-120"/>
              </a:rPr>
              <a:t>Cybulski, Clements, Prakash · PLoS ONE</a:t>
            </a:r>
            <a:endParaRPr lang="en-US" sz="850" dirty="0"/>
          </a:p>
        </p:txBody>
      </p:sp>
      <p:sp>
        <p:nvSpPr>
          <p:cNvPr id="13" name="Text 11"/>
          <p:cNvSpPr txBox="1"/>
          <p:nvPr/>
        </p:nvSpPr>
        <p:spPr>
          <a:xfrm>
            <a:off x="548640" y="4434840"/>
            <a:ext cx="1298448" cy="1097280"/>
          </a:xfrm>
          <a:prstGeom prst="rect">
            <a:avLst/>
          </a:prstGeom>
          <a:noFill/>
          <a:ln/>
        </p:spPr>
        <p:txBody>
          <a:bodyPr wrap="square" lIns="0" tIns="0" rIns="0" bIns="0" rtlCol="0" anchor="t"/>
          <a:lstStyle/>
          <a:p>
            <a:pPr indent="0" marL="0">
              <a:buNone/>
            </a:pPr>
            <a:r>
              <a:rPr lang="en-US" sz="1050" dirty="0">
                <a:solidFill>
                  <a:srgbClr val="111111"/>
                </a:solidFill>
                <a:latin typeface="Arial" pitchFamily="34" charset="0"/>
                <a:ea typeface="Arial" pitchFamily="34" charset="-122"/>
                <a:cs typeface="Arial" pitchFamily="34" charset="-120"/>
              </a:rPr>
              <a:t>Origami paper microscope for under $1. Our form-factor DNA.</a:t>
            </a:r>
            <a:endParaRPr lang="en-US" sz="1050" dirty="0"/>
          </a:p>
        </p:txBody>
      </p:sp>
      <p:sp>
        <p:nvSpPr>
          <p:cNvPr id="14" name="Shape 12"/>
          <p:cNvSpPr/>
          <p:nvPr/>
        </p:nvSpPr>
        <p:spPr>
          <a:xfrm>
            <a:off x="1947672" y="2724912"/>
            <a:ext cx="128016" cy="128016"/>
          </a:xfrm>
          <a:prstGeom prst="rect">
            <a:avLst/>
          </a:prstGeom>
          <a:solidFill>
            <a:srgbClr val="111111"/>
          </a:solidFill>
          <a:ln/>
        </p:spPr>
      </p:sp>
      <p:sp>
        <p:nvSpPr>
          <p:cNvPr id="15" name="Text 13"/>
          <p:cNvSpPr txBox="1"/>
          <p:nvPr/>
        </p:nvSpPr>
        <p:spPr>
          <a:xfrm>
            <a:off x="1947672" y="2240280"/>
            <a:ext cx="1280160" cy="411480"/>
          </a:xfrm>
          <a:prstGeom prst="rect">
            <a:avLst/>
          </a:prstGeom>
          <a:noFill/>
          <a:ln/>
        </p:spPr>
        <p:txBody>
          <a:bodyPr wrap="square" lIns="0" tIns="0" rIns="0" bIns="0" rtlCol="0" anchor="ctr"/>
          <a:lstStyle/>
          <a:p>
            <a:pPr indent="0" marL="0">
              <a:buNone/>
            </a:pPr>
            <a:r>
              <a:rPr lang="en-US" sz="1800" dirty="0">
                <a:solidFill>
                  <a:srgbClr val="111111"/>
                </a:solidFill>
                <a:latin typeface="Arial Black" pitchFamily="34" charset="0"/>
                <a:ea typeface="Arial Black" pitchFamily="34" charset="-122"/>
                <a:cs typeface="Arial Black" pitchFamily="34" charset="-120"/>
              </a:rPr>
              <a:t>2014</a:t>
            </a:r>
            <a:endParaRPr lang="en-US" sz="1800" dirty="0"/>
          </a:p>
        </p:txBody>
      </p:sp>
      <p:sp>
        <p:nvSpPr>
          <p:cNvPr id="16" name="Text 14"/>
          <p:cNvSpPr txBox="1"/>
          <p:nvPr/>
        </p:nvSpPr>
        <p:spPr>
          <a:xfrm>
            <a:off x="1947672" y="3017520"/>
            <a:ext cx="1298448" cy="548640"/>
          </a:xfrm>
          <a:prstGeom prst="rect">
            <a:avLst/>
          </a:prstGeom>
          <a:noFill/>
          <a:ln/>
        </p:spPr>
        <p:txBody>
          <a:bodyPr wrap="square" lIns="0" tIns="0" rIns="0" bIns="0" rtlCol="0" anchor="t"/>
          <a:lstStyle/>
          <a:p>
            <a:pPr indent="0" marL="0">
              <a:buNone/>
            </a:pPr>
            <a:r>
              <a:rPr lang="en-US" sz="1200" b="1" dirty="0">
                <a:solidFill>
                  <a:srgbClr val="111111"/>
                </a:solidFill>
                <a:latin typeface="Arial" pitchFamily="34" charset="0"/>
                <a:ea typeface="Arial" pitchFamily="34" charset="-122"/>
                <a:cs typeface="Arial" pitchFamily="34" charset="-120"/>
              </a:rPr>
              <a:t>Mobile diagnostics</a:t>
            </a:r>
            <a:endParaRPr lang="en-US" sz="1200" dirty="0"/>
          </a:p>
        </p:txBody>
      </p:sp>
      <p:sp>
        <p:nvSpPr>
          <p:cNvPr id="17" name="Text 15"/>
          <p:cNvSpPr txBox="1"/>
          <p:nvPr/>
        </p:nvSpPr>
        <p:spPr>
          <a:xfrm>
            <a:off x="1947672" y="3611880"/>
            <a:ext cx="1298448" cy="777240"/>
          </a:xfrm>
          <a:prstGeom prst="rect">
            <a:avLst/>
          </a:prstGeom>
          <a:noFill/>
          <a:ln/>
        </p:spPr>
        <p:txBody>
          <a:bodyPr wrap="square" lIns="0" tIns="0" rIns="0" bIns="0" rtlCol="0" anchor="t"/>
          <a:lstStyle/>
          <a:p>
            <a:pPr indent="0" marL="0">
              <a:buNone/>
            </a:pPr>
            <a:r>
              <a:rPr lang="en-US" sz="850" spc="100" kern="0" dirty="0">
                <a:solidFill>
                  <a:srgbClr val="4A4843"/>
                </a:solidFill>
                <a:latin typeface="Courier New" pitchFamily="34" charset="0"/>
                <a:ea typeface="Courier New" pitchFamily="34" charset="-122"/>
                <a:cs typeface="Courier New" pitchFamily="34" charset="-120"/>
              </a:rPr>
              <a:t>Ozcan · Lab on a Chip</a:t>
            </a:r>
            <a:endParaRPr lang="en-US" sz="850" dirty="0"/>
          </a:p>
        </p:txBody>
      </p:sp>
      <p:sp>
        <p:nvSpPr>
          <p:cNvPr id="18" name="Text 16"/>
          <p:cNvSpPr txBox="1"/>
          <p:nvPr/>
        </p:nvSpPr>
        <p:spPr>
          <a:xfrm>
            <a:off x="1947672" y="4434840"/>
            <a:ext cx="1298448" cy="1097280"/>
          </a:xfrm>
          <a:prstGeom prst="rect">
            <a:avLst/>
          </a:prstGeom>
          <a:noFill/>
          <a:ln/>
        </p:spPr>
        <p:txBody>
          <a:bodyPr wrap="square" lIns="0" tIns="0" rIns="0" bIns="0" rtlCol="0" anchor="t"/>
          <a:lstStyle/>
          <a:p>
            <a:pPr indent="0" marL="0">
              <a:buNone/>
            </a:pPr>
            <a:r>
              <a:rPr lang="en-US" sz="1050" dirty="0">
                <a:solidFill>
                  <a:srgbClr val="111111"/>
                </a:solidFill>
                <a:latin typeface="Arial" pitchFamily="34" charset="0"/>
                <a:ea typeface="Arial" pitchFamily="34" charset="-122"/>
                <a:cs typeface="Arial" pitchFamily="34" charset="-120"/>
              </a:rPr>
              <a:t>Phones as imaging and measurement instruments.</a:t>
            </a:r>
            <a:endParaRPr lang="en-US" sz="1050" dirty="0"/>
          </a:p>
        </p:txBody>
      </p:sp>
      <p:sp>
        <p:nvSpPr>
          <p:cNvPr id="19" name="Shape 17"/>
          <p:cNvSpPr/>
          <p:nvPr/>
        </p:nvSpPr>
        <p:spPr>
          <a:xfrm>
            <a:off x="3346704" y="2724912"/>
            <a:ext cx="128016" cy="128016"/>
          </a:xfrm>
          <a:prstGeom prst="rect">
            <a:avLst/>
          </a:prstGeom>
          <a:solidFill>
            <a:srgbClr val="111111"/>
          </a:solidFill>
          <a:ln/>
        </p:spPr>
      </p:sp>
      <p:sp>
        <p:nvSpPr>
          <p:cNvPr id="20" name="Text 18"/>
          <p:cNvSpPr txBox="1"/>
          <p:nvPr/>
        </p:nvSpPr>
        <p:spPr>
          <a:xfrm>
            <a:off x="3346704" y="2240280"/>
            <a:ext cx="1280160" cy="411480"/>
          </a:xfrm>
          <a:prstGeom prst="rect">
            <a:avLst/>
          </a:prstGeom>
          <a:noFill/>
          <a:ln/>
        </p:spPr>
        <p:txBody>
          <a:bodyPr wrap="square" lIns="0" tIns="0" rIns="0" bIns="0" rtlCol="0" anchor="ctr"/>
          <a:lstStyle/>
          <a:p>
            <a:pPr indent="0" marL="0">
              <a:buNone/>
            </a:pPr>
            <a:r>
              <a:rPr lang="en-US" sz="1800" dirty="0">
                <a:solidFill>
                  <a:srgbClr val="111111"/>
                </a:solidFill>
                <a:latin typeface="Arial Black" pitchFamily="34" charset="0"/>
                <a:ea typeface="Arial Black" pitchFamily="34" charset="-122"/>
                <a:cs typeface="Arial Black" pitchFamily="34" charset="-120"/>
              </a:rPr>
              <a:t>2016</a:t>
            </a:r>
            <a:endParaRPr lang="en-US" sz="1800" dirty="0"/>
          </a:p>
        </p:txBody>
      </p:sp>
      <p:sp>
        <p:nvSpPr>
          <p:cNvPr id="21" name="Text 19"/>
          <p:cNvSpPr txBox="1"/>
          <p:nvPr/>
        </p:nvSpPr>
        <p:spPr>
          <a:xfrm>
            <a:off x="3346704" y="3017520"/>
            <a:ext cx="1298448" cy="548640"/>
          </a:xfrm>
          <a:prstGeom prst="rect">
            <a:avLst/>
          </a:prstGeom>
          <a:noFill/>
          <a:ln/>
        </p:spPr>
        <p:txBody>
          <a:bodyPr wrap="square" lIns="0" tIns="0" rIns="0" bIns="0" rtlCol="0" anchor="t"/>
          <a:lstStyle/>
          <a:p>
            <a:pPr indent="0" marL="0">
              <a:buNone/>
            </a:pPr>
            <a:r>
              <a:rPr lang="en-US" sz="1200" b="1" dirty="0">
                <a:solidFill>
                  <a:srgbClr val="111111"/>
                </a:solidFill>
                <a:latin typeface="Arial" pitchFamily="34" charset="0"/>
                <a:ea typeface="Arial" pitchFamily="34" charset="-122"/>
                <a:cs typeface="Arial" pitchFamily="34" charset="-120"/>
              </a:rPr>
              <a:t>Colorimetric biosensing</a:t>
            </a:r>
            <a:endParaRPr lang="en-US" sz="1200" dirty="0"/>
          </a:p>
        </p:txBody>
      </p:sp>
      <p:sp>
        <p:nvSpPr>
          <p:cNvPr id="22" name="Text 20"/>
          <p:cNvSpPr txBox="1"/>
          <p:nvPr/>
        </p:nvSpPr>
        <p:spPr>
          <a:xfrm>
            <a:off x="3346704" y="3611880"/>
            <a:ext cx="1298448" cy="777240"/>
          </a:xfrm>
          <a:prstGeom prst="rect">
            <a:avLst/>
          </a:prstGeom>
          <a:noFill/>
          <a:ln/>
        </p:spPr>
        <p:txBody>
          <a:bodyPr wrap="square" lIns="0" tIns="0" rIns="0" bIns="0" rtlCol="0" anchor="t"/>
          <a:lstStyle/>
          <a:p>
            <a:pPr indent="0" marL="0">
              <a:buNone/>
            </a:pPr>
            <a:r>
              <a:rPr lang="en-US" sz="850" spc="100" kern="0" dirty="0">
                <a:solidFill>
                  <a:srgbClr val="4A4843"/>
                </a:solidFill>
                <a:latin typeface="Courier New" pitchFamily="34" charset="0"/>
                <a:ea typeface="Courier New" pitchFamily="34" charset="-122"/>
                <a:cs typeface="Courier New" pitchFamily="34" charset="-120"/>
              </a:rPr>
              <a:t>Wang et al. · Analyst</a:t>
            </a:r>
            <a:endParaRPr lang="en-US" sz="850" dirty="0"/>
          </a:p>
        </p:txBody>
      </p:sp>
      <p:sp>
        <p:nvSpPr>
          <p:cNvPr id="23" name="Text 21"/>
          <p:cNvSpPr txBox="1"/>
          <p:nvPr/>
        </p:nvSpPr>
        <p:spPr>
          <a:xfrm>
            <a:off x="3346704" y="4434840"/>
            <a:ext cx="1298448" cy="1097280"/>
          </a:xfrm>
          <a:prstGeom prst="rect">
            <a:avLst/>
          </a:prstGeom>
          <a:noFill/>
          <a:ln/>
        </p:spPr>
        <p:txBody>
          <a:bodyPr wrap="square" lIns="0" tIns="0" rIns="0" bIns="0" rtlCol="0" anchor="t"/>
          <a:lstStyle/>
          <a:p>
            <a:pPr indent="0" marL="0">
              <a:buNone/>
            </a:pPr>
            <a:r>
              <a:rPr lang="en-US" sz="1050" dirty="0">
                <a:solidFill>
                  <a:srgbClr val="111111"/>
                </a:solidFill>
                <a:latin typeface="Arial" pitchFamily="34" charset="0"/>
                <a:ea typeface="Arial" pitchFamily="34" charset="-122"/>
                <a:cs typeface="Arial" pitchFamily="34" charset="-120"/>
              </a:rPr>
              <a:t>Smartphone spectrometer reads biochemical assays.</a:t>
            </a:r>
            <a:endParaRPr lang="en-US" sz="1050" dirty="0"/>
          </a:p>
        </p:txBody>
      </p:sp>
      <p:sp>
        <p:nvSpPr>
          <p:cNvPr id="24" name="Shape 22"/>
          <p:cNvSpPr/>
          <p:nvPr/>
        </p:nvSpPr>
        <p:spPr>
          <a:xfrm>
            <a:off x="4745736" y="2724912"/>
            <a:ext cx="128016" cy="128016"/>
          </a:xfrm>
          <a:prstGeom prst="rect">
            <a:avLst/>
          </a:prstGeom>
          <a:solidFill>
            <a:srgbClr val="111111"/>
          </a:solidFill>
          <a:ln/>
        </p:spPr>
      </p:sp>
      <p:sp>
        <p:nvSpPr>
          <p:cNvPr id="25" name="Text 23"/>
          <p:cNvSpPr txBox="1"/>
          <p:nvPr/>
        </p:nvSpPr>
        <p:spPr>
          <a:xfrm>
            <a:off x="4745736" y="2240280"/>
            <a:ext cx="1280160" cy="411480"/>
          </a:xfrm>
          <a:prstGeom prst="rect">
            <a:avLst/>
          </a:prstGeom>
          <a:noFill/>
          <a:ln/>
        </p:spPr>
        <p:txBody>
          <a:bodyPr wrap="square" lIns="0" tIns="0" rIns="0" bIns="0" rtlCol="0" anchor="ctr"/>
          <a:lstStyle/>
          <a:p>
            <a:pPr indent="0" marL="0">
              <a:buNone/>
            </a:pPr>
            <a:r>
              <a:rPr lang="en-US" sz="1800" dirty="0">
                <a:solidFill>
                  <a:srgbClr val="111111"/>
                </a:solidFill>
                <a:latin typeface="Arial Black" pitchFamily="34" charset="0"/>
                <a:ea typeface="Arial Black" pitchFamily="34" charset="-122"/>
                <a:cs typeface="Arial Black" pitchFamily="34" charset="-120"/>
              </a:rPr>
              <a:t>2016</a:t>
            </a:r>
            <a:endParaRPr lang="en-US" sz="1800" dirty="0"/>
          </a:p>
        </p:txBody>
      </p:sp>
      <p:sp>
        <p:nvSpPr>
          <p:cNvPr id="26" name="Text 24"/>
          <p:cNvSpPr txBox="1"/>
          <p:nvPr/>
        </p:nvSpPr>
        <p:spPr>
          <a:xfrm>
            <a:off x="4745736" y="3017520"/>
            <a:ext cx="1298448" cy="548640"/>
          </a:xfrm>
          <a:prstGeom prst="rect">
            <a:avLst/>
          </a:prstGeom>
          <a:noFill/>
          <a:ln/>
        </p:spPr>
        <p:txBody>
          <a:bodyPr wrap="square" lIns="0" tIns="0" rIns="0" bIns="0" rtlCol="0" anchor="t"/>
          <a:lstStyle/>
          <a:p>
            <a:pPr indent="0" marL="0">
              <a:buNone/>
            </a:pPr>
            <a:r>
              <a:rPr lang="en-US" sz="1200" b="1" dirty="0">
                <a:solidFill>
                  <a:srgbClr val="111111"/>
                </a:solidFill>
                <a:latin typeface="Arial" pitchFamily="34" charset="0"/>
                <a:ea typeface="Arial" pitchFamily="34" charset="-122"/>
                <a:cs typeface="Arial" pitchFamily="34" charset="-120"/>
              </a:rPr>
              <a:t>SpectroPhone</a:t>
            </a:r>
            <a:endParaRPr lang="en-US" sz="1200" dirty="0"/>
          </a:p>
        </p:txBody>
      </p:sp>
      <p:sp>
        <p:nvSpPr>
          <p:cNvPr id="27" name="Text 25"/>
          <p:cNvSpPr txBox="1"/>
          <p:nvPr/>
        </p:nvSpPr>
        <p:spPr>
          <a:xfrm>
            <a:off x="4745736" y="3611880"/>
            <a:ext cx="1298448" cy="777240"/>
          </a:xfrm>
          <a:prstGeom prst="rect">
            <a:avLst/>
          </a:prstGeom>
          <a:noFill/>
          <a:ln/>
        </p:spPr>
        <p:txBody>
          <a:bodyPr wrap="square" lIns="0" tIns="0" rIns="0" bIns="0" rtlCol="0" anchor="t"/>
          <a:lstStyle/>
          <a:p>
            <a:pPr indent="0" marL="0">
              <a:buNone/>
            </a:pPr>
            <a:r>
              <a:rPr lang="en-US" sz="850" spc="100" kern="0" dirty="0">
                <a:solidFill>
                  <a:srgbClr val="4A4843"/>
                </a:solidFill>
                <a:latin typeface="Courier New" pitchFamily="34" charset="0"/>
                <a:ea typeface="Courier New" pitchFamily="34" charset="-122"/>
                <a:cs typeface="Courier New" pitchFamily="34" charset="-120"/>
              </a:rPr>
              <a:t>Das, Wahi, Kothari, Raskar · Sci. Reports</a:t>
            </a:r>
            <a:endParaRPr lang="en-US" sz="850" dirty="0"/>
          </a:p>
        </p:txBody>
      </p:sp>
      <p:sp>
        <p:nvSpPr>
          <p:cNvPr id="28" name="Text 26"/>
          <p:cNvSpPr txBox="1"/>
          <p:nvPr/>
        </p:nvSpPr>
        <p:spPr>
          <a:xfrm>
            <a:off x="4745736" y="4434840"/>
            <a:ext cx="1298448" cy="1097280"/>
          </a:xfrm>
          <a:prstGeom prst="rect">
            <a:avLst/>
          </a:prstGeom>
          <a:noFill/>
          <a:ln/>
        </p:spPr>
        <p:txBody>
          <a:bodyPr wrap="square" lIns="0" tIns="0" rIns="0" bIns="0" rtlCol="0" anchor="t"/>
          <a:lstStyle/>
          <a:p>
            <a:pPr indent="0" marL="0">
              <a:buNone/>
            </a:pPr>
            <a:r>
              <a:rPr lang="en-US" sz="1050" dirty="0">
                <a:solidFill>
                  <a:srgbClr val="111111"/>
                </a:solidFill>
                <a:latin typeface="Arial" pitchFamily="34" charset="0"/>
                <a:ea typeface="Arial" pitchFamily="34" charset="-122"/>
                <a:cs typeface="Arial" pitchFamily="34" charset="-120"/>
              </a:rPr>
              <a:t>Wireless phone spectrometer grades fruit ripeness.</a:t>
            </a:r>
            <a:endParaRPr lang="en-US" sz="1050" dirty="0"/>
          </a:p>
        </p:txBody>
      </p:sp>
      <p:sp>
        <p:nvSpPr>
          <p:cNvPr id="29" name="Shape 27"/>
          <p:cNvSpPr/>
          <p:nvPr/>
        </p:nvSpPr>
        <p:spPr>
          <a:xfrm>
            <a:off x="6144768" y="2724912"/>
            <a:ext cx="128016" cy="128016"/>
          </a:xfrm>
          <a:prstGeom prst="rect">
            <a:avLst/>
          </a:prstGeom>
          <a:solidFill>
            <a:srgbClr val="111111"/>
          </a:solidFill>
          <a:ln/>
        </p:spPr>
      </p:sp>
      <p:sp>
        <p:nvSpPr>
          <p:cNvPr id="30" name="Text 28"/>
          <p:cNvSpPr txBox="1"/>
          <p:nvPr/>
        </p:nvSpPr>
        <p:spPr>
          <a:xfrm>
            <a:off x="6144768" y="2240280"/>
            <a:ext cx="1280160" cy="411480"/>
          </a:xfrm>
          <a:prstGeom prst="rect">
            <a:avLst/>
          </a:prstGeom>
          <a:noFill/>
          <a:ln/>
        </p:spPr>
        <p:txBody>
          <a:bodyPr wrap="square" lIns="0" tIns="0" rIns="0" bIns="0" rtlCol="0" anchor="ctr"/>
          <a:lstStyle/>
          <a:p>
            <a:pPr indent="0" marL="0">
              <a:buNone/>
            </a:pPr>
            <a:r>
              <a:rPr lang="en-US" sz="1800" dirty="0">
                <a:solidFill>
                  <a:srgbClr val="111111"/>
                </a:solidFill>
                <a:latin typeface="Arial Black" pitchFamily="34" charset="0"/>
                <a:ea typeface="Arial Black" pitchFamily="34" charset="-122"/>
                <a:cs typeface="Arial Black" pitchFamily="34" charset="-120"/>
              </a:rPr>
              <a:t>2018</a:t>
            </a:r>
            <a:endParaRPr lang="en-US" sz="1800" dirty="0"/>
          </a:p>
        </p:txBody>
      </p:sp>
      <p:sp>
        <p:nvSpPr>
          <p:cNvPr id="31" name="Text 29"/>
          <p:cNvSpPr txBox="1"/>
          <p:nvPr/>
        </p:nvSpPr>
        <p:spPr>
          <a:xfrm>
            <a:off x="6144768" y="3017520"/>
            <a:ext cx="1298448" cy="548640"/>
          </a:xfrm>
          <a:prstGeom prst="rect">
            <a:avLst/>
          </a:prstGeom>
          <a:noFill/>
          <a:ln/>
        </p:spPr>
        <p:txBody>
          <a:bodyPr wrap="square" lIns="0" tIns="0" rIns="0" bIns="0" rtlCol="0" anchor="t"/>
          <a:lstStyle/>
          <a:p>
            <a:pPr indent="0" marL="0">
              <a:buNone/>
            </a:pPr>
            <a:r>
              <a:rPr lang="en-US" sz="1200" b="1" dirty="0">
                <a:solidFill>
                  <a:srgbClr val="111111"/>
                </a:solidFill>
                <a:latin typeface="Arial" pitchFamily="34" charset="0"/>
                <a:ea typeface="Arial" pitchFamily="34" charset="-122"/>
                <a:cs typeface="Arial" pitchFamily="34" charset="-120"/>
              </a:rPr>
              <a:t>Field review</a:t>
            </a:r>
            <a:endParaRPr lang="en-US" sz="1200" dirty="0"/>
          </a:p>
        </p:txBody>
      </p:sp>
      <p:sp>
        <p:nvSpPr>
          <p:cNvPr id="32" name="Text 30"/>
          <p:cNvSpPr txBox="1"/>
          <p:nvPr/>
        </p:nvSpPr>
        <p:spPr>
          <a:xfrm>
            <a:off x="6144768" y="3611880"/>
            <a:ext cx="1298448" cy="777240"/>
          </a:xfrm>
          <a:prstGeom prst="rect">
            <a:avLst/>
          </a:prstGeom>
          <a:noFill/>
          <a:ln/>
        </p:spPr>
        <p:txBody>
          <a:bodyPr wrap="square" lIns="0" tIns="0" rIns="0" bIns="0" rtlCol="0" anchor="t"/>
          <a:lstStyle/>
          <a:p>
            <a:pPr indent="0" marL="0">
              <a:buNone/>
            </a:pPr>
            <a:r>
              <a:rPr lang="en-US" sz="850" spc="100" kern="0" dirty="0">
                <a:solidFill>
                  <a:srgbClr val="4A4843"/>
                </a:solidFill>
                <a:latin typeface="Courier New" pitchFamily="34" charset="0"/>
                <a:ea typeface="Courier New" pitchFamily="34" charset="-122"/>
                <a:cs typeface="Courier New" pitchFamily="34" charset="-120"/>
              </a:rPr>
              <a:t>McGonigle et al. · Sensors</a:t>
            </a:r>
            <a:endParaRPr lang="en-US" sz="850" dirty="0"/>
          </a:p>
        </p:txBody>
      </p:sp>
      <p:sp>
        <p:nvSpPr>
          <p:cNvPr id="33" name="Text 31"/>
          <p:cNvSpPr txBox="1"/>
          <p:nvPr/>
        </p:nvSpPr>
        <p:spPr>
          <a:xfrm>
            <a:off x="6144768" y="4434840"/>
            <a:ext cx="1298448" cy="1097280"/>
          </a:xfrm>
          <a:prstGeom prst="rect">
            <a:avLst/>
          </a:prstGeom>
          <a:noFill/>
          <a:ln/>
        </p:spPr>
        <p:txBody>
          <a:bodyPr wrap="square" lIns="0" tIns="0" rIns="0" bIns="0" rtlCol="0" anchor="t"/>
          <a:lstStyle/>
          <a:p>
            <a:pPr indent="0" marL="0">
              <a:buNone/>
            </a:pPr>
            <a:r>
              <a:rPr lang="en-US" sz="1050" dirty="0">
                <a:solidFill>
                  <a:srgbClr val="111111"/>
                </a:solidFill>
                <a:latin typeface="Arial" pitchFamily="34" charset="0"/>
                <a:ea typeface="Arial" pitchFamily="34" charset="-122"/>
                <a:cs typeface="Arial" pitchFamily="34" charset="-120"/>
              </a:rPr>
              <a:t>State of smartphone spectrometers and CFL calibration.</a:t>
            </a:r>
            <a:endParaRPr lang="en-US" sz="1050" dirty="0"/>
          </a:p>
        </p:txBody>
      </p:sp>
      <p:sp>
        <p:nvSpPr>
          <p:cNvPr id="34" name="Shape 32"/>
          <p:cNvSpPr/>
          <p:nvPr/>
        </p:nvSpPr>
        <p:spPr>
          <a:xfrm>
            <a:off x="7543800" y="2724912"/>
            <a:ext cx="128016" cy="128016"/>
          </a:xfrm>
          <a:prstGeom prst="rect">
            <a:avLst/>
          </a:prstGeom>
          <a:solidFill>
            <a:srgbClr val="111111"/>
          </a:solidFill>
          <a:ln/>
        </p:spPr>
      </p:sp>
      <p:sp>
        <p:nvSpPr>
          <p:cNvPr id="35" name="Text 33"/>
          <p:cNvSpPr txBox="1"/>
          <p:nvPr/>
        </p:nvSpPr>
        <p:spPr>
          <a:xfrm>
            <a:off x="7543800" y="2240280"/>
            <a:ext cx="1280160" cy="411480"/>
          </a:xfrm>
          <a:prstGeom prst="rect">
            <a:avLst/>
          </a:prstGeom>
          <a:noFill/>
          <a:ln/>
        </p:spPr>
        <p:txBody>
          <a:bodyPr wrap="square" lIns="0" tIns="0" rIns="0" bIns="0" rtlCol="0" anchor="ctr"/>
          <a:lstStyle/>
          <a:p>
            <a:pPr indent="0" marL="0">
              <a:buNone/>
            </a:pPr>
            <a:r>
              <a:rPr lang="en-US" sz="1800" dirty="0">
                <a:solidFill>
                  <a:srgbClr val="111111"/>
                </a:solidFill>
                <a:latin typeface="Arial Black" pitchFamily="34" charset="0"/>
                <a:ea typeface="Arial Black" pitchFamily="34" charset="-122"/>
                <a:cs typeface="Arial Black" pitchFamily="34" charset="-120"/>
              </a:rPr>
              <a:t>2021</a:t>
            </a:r>
            <a:endParaRPr lang="en-US" sz="1800" dirty="0"/>
          </a:p>
        </p:txBody>
      </p:sp>
      <p:sp>
        <p:nvSpPr>
          <p:cNvPr id="36" name="Text 34"/>
          <p:cNvSpPr txBox="1"/>
          <p:nvPr/>
        </p:nvSpPr>
        <p:spPr>
          <a:xfrm>
            <a:off x="7543800" y="3017520"/>
            <a:ext cx="1298448" cy="548640"/>
          </a:xfrm>
          <a:prstGeom prst="rect">
            <a:avLst/>
          </a:prstGeom>
          <a:noFill/>
          <a:ln/>
        </p:spPr>
        <p:txBody>
          <a:bodyPr wrap="square" lIns="0" tIns="0" rIns="0" bIns="0" rtlCol="0" anchor="t"/>
          <a:lstStyle/>
          <a:p>
            <a:pPr indent="0" marL="0">
              <a:buNone/>
            </a:pPr>
            <a:r>
              <a:rPr lang="en-US" sz="1200" b="1" dirty="0">
                <a:solidFill>
                  <a:srgbClr val="111111"/>
                </a:solidFill>
                <a:latin typeface="Arial" pitchFamily="34" charset="0"/>
                <a:ea typeface="Arial" pitchFamily="34" charset="-122"/>
                <a:cs typeface="Arial" pitchFamily="34" charset="-120"/>
              </a:rPr>
              <a:t>Which phone?</a:t>
            </a:r>
            <a:endParaRPr lang="en-US" sz="1200" dirty="0"/>
          </a:p>
        </p:txBody>
      </p:sp>
      <p:sp>
        <p:nvSpPr>
          <p:cNvPr id="37" name="Text 35"/>
          <p:cNvSpPr txBox="1"/>
          <p:nvPr/>
        </p:nvSpPr>
        <p:spPr>
          <a:xfrm>
            <a:off x="7543800" y="3611880"/>
            <a:ext cx="1298448" cy="777240"/>
          </a:xfrm>
          <a:prstGeom prst="rect">
            <a:avLst/>
          </a:prstGeom>
          <a:noFill/>
          <a:ln/>
        </p:spPr>
        <p:txBody>
          <a:bodyPr wrap="square" lIns="0" tIns="0" rIns="0" bIns="0" rtlCol="0" anchor="t"/>
          <a:lstStyle/>
          <a:p>
            <a:pPr indent="0" marL="0">
              <a:buNone/>
            </a:pPr>
            <a:r>
              <a:rPr lang="en-US" sz="850" spc="100" kern="0" dirty="0">
                <a:solidFill>
                  <a:srgbClr val="4A4843"/>
                </a:solidFill>
                <a:latin typeface="Courier New" pitchFamily="34" charset="0"/>
                <a:ea typeface="Courier New" pitchFamily="34" charset="-122"/>
                <a:cs typeface="Courier New" pitchFamily="34" charset="-120"/>
              </a:rPr>
              <a:t>Pitula, Koba, Śmietana · Opt. Laser Tech.</a:t>
            </a:r>
            <a:endParaRPr lang="en-US" sz="850" dirty="0"/>
          </a:p>
        </p:txBody>
      </p:sp>
      <p:sp>
        <p:nvSpPr>
          <p:cNvPr id="38" name="Text 36"/>
          <p:cNvSpPr txBox="1"/>
          <p:nvPr/>
        </p:nvSpPr>
        <p:spPr>
          <a:xfrm>
            <a:off x="7543800" y="4434840"/>
            <a:ext cx="1298448" cy="1097280"/>
          </a:xfrm>
          <a:prstGeom prst="rect">
            <a:avLst/>
          </a:prstGeom>
          <a:noFill/>
          <a:ln/>
        </p:spPr>
        <p:txBody>
          <a:bodyPr wrap="square" lIns="0" tIns="0" rIns="0" bIns="0" rtlCol="0" anchor="t"/>
          <a:lstStyle/>
          <a:p>
            <a:pPr indent="0" marL="0">
              <a:buNone/>
            </a:pPr>
            <a:r>
              <a:rPr lang="en-US" sz="1050" dirty="0">
                <a:solidFill>
                  <a:srgbClr val="111111"/>
                </a:solidFill>
                <a:latin typeface="Arial" pitchFamily="34" charset="0"/>
                <a:ea typeface="Arial" pitchFamily="34" charset="-122"/>
                <a:cs typeface="Arial" pitchFamily="34" charset="-120"/>
              </a:rPr>
              <a:t>Camera choice changes the spectrum. Calibrate per device.</a:t>
            </a:r>
            <a:endParaRPr lang="en-US" sz="1050" dirty="0"/>
          </a:p>
        </p:txBody>
      </p:sp>
      <p:sp>
        <p:nvSpPr>
          <p:cNvPr id="39" name="Shape 37"/>
          <p:cNvSpPr/>
          <p:nvPr/>
        </p:nvSpPr>
        <p:spPr>
          <a:xfrm>
            <a:off x="8942832" y="2724912"/>
            <a:ext cx="128016" cy="128016"/>
          </a:xfrm>
          <a:prstGeom prst="rect">
            <a:avLst/>
          </a:prstGeom>
          <a:solidFill>
            <a:srgbClr val="111111"/>
          </a:solidFill>
          <a:ln/>
        </p:spPr>
      </p:sp>
      <p:sp>
        <p:nvSpPr>
          <p:cNvPr id="40" name="Text 38"/>
          <p:cNvSpPr txBox="1"/>
          <p:nvPr/>
        </p:nvSpPr>
        <p:spPr>
          <a:xfrm>
            <a:off x="8942832" y="2240280"/>
            <a:ext cx="1280160" cy="411480"/>
          </a:xfrm>
          <a:prstGeom prst="rect">
            <a:avLst/>
          </a:prstGeom>
          <a:noFill/>
          <a:ln/>
        </p:spPr>
        <p:txBody>
          <a:bodyPr wrap="square" lIns="0" tIns="0" rIns="0" bIns="0" rtlCol="0" anchor="ctr"/>
          <a:lstStyle/>
          <a:p>
            <a:pPr indent="0" marL="0">
              <a:buNone/>
            </a:pPr>
            <a:r>
              <a:rPr lang="en-US" sz="1800" dirty="0">
                <a:solidFill>
                  <a:srgbClr val="111111"/>
                </a:solidFill>
                <a:latin typeface="Arial Black" pitchFamily="34" charset="0"/>
                <a:ea typeface="Arial Black" pitchFamily="34" charset="-122"/>
                <a:cs typeface="Arial Black" pitchFamily="34" charset="-120"/>
              </a:rPr>
              <a:t>2023</a:t>
            </a:r>
            <a:endParaRPr lang="en-US" sz="1800" dirty="0"/>
          </a:p>
        </p:txBody>
      </p:sp>
      <p:sp>
        <p:nvSpPr>
          <p:cNvPr id="41" name="Text 39"/>
          <p:cNvSpPr txBox="1"/>
          <p:nvPr/>
        </p:nvSpPr>
        <p:spPr>
          <a:xfrm>
            <a:off x="8942832" y="3017520"/>
            <a:ext cx="1298448" cy="548640"/>
          </a:xfrm>
          <a:prstGeom prst="rect">
            <a:avLst/>
          </a:prstGeom>
          <a:noFill/>
          <a:ln/>
        </p:spPr>
        <p:txBody>
          <a:bodyPr wrap="square" lIns="0" tIns="0" rIns="0" bIns="0" rtlCol="0" anchor="t"/>
          <a:lstStyle/>
          <a:p>
            <a:pPr indent="0" marL="0">
              <a:buNone/>
            </a:pPr>
            <a:r>
              <a:rPr lang="en-US" sz="1200" b="1" dirty="0">
                <a:solidFill>
                  <a:srgbClr val="111111"/>
                </a:solidFill>
                <a:latin typeface="Arial" pitchFamily="34" charset="0"/>
                <a:ea typeface="Arial" pitchFamily="34" charset="-122"/>
                <a:cs typeface="Arial" pitchFamily="34" charset="-120"/>
              </a:rPr>
              <a:t>Dual-beam</a:t>
            </a:r>
            <a:endParaRPr lang="en-US" sz="1200" dirty="0"/>
          </a:p>
        </p:txBody>
      </p:sp>
      <p:sp>
        <p:nvSpPr>
          <p:cNvPr id="42" name="Text 40"/>
          <p:cNvSpPr txBox="1"/>
          <p:nvPr/>
        </p:nvSpPr>
        <p:spPr>
          <a:xfrm>
            <a:off x="8942832" y="3611880"/>
            <a:ext cx="1298448" cy="777240"/>
          </a:xfrm>
          <a:prstGeom prst="rect">
            <a:avLst/>
          </a:prstGeom>
          <a:noFill/>
          <a:ln/>
        </p:spPr>
        <p:txBody>
          <a:bodyPr wrap="square" lIns="0" tIns="0" rIns="0" bIns="0" rtlCol="0" anchor="t"/>
          <a:lstStyle/>
          <a:p>
            <a:pPr indent="0" marL="0">
              <a:buNone/>
            </a:pPr>
            <a:r>
              <a:rPr lang="en-US" sz="850" spc="100" kern="0" dirty="0">
                <a:solidFill>
                  <a:srgbClr val="4A4843"/>
                </a:solidFill>
                <a:latin typeface="Courier New" pitchFamily="34" charset="0"/>
                <a:ea typeface="Courier New" pitchFamily="34" charset="-122"/>
                <a:cs typeface="Courier New" pitchFamily="34" charset="-120"/>
              </a:rPr>
              <a:t>Jarujareet et al. · J. Chem. Educ.</a:t>
            </a:r>
            <a:endParaRPr lang="en-US" sz="850" dirty="0"/>
          </a:p>
        </p:txBody>
      </p:sp>
      <p:sp>
        <p:nvSpPr>
          <p:cNvPr id="43" name="Text 41"/>
          <p:cNvSpPr txBox="1"/>
          <p:nvPr/>
        </p:nvSpPr>
        <p:spPr>
          <a:xfrm>
            <a:off x="8942832" y="4434840"/>
            <a:ext cx="1298448" cy="1097280"/>
          </a:xfrm>
          <a:prstGeom prst="rect">
            <a:avLst/>
          </a:prstGeom>
          <a:noFill/>
          <a:ln/>
        </p:spPr>
        <p:txBody>
          <a:bodyPr wrap="square" lIns="0" tIns="0" rIns="0" bIns="0" rtlCol="0" anchor="t"/>
          <a:lstStyle/>
          <a:p>
            <a:pPr indent="0" marL="0">
              <a:buNone/>
            </a:pPr>
            <a:r>
              <a:rPr lang="en-US" sz="1050" dirty="0">
                <a:solidFill>
                  <a:srgbClr val="111111"/>
                </a:solidFill>
                <a:latin typeface="Arial" pitchFamily="34" charset="0"/>
                <a:ea typeface="Arial" pitchFamily="34" charset="-122"/>
                <a:cs typeface="Arial" pitchFamily="34" charset="-120"/>
              </a:rPr>
              <a:t>Low-cost reference-beam spectrometer for teaching.</a:t>
            </a:r>
            <a:endParaRPr lang="en-US" sz="1050" dirty="0"/>
          </a:p>
        </p:txBody>
      </p:sp>
      <p:sp>
        <p:nvSpPr>
          <p:cNvPr id="44" name="Shape 42"/>
          <p:cNvSpPr/>
          <p:nvPr/>
        </p:nvSpPr>
        <p:spPr>
          <a:xfrm>
            <a:off x="10341864" y="2724912"/>
            <a:ext cx="128016" cy="128016"/>
          </a:xfrm>
          <a:prstGeom prst="rect">
            <a:avLst/>
          </a:prstGeom>
          <a:solidFill>
            <a:srgbClr val="1F3AE0"/>
          </a:solidFill>
          <a:ln/>
        </p:spPr>
      </p:sp>
      <p:sp>
        <p:nvSpPr>
          <p:cNvPr id="45" name="Text 43"/>
          <p:cNvSpPr txBox="1"/>
          <p:nvPr/>
        </p:nvSpPr>
        <p:spPr>
          <a:xfrm>
            <a:off x="10341864" y="2240280"/>
            <a:ext cx="1280160" cy="411480"/>
          </a:xfrm>
          <a:prstGeom prst="rect">
            <a:avLst/>
          </a:prstGeom>
          <a:noFill/>
          <a:ln/>
        </p:spPr>
        <p:txBody>
          <a:bodyPr wrap="square" lIns="0" tIns="0" rIns="0" bIns="0" rtlCol="0" anchor="ctr"/>
          <a:lstStyle/>
          <a:p>
            <a:pPr indent="0" marL="0">
              <a:buNone/>
            </a:pPr>
            <a:r>
              <a:rPr lang="en-US" sz="1800" dirty="0">
                <a:solidFill>
                  <a:srgbClr val="1F3AE0"/>
                </a:solidFill>
                <a:latin typeface="Arial Black" pitchFamily="34" charset="0"/>
                <a:ea typeface="Arial Black" pitchFamily="34" charset="-122"/>
                <a:cs typeface="Arial Black" pitchFamily="34" charset="-120"/>
              </a:rPr>
              <a:t>2026</a:t>
            </a:r>
            <a:endParaRPr lang="en-US" sz="1800" dirty="0"/>
          </a:p>
        </p:txBody>
      </p:sp>
      <p:sp>
        <p:nvSpPr>
          <p:cNvPr id="46" name="Text 44"/>
          <p:cNvSpPr txBox="1"/>
          <p:nvPr/>
        </p:nvSpPr>
        <p:spPr>
          <a:xfrm>
            <a:off x="10341864" y="3017520"/>
            <a:ext cx="1298448" cy="548640"/>
          </a:xfrm>
          <a:prstGeom prst="rect">
            <a:avLst/>
          </a:prstGeom>
          <a:noFill/>
          <a:ln/>
        </p:spPr>
        <p:txBody>
          <a:bodyPr wrap="square" lIns="0" tIns="0" rIns="0" bIns="0" rtlCol="0" anchor="t"/>
          <a:lstStyle/>
          <a:p>
            <a:pPr indent="0" marL="0">
              <a:buNone/>
            </a:pPr>
            <a:r>
              <a:rPr lang="en-US" sz="1200" b="1" dirty="0">
                <a:solidFill>
                  <a:srgbClr val="111111"/>
                </a:solidFill>
                <a:latin typeface="Arial" pitchFamily="34" charset="0"/>
                <a:ea typeface="Arial" pitchFamily="34" charset="-122"/>
                <a:cs typeface="Arial" pitchFamily="34" charset="-120"/>
              </a:rPr>
              <a:t>Pocket sensing</a:t>
            </a:r>
            <a:endParaRPr lang="en-US" sz="1200" dirty="0"/>
          </a:p>
        </p:txBody>
      </p:sp>
      <p:sp>
        <p:nvSpPr>
          <p:cNvPr id="47" name="Text 45"/>
          <p:cNvSpPr txBox="1"/>
          <p:nvPr/>
        </p:nvSpPr>
        <p:spPr>
          <a:xfrm>
            <a:off x="10341864" y="3611880"/>
            <a:ext cx="1298448" cy="777240"/>
          </a:xfrm>
          <a:prstGeom prst="rect">
            <a:avLst/>
          </a:prstGeom>
          <a:noFill/>
          <a:ln/>
        </p:spPr>
        <p:txBody>
          <a:bodyPr wrap="square" lIns="0" tIns="0" rIns="0" bIns="0" rtlCol="0" anchor="t"/>
          <a:lstStyle/>
          <a:p>
            <a:pPr indent="0" marL="0">
              <a:buNone/>
            </a:pPr>
            <a:r>
              <a:rPr lang="en-US" sz="850" spc="100" kern="0" dirty="0">
                <a:solidFill>
                  <a:srgbClr val="4A4843"/>
                </a:solidFill>
                <a:latin typeface="Courier New" pitchFamily="34" charset="0"/>
                <a:ea typeface="Courier New" pitchFamily="34" charset="-122"/>
                <a:cs typeface="Courier New" pitchFamily="34" charset="-120"/>
              </a:rPr>
              <a:t>Feng et al. · Sens. Actuators B</a:t>
            </a:r>
            <a:endParaRPr lang="en-US" sz="850" dirty="0"/>
          </a:p>
        </p:txBody>
      </p:sp>
      <p:sp>
        <p:nvSpPr>
          <p:cNvPr id="48" name="Text 46"/>
          <p:cNvSpPr txBox="1"/>
          <p:nvPr/>
        </p:nvSpPr>
        <p:spPr>
          <a:xfrm>
            <a:off x="10341864" y="4434840"/>
            <a:ext cx="1298448" cy="1097280"/>
          </a:xfrm>
          <a:prstGeom prst="rect">
            <a:avLst/>
          </a:prstGeom>
          <a:noFill/>
          <a:ln/>
        </p:spPr>
        <p:txBody>
          <a:bodyPr wrap="square" lIns="0" tIns="0" rIns="0" bIns="0" rtlCol="0" anchor="t"/>
          <a:lstStyle/>
          <a:p>
            <a:pPr indent="0" marL="0">
              <a:buNone/>
            </a:pPr>
            <a:r>
              <a:rPr lang="en-US" sz="1050" dirty="0">
                <a:solidFill>
                  <a:srgbClr val="111111"/>
                </a:solidFill>
                <a:latin typeface="Arial" pitchFamily="34" charset="0"/>
                <a:ea typeface="Arial" pitchFamily="34" charset="-122"/>
                <a:cs typeface="Arial" pitchFamily="34" charset="-120"/>
              </a:rPr>
              <a:t>Consumer-ready, AI app, &lt;10% error on phosphorus.</a:t>
            </a:r>
            <a:endParaRPr lang="en-US" sz="1050" dirty="0"/>
          </a:p>
        </p:txBody>
      </p:sp>
      <p:sp>
        <p:nvSpPr>
          <p:cNvPr id="49" name="Shape 47"/>
          <p:cNvSpPr/>
          <p:nvPr/>
        </p:nvSpPr>
        <p:spPr>
          <a:xfrm>
            <a:off x="548640" y="5715000"/>
            <a:ext cx="11091672" cy="566928"/>
          </a:xfrm>
          <a:prstGeom prst="rect">
            <a:avLst/>
          </a:prstGeom>
          <a:solidFill>
            <a:srgbClr val="1F3AE0"/>
          </a:solidFill>
          <a:ln/>
        </p:spPr>
      </p:sp>
      <p:sp>
        <p:nvSpPr>
          <p:cNvPr id="50" name="Text 48"/>
          <p:cNvSpPr txBox="1"/>
          <p:nvPr/>
        </p:nvSpPr>
        <p:spPr>
          <a:xfrm>
            <a:off x="777240" y="5715000"/>
            <a:ext cx="10698480" cy="566928"/>
          </a:xfrm>
          <a:prstGeom prst="rect">
            <a:avLst/>
          </a:prstGeom>
          <a:noFill/>
          <a:ln/>
        </p:spPr>
        <p:txBody>
          <a:bodyPr wrap="square" lIns="0" tIns="0" rIns="0" bIns="0" rtlCol="0" anchor="ctr"/>
          <a:lstStyle/>
          <a:p>
            <a:pPr indent="0" marL="0">
              <a:buNone/>
            </a:pPr>
            <a:r>
              <a:rPr lang="en-US" sz="1400" dirty="0">
                <a:solidFill>
                  <a:srgbClr val="FFFFFF"/>
                </a:solidFill>
                <a:latin typeface="Arial Black" pitchFamily="34" charset="0"/>
                <a:ea typeface="Arial Black" pitchFamily="34" charset="-122"/>
                <a:cs typeface="Arial Black" pitchFamily="34" charset="-120"/>
              </a:rPr>
              <a:t>2026 · LISA  </a:t>
            </a:r>
            <a:pPr indent="0" marL="0">
              <a:buNone/>
            </a:pPr>
            <a:r>
              <a:rPr lang="en-US" sz="1300" dirty="0">
                <a:solidFill>
                  <a:srgbClr val="FFFFFF"/>
                </a:solidFill>
                <a:latin typeface="Arial" pitchFamily="34" charset="0"/>
                <a:ea typeface="Arial" pitchFamily="34" charset="-122"/>
                <a:cs typeface="Arial" pitchFamily="34" charset="-120"/>
              </a:rPr>
              <a:t>Foldscope-cheap optics + Feng-grade chemistry + calibration, QC and refusal logic built for India’s field testers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000" b="1" spc="200" kern="0" dirty="0">
                <a:solidFill>
                  <a:srgbClr val="111111"/>
                </a:solidFill>
                <a:latin typeface="Courier New" pitchFamily="34" charset="0"/>
                <a:ea typeface="Courier New" pitchFamily="34" charset="-122"/>
                <a:cs typeface="Courier New" pitchFamily="34" charset="-120"/>
              </a:rPr>
              <a:t>08 — OUR CONTRIBUTION</a:t>
            </a:r>
            <a:endParaRPr lang="en-US" sz="1000" dirty="0"/>
          </a:p>
        </p:txBody>
      </p:sp>
      <p:sp>
        <p:nvSpPr>
          <p:cNvPr id="3" name="Text 1"/>
          <p:cNvSpPr txBox="1"/>
          <p:nvPr/>
        </p:nvSpPr>
        <p:spPr>
          <a:xfrm>
            <a:off x="6156655" y="292608"/>
            <a:ext cx="5486400" cy="274320"/>
          </a:xfrm>
          <a:prstGeom prst="rect">
            <a:avLst/>
          </a:prstGeom>
          <a:noFill/>
          <a:ln/>
        </p:spPr>
        <p:txBody>
          <a:bodyPr wrap="square" lIns="0" tIns="0" rIns="0" bIns="0" rtlCol="0" anchor="ctr"/>
          <a:lstStyle/>
          <a:p>
            <a:pPr algn="r" indent="0" marL="0">
              <a:buNone/>
            </a:pPr>
            <a:r>
              <a:rPr lang="en-US" sz="900" spc="200" kern="0" dirty="0">
                <a:solidFill>
                  <a:srgbClr val="6B6862"/>
                </a:solidFill>
                <a:latin typeface="Courier New" pitchFamily="34" charset="0"/>
                <a:ea typeface="Courier New" pitchFamily="34" charset="-122"/>
                <a:cs typeface="Courier New" pitchFamily="34" charset="-120"/>
              </a:rPr>
              <a:t>LISA  /  ASHOKA STARTUP CHALLENGE 2026</a:t>
            </a:r>
            <a:endParaRPr lang="en-US" sz="900" dirty="0"/>
          </a:p>
        </p:txBody>
      </p:sp>
      <p:sp>
        <p:nvSpPr>
          <p:cNvPr id="4"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900" dirty="0">
                <a:solidFill>
                  <a:srgbClr val="6B6862"/>
                </a:solidFill>
                <a:latin typeface="Courier New" pitchFamily="34" charset="0"/>
                <a:ea typeface="Courier New" pitchFamily="34" charset="-122"/>
                <a:cs typeface="Courier New" pitchFamily="34" charset="-120"/>
              </a:rPr>
              <a:t>08 / 24</a:t>
            </a:r>
            <a:endParaRPr lang="en-US" sz="900" dirty="0"/>
          </a:p>
        </p:txBody>
      </p:sp>
      <p:sp>
        <p:nvSpPr>
          <p:cNvPr id="5" name="Shape 3"/>
          <p:cNvSpPr/>
          <p:nvPr/>
        </p:nvSpPr>
        <p:spPr>
          <a:xfrm>
            <a:off x="210312" y="6583680"/>
            <a:ext cx="164592" cy="0"/>
          </a:xfrm>
          <a:prstGeom prst="line">
            <a:avLst/>
          </a:prstGeom>
          <a:noFill/>
          <a:ln w="9525">
            <a:solidFill>
              <a:srgbClr val="111111"/>
            </a:solidFill>
            <a:prstDash val="solid"/>
          </a:ln>
        </p:spPr>
      </p:sp>
      <p:sp>
        <p:nvSpPr>
          <p:cNvPr id="6" name="Shape 4"/>
          <p:cNvSpPr/>
          <p:nvPr/>
        </p:nvSpPr>
        <p:spPr>
          <a:xfrm>
            <a:off x="292608" y="6501384"/>
            <a:ext cx="0" cy="164592"/>
          </a:xfrm>
          <a:prstGeom prst="line">
            <a:avLst/>
          </a:prstGeom>
          <a:noFill/>
          <a:ln w="9525">
            <a:solidFill>
              <a:srgbClr val="111111"/>
            </a:solidFill>
            <a:prstDash val="solid"/>
          </a:ln>
        </p:spPr>
      </p:sp>
      <p:sp>
        <p:nvSpPr>
          <p:cNvPr id="7" name="Text 5"/>
          <p:cNvSpPr txBox="1"/>
          <p:nvPr/>
        </p:nvSpPr>
        <p:spPr>
          <a:xfrm>
            <a:off x="548640" y="685800"/>
            <a:ext cx="10515600" cy="1280160"/>
          </a:xfrm>
          <a:prstGeom prst="rect">
            <a:avLst/>
          </a:prstGeom>
          <a:noFill/>
          <a:ln/>
        </p:spPr>
        <p:txBody>
          <a:bodyPr wrap="square" lIns="0" tIns="0" rIns="0" bIns="0" rtlCol="0" anchor="t"/>
          <a:lstStyle/>
          <a:p>
            <a:pPr indent="0" marL="0">
              <a:lnSpc>
                <a:spcPct val="92000"/>
              </a:lnSpc>
              <a:buNone/>
            </a:pPr>
            <a:r>
              <a:rPr lang="en-US" sz="3400" dirty="0">
                <a:solidFill>
                  <a:srgbClr val="111111"/>
                </a:solidFill>
                <a:latin typeface="Arial Black" pitchFamily="34" charset="0"/>
                <a:ea typeface="Arial Black" pitchFamily="34" charset="-122"/>
                <a:cs typeface="Arial Black" pitchFamily="34" charset="-120"/>
              </a:rPr>
              <a:t>Same physics.</a:t>
            </a:r>
            <a:pPr indent="0" marL="0">
              <a:lnSpc>
                <a:spcPct val="92000"/>
              </a:lnSpc>
              <a:buNone/>
            </a:pPr>
            <a:endParaRPr lang="en-US" sz="3400" dirty="0"/>
          </a:p>
          <a:p>
            <a:pPr indent="0" marL="0">
              <a:lnSpc>
                <a:spcPct val="92000"/>
              </a:lnSpc>
              <a:buNone/>
            </a:pPr>
            <a:r>
              <a:rPr lang="en-US" sz="3400" dirty="0">
                <a:solidFill>
                  <a:srgbClr val="1F3AE0"/>
                </a:solidFill>
                <a:latin typeface="Arial Black" pitchFamily="34" charset="0"/>
                <a:ea typeface="Arial Black" pitchFamily="34" charset="-122"/>
                <a:cs typeface="Arial Black" pitchFamily="34" charset="-120"/>
              </a:rPr>
              <a:t>Rebuilt for a village handpump.</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1672" cy="914400"/>
        </p:xfrm>
        <a:graphic>
          <a:graphicData uri="http://schemas.openxmlformats.org/drawingml/2006/table">
            <a:tbl>
              <a:tblPr/>
              <a:tblGrid>
                <a:gridCol w="1828800"/>
                <a:gridCol w="4389120"/>
                <a:gridCol w="4873752"/>
              </a:tblGrid>
              <a:tr h="548640">
                <a:tc>
                  <a:txBody>
                    <a:bodyPr/>
                    <a:lstStyle/>
                    <a:p>
                      <a:pPr indent="0" marL="0">
                        <a:buNone/>
                      </a:pPr>
                      <a:r>
                        <a:rPr lang="en-US" sz="1000" b="1" dirty="0">
                          <a:solidFill>
                            <a:srgbClr val="FFFFFF"/>
                          </a:solidFill>
                          <a:latin typeface="Courier New" pitchFamily="34" charset="0"/>
                          <a:ea typeface="Courier New" pitchFamily="34" charset="-122"/>
                          <a:cs typeface="Courier New" pitchFamily="34" charset="-120"/>
                        </a:rPr>
                        <a:t>LAYER</a:t>
                      </a:r>
                      <a:endParaRPr lang="en-US" sz="1000" dirty="0">
                        <a:latin typeface="Courier New" charset="0"/>
                        <a:ea typeface="Courier New" charset="0"/>
                        <a:cs typeface="Courier New" charset="0"/>
                      </a:endParaRPr>
                    </a:p>
                  </a:txBody>
                  <a:tcPr marL="109728" marR="109728"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c>
                  <a:txBody>
                    <a:bodyPr/>
                    <a:lstStyle/>
                    <a:p>
                      <a:pPr indent="0" marL="0">
                        <a:buNone/>
                      </a:pPr>
                      <a:r>
                        <a:rPr lang="en-US" sz="1000" b="1" dirty="0">
                          <a:solidFill>
                            <a:srgbClr val="FFFFFF"/>
                          </a:solidFill>
                          <a:latin typeface="Courier New" pitchFamily="34" charset="0"/>
                          <a:ea typeface="Courier New" pitchFamily="34" charset="-122"/>
                          <a:cs typeface="Courier New" pitchFamily="34" charset="-120"/>
                        </a:rPr>
                        <a:t>FENG ET AL. 2026</a:t>
                      </a:r>
                      <a:endParaRPr lang="en-US" sz="1000" dirty="0">
                        <a:latin typeface="Courier New" charset="0"/>
                        <a:ea typeface="Courier New" charset="0"/>
                        <a:cs typeface="Courier New" charset="0"/>
                      </a:endParaRPr>
                    </a:p>
                  </a:txBody>
                  <a:tcPr marL="109728" marR="109728"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c>
                  <a:txBody>
                    <a:bodyPr/>
                    <a:lstStyle/>
                    <a:p>
                      <a:pPr indent="0" marL="0">
                        <a:buNone/>
                      </a:pPr>
                      <a:r>
                        <a:rPr lang="en-US" sz="1000" b="1" dirty="0">
                          <a:solidFill>
                            <a:srgbClr val="FFFFFF"/>
                          </a:solidFill>
                          <a:latin typeface="Courier New" pitchFamily="34" charset="0"/>
                          <a:ea typeface="Courier New" pitchFamily="34" charset="-122"/>
                          <a:cs typeface="Courier New" pitchFamily="34" charset="-120"/>
                        </a:rPr>
                        <a:t>LISA</a:t>
                      </a:r>
                      <a:endParaRPr lang="en-US" sz="1000" dirty="0">
                        <a:latin typeface="Courier New" charset="0"/>
                        <a:ea typeface="Courier New" charset="0"/>
                        <a:cs typeface="Courier New" charset="0"/>
                      </a:endParaRPr>
                    </a:p>
                  </a:txBody>
                  <a:tcPr marL="109728" marR="109728"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F3AE0"/>
                    </a:solidFill>
                  </a:tcPr>
                </a:tc>
              </a:tr>
              <a:tr h="548640">
                <a:tc>
                  <a:txBody>
                    <a:bodyPr/>
                    <a:lstStyle/>
                    <a:p>
                      <a:pPr indent="0" marL="0">
                        <a:buNone/>
                      </a:pPr>
                      <a:r>
                        <a:rPr lang="en-US" sz="950" b="1" dirty="0">
                          <a:solidFill>
                            <a:srgbClr val="6B6862"/>
                          </a:solidFill>
                          <a:latin typeface="Courier New" pitchFamily="34" charset="0"/>
                          <a:ea typeface="Courier New" pitchFamily="34" charset="-122"/>
                          <a:cs typeface="Courier New" pitchFamily="34" charset="-120"/>
                        </a:rPr>
                        <a:t>OPTICS</a:t>
                      </a:r>
                      <a:endParaRPr lang="en-US" sz="950" dirty="0">
                        <a:latin typeface="Courier New" charset="0"/>
                        <a:ea typeface="Courier New" charset="0"/>
                        <a:cs typeface="Courier New" charset="0"/>
                      </a:endParaRPr>
                    </a:p>
                  </a:txBody>
                  <a:tcPr marL="109728" marR="109728"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Machined module, magnetic mount, fibre coupling</a:t>
                      </a:r>
                      <a:endParaRPr lang="en-US" sz="1200" dirty="0">
                        <a:latin typeface="Arial" charset="0"/>
                        <a:ea typeface="Arial" charset="0"/>
                        <a:cs typeface="Arial" charset="0"/>
                      </a:endParaRPr>
                    </a:p>
                  </a:txBody>
                  <a:tcPr marL="109728" marR="109728"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Folded 300 gsm card, razor-blade slit, film grating</a:t>
                      </a:r>
                      <a:endParaRPr lang="en-US" sz="1200" dirty="0">
                        <a:latin typeface="Arial" charset="0"/>
                        <a:ea typeface="Arial" charset="0"/>
                        <a:cs typeface="Arial" charset="0"/>
                      </a:endParaRPr>
                    </a:p>
                  </a:txBody>
                  <a:tcPr marL="109728" marR="109728"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548640">
                <a:tc>
                  <a:txBody>
                    <a:bodyPr/>
                    <a:lstStyle/>
                    <a:p>
                      <a:pPr indent="0" marL="0">
                        <a:buNone/>
                      </a:pPr>
                      <a:r>
                        <a:rPr lang="en-US" sz="950" b="1" dirty="0">
                          <a:solidFill>
                            <a:srgbClr val="6B6862"/>
                          </a:solidFill>
                          <a:latin typeface="Courier New" pitchFamily="34" charset="0"/>
                          <a:ea typeface="Courier New" pitchFamily="34" charset="-122"/>
                          <a:cs typeface="Courier New" pitchFamily="34" charset="-120"/>
                        </a:rPr>
                        <a:t>COST</a:t>
                      </a:r>
                      <a:endParaRPr lang="en-US" sz="950" dirty="0">
                        <a:latin typeface="Courier New" charset="0"/>
                        <a:ea typeface="Courier New" charset="0"/>
                        <a:cs typeface="Courier New" charset="0"/>
                      </a:endParaRPr>
                    </a:p>
                  </a:txBody>
                  <a:tcPr marL="109728" marR="109728"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Under $700 retail</a:t>
                      </a:r>
                      <a:endParaRPr lang="en-US" sz="1200" dirty="0">
                        <a:latin typeface="Arial" charset="0"/>
                        <a:ea typeface="Arial" charset="0"/>
                        <a:cs typeface="Arial" charset="0"/>
                      </a:endParaRPr>
                    </a:p>
                  </a:txBody>
                  <a:tcPr marL="109728" marR="109728"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₹500 prototype → ₹250–320 at 10k units</a:t>
                      </a:r>
                      <a:endParaRPr lang="en-US" sz="1200" dirty="0">
                        <a:latin typeface="Arial" charset="0"/>
                        <a:ea typeface="Arial" charset="0"/>
                        <a:cs typeface="Arial" charset="0"/>
                      </a:endParaRPr>
                    </a:p>
                  </a:txBody>
                  <a:tcPr marL="109728" marR="109728"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548640">
                <a:tc>
                  <a:txBody>
                    <a:bodyPr/>
                    <a:lstStyle/>
                    <a:p>
                      <a:pPr indent="0" marL="0">
                        <a:buNone/>
                      </a:pPr>
                      <a:r>
                        <a:rPr lang="en-US" sz="950" b="1" dirty="0">
                          <a:solidFill>
                            <a:srgbClr val="6B6862"/>
                          </a:solidFill>
                          <a:latin typeface="Courier New" pitchFamily="34" charset="0"/>
                          <a:ea typeface="Courier New" pitchFamily="34" charset="-122"/>
                          <a:cs typeface="Courier New" pitchFamily="34" charset="-120"/>
                        </a:rPr>
                        <a:t>CHEMISTRY</a:t>
                      </a:r>
                      <a:endParaRPr lang="en-US" sz="950" dirty="0">
                        <a:latin typeface="Courier New" charset="0"/>
                        <a:ea typeface="Courier New" charset="0"/>
                        <a:cs typeface="Courier New" charset="0"/>
                      </a:endParaRPr>
                    </a:p>
                  </a:txBody>
                  <a:tcPr marL="109728" marR="109728"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One analyte (total P), lab/industry users</a:t>
                      </a:r>
                      <a:endParaRPr lang="en-US" sz="1200" dirty="0">
                        <a:latin typeface="Arial" charset="0"/>
                        <a:ea typeface="Arial" charset="0"/>
                        <a:cs typeface="Arial" charset="0"/>
                      </a:endParaRPr>
                    </a:p>
                  </a:txBody>
                  <a:tcPr marL="109728" marR="109728"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Swappable packs for India: phosphate → iron → fluoride</a:t>
                      </a:r>
                      <a:endParaRPr lang="en-US" sz="1200" dirty="0">
                        <a:latin typeface="Arial" charset="0"/>
                        <a:ea typeface="Arial" charset="0"/>
                        <a:cs typeface="Arial" charset="0"/>
                      </a:endParaRPr>
                    </a:p>
                  </a:txBody>
                  <a:tcPr marL="109728" marR="109728"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548640">
                <a:tc>
                  <a:txBody>
                    <a:bodyPr/>
                    <a:lstStyle/>
                    <a:p>
                      <a:pPr indent="0" marL="0">
                        <a:buNone/>
                      </a:pPr>
                      <a:r>
                        <a:rPr lang="en-US" sz="950" b="1" dirty="0">
                          <a:solidFill>
                            <a:srgbClr val="6B6862"/>
                          </a:solidFill>
                          <a:latin typeface="Courier New" pitchFamily="34" charset="0"/>
                          <a:ea typeface="Courier New" pitchFamily="34" charset="-122"/>
                          <a:cs typeface="Courier New" pitchFamily="34" charset="-120"/>
                        </a:rPr>
                        <a:t>INTELLIGENCE</a:t>
                      </a:r>
                      <a:endParaRPr lang="en-US" sz="950" dirty="0">
                        <a:latin typeface="Courier New" charset="0"/>
                        <a:ea typeface="Courier New" charset="0"/>
                        <a:cs typeface="Courier New" charset="0"/>
                      </a:endParaRPr>
                    </a:p>
                  </a:txBody>
                  <a:tcPr marL="109728" marR="109728"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GAF + 2D-CNN in a cloud app</a:t>
                      </a:r>
                      <a:endParaRPr lang="en-US" sz="1200" dirty="0">
                        <a:latin typeface="Arial" charset="0"/>
                        <a:ea typeface="Arial" charset="0"/>
                        <a:cs typeface="Arial" charset="0"/>
                      </a:endParaRPr>
                    </a:p>
                  </a:txBody>
                  <a:tcPr marL="109728" marR="109728"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Beer–Lambert vs Ridge, auto-selected by cross-validation</a:t>
                      </a:r>
                      <a:endParaRPr lang="en-US" sz="1200" dirty="0">
                        <a:latin typeface="Arial" charset="0"/>
                        <a:ea typeface="Arial" charset="0"/>
                        <a:cs typeface="Arial" charset="0"/>
                      </a:endParaRPr>
                    </a:p>
                  </a:txBody>
                  <a:tcPr marL="109728" marR="109728"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548640">
                <a:tc>
                  <a:txBody>
                    <a:bodyPr/>
                    <a:lstStyle/>
                    <a:p>
                      <a:pPr indent="0" marL="0">
                        <a:buNone/>
                      </a:pPr>
                      <a:r>
                        <a:rPr lang="en-US" sz="950" b="1" dirty="0">
                          <a:solidFill>
                            <a:srgbClr val="6B6862"/>
                          </a:solidFill>
                          <a:latin typeface="Courier New" pitchFamily="34" charset="0"/>
                          <a:ea typeface="Courier New" pitchFamily="34" charset="-122"/>
                          <a:cs typeface="Courier New" pitchFamily="34" charset="-120"/>
                        </a:rPr>
                        <a:t>SAFETY</a:t>
                      </a:r>
                      <a:endParaRPr lang="en-US" sz="950" dirty="0">
                        <a:latin typeface="Courier New" charset="0"/>
                        <a:ea typeface="Courier New" charset="0"/>
                        <a:cs typeface="Courier New" charset="0"/>
                      </a:endParaRPr>
                    </a:p>
                  </a:txBody>
                  <a:tcPr marL="109728" marR="109728"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Reports a value</a:t>
                      </a:r>
                      <a:endParaRPr lang="en-US" sz="1200" dirty="0">
                        <a:latin typeface="Arial" charset="0"/>
                        <a:ea typeface="Arial" charset="0"/>
                        <a:cs typeface="Arial" charset="0"/>
                      </a:endParaRPr>
                    </a:p>
                  </a:txBody>
                  <a:tcPr marL="109728" marR="109728"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OOD + 5-gate QC: refuses to report a number</a:t>
                      </a:r>
                      <a:endParaRPr lang="en-US" sz="1200" dirty="0">
                        <a:latin typeface="Arial" charset="0"/>
                        <a:ea typeface="Arial" charset="0"/>
                        <a:cs typeface="Arial" charset="0"/>
                      </a:endParaRPr>
                    </a:p>
                  </a:txBody>
                  <a:tcPr marL="109728" marR="109728"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548640">
                <a:tc>
                  <a:txBody>
                    <a:bodyPr/>
                    <a:lstStyle/>
                    <a:p>
                      <a:pPr indent="0" marL="0">
                        <a:buNone/>
                      </a:pPr>
                      <a:r>
                        <a:rPr lang="en-US" sz="950" b="1" dirty="0">
                          <a:solidFill>
                            <a:srgbClr val="6B6862"/>
                          </a:solidFill>
                          <a:latin typeface="Courier New" pitchFamily="34" charset="0"/>
                          <a:ea typeface="Courier New" pitchFamily="34" charset="-122"/>
                          <a:cs typeface="Courier New" pitchFamily="34" charset="-120"/>
                        </a:rPr>
                        <a:t>USER</a:t>
                      </a:r>
                      <a:endParaRPr lang="en-US" sz="950" dirty="0">
                        <a:latin typeface="Courier New" charset="0"/>
                        <a:ea typeface="Courier New" charset="0"/>
                        <a:cs typeface="Courier New" charset="0"/>
                      </a:endParaRPr>
                    </a:p>
                  </a:txBody>
                  <a:tcPr marL="109728" marR="109728"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200" dirty="0">
                          <a:solidFill>
                            <a:srgbClr val="111111"/>
                          </a:solidFill>
                          <a:latin typeface="Arial" pitchFamily="34" charset="0"/>
                          <a:ea typeface="Arial" pitchFamily="34" charset="-122"/>
                          <a:cs typeface="Arial" pitchFamily="34" charset="-120"/>
                        </a:rPr>
                        <a:t>English UI, connected</a:t>
                      </a:r>
                      <a:endParaRPr lang="en-US" sz="1200" dirty="0">
                        <a:latin typeface="Arial" charset="0"/>
                        <a:ea typeface="Arial" charset="0"/>
                        <a:cs typeface="Arial" charset="0"/>
                      </a:endParaRPr>
                    </a:p>
                  </a:txBody>
                  <a:tcPr marL="109728" marR="109728"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200" b="1" dirty="0">
                          <a:solidFill>
                            <a:srgbClr val="111111"/>
                          </a:solidFill>
                          <a:latin typeface="Arial" pitchFamily="34" charset="0"/>
                          <a:ea typeface="Arial" pitchFamily="34" charset="-122"/>
                          <a:cs typeface="Arial" pitchFamily="34" charset="-120"/>
                        </a:rPr>
                        <a:t>Hindi voice, offline-first, WhatsApp share, GPS log</a:t>
                      </a:r>
                      <a:endParaRPr lang="en-US" sz="1200" dirty="0">
                        <a:latin typeface="Arial" charset="0"/>
                        <a:ea typeface="Arial" charset="0"/>
                        <a:cs typeface="Arial" charset="0"/>
                      </a:endParaRPr>
                    </a:p>
                  </a:txBody>
                  <a:tcPr marL="109728" marR="109728"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000" b="1" spc="200" kern="0" dirty="0">
                <a:solidFill>
                  <a:srgbClr val="111111"/>
                </a:solidFill>
                <a:latin typeface="Courier New" pitchFamily="34" charset="0"/>
                <a:ea typeface="Courier New" pitchFamily="34" charset="-122"/>
                <a:cs typeface="Courier New" pitchFamily="34" charset="-120"/>
              </a:rPr>
              <a:t>09 — HARDWARE</a:t>
            </a:r>
            <a:endParaRPr lang="en-US" sz="1000" dirty="0"/>
          </a:p>
        </p:txBody>
      </p:sp>
      <p:sp>
        <p:nvSpPr>
          <p:cNvPr id="3" name="Text 1"/>
          <p:cNvSpPr txBox="1"/>
          <p:nvPr/>
        </p:nvSpPr>
        <p:spPr>
          <a:xfrm>
            <a:off x="6156655" y="292608"/>
            <a:ext cx="5486400" cy="274320"/>
          </a:xfrm>
          <a:prstGeom prst="rect">
            <a:avLst/>
          </a:prstGeom>
          <a:noFill/>
          <a:ln/>
        </p:spPr>
        <p:txBody>
          <a:bodyPr wrap="square" lIns="0" tIns="0" rIns="0" bIns="0" rtlCol="0" anchor="ctr"/>
          <a:lstStyle/>
          <a:p>
            <a:pPr algn="r" indent="0" marL="0">
              <a:buNone/>
            </a:pPr>
            <a:r>
              <a:rPr lang="en-US" sz="900" spc="200" kern="0" dirty="0">
                <a:solidFill>
                  <a:srgbClr val="6B6862"/>
                </a:solidFill>
                <a:latin typeface="Courier New" pitchFamily="34" charset="0"/>
                <a:ea typeface="Courier New" pitchFamily="34" charset="-122"/>
                <a:cs typeface="Courier New" pitchFamily="34" charset="-120"/>
              </a:rPr>
              <a:t>LISA  /  ASHOKA STARTUP CHALLENGE 2026</a:t>
            </a:r>
            <a:endParaRPr lang="en-US" sz="900" dirty="0"/>
          </a:p>
        </p:txBody>
      </p:sp>
      <p:sp>
        <p:nvSpPr>
          <p:cNvPr id="4"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900" dirty="0">
                <a:solidFill>
                  <a:srgbClr val="6B6862"/>
                </a:solidFill>
                <a:latin typeface="Courier New" pitchFamily="34" charset="0"/>
                <a:ea typeface="Courier New" pitchFamily="34" charset="-122"/>
                <a:cs typeface="Courier New" pitchFamily="34" charset="-120"/>
              </a:rPr>
              <a:t>09 / 24</a:t>
            </a:r>
            <a:endParaRPr lang="en-US" sz="900" dirty="0"/>
          </a:p>
        </p:txBody>
      </p:sp>
      <p:sp>
        <p:nvSpPr>
          <p:cNvPr id="5" name="Shape 3"/>
          <p:cNvSpPr/>
          <p:nvPr/>
        </p:nvSpPr>
        <p:spPr>
          <a:xfrm>
            <a:off x="210312" y="6583680"/>
            <a:ext cx="164592" cy="0"/>
          </a:xfrm>
          <a:prstGeom prst="line">
            <a:avLst/>
          </a:prstGeom>
          <a:noFill/>
          <a:ln w="9525">
            <a:solidFill>
              <a:srgbClr val="111111"/>
            </a:solidFill>
            <a:prstDash val="solid"/>
          </a:ln>
        </p:spPr>
      </p:sp>
      <p:sp>
        <p:nvSpPr>
          <p:cNvPr id="6" name="Shape 4"/>
          <p:cNvSpPr/>
          <p:nvPr/>
        </p:nvSpPr>
        <p:spPr>
          <a:xfrm>
            <a:off x="292608" y="6501384"/>
            <a:ext cx="0" cy="164592"/>
          </a:xfrm>
          <a:prstGeom prst="line">
            <a:avLst/>
          </a:prstGeom>
          <a:noFill/>
          <a:ln w="9525">
            <a:solidFill>
              <a:srgbClr val="111111"/>
            </a:solidFill>
            <a:prstDash val="solid"/>
          </a:ln>
        </p:spPr>
      </p:sp>
      <p:pic>
        <p:nvPicPr>
          <p:cNvPr id="7" name="Image 0" descr="assets/twin_assembled.jpg">    </p:cNvPr>
          <p:cNvPicPr>
            <a:picLocks noChangeAspect="1"/>
          </p:cNvPicPr>
          <p:nvPr/>
        </p:nvPicPr>
        <p:blipFill>
          <a:blip r:embed="rId2"/>
          <a:stretch>
            <a:fillRect/>
          </a:stretch>
        </p:blipFill>
        <p:spPr>
          <a:xfrm>
            <a:off x="0" y="731520"/>
            <a:ext cx="5852160" cy="3207715"/>
          </a:xfrm>
          <a:prstGeom prst="rect">
            <a:avLst/>
          </a:prstGeom>
        </p:spPr>
      </p:pic>
      <p:pic>
        <p:nvPicPr>
          <p:cNvPr id="8" name="Image 1" descr="assets/twin_exploded.png">    </p:cNvPr>
          <p:cNvPicPr>
            <a:picLocks noChangeAspect="1"/>
          </p:cNvPicPr>
          <p:nvPr/>
        </p:nvPicPr>
        <p:blipFill>
          <a:blip r:embed="rId3"/>
          <a:srcRect l="0" r="0" t="0" b="0"/>
          <a:stretch/>
        </p:blipFill>
        <p:spPr>
          <a:xfrm>
            <a:off x="548640" y="4206240"/>
            <a:ext cx="2148840" cy="1600200"/>
          </a:xfrm>
          <a:prstGeom prst="rect">
            <a:avLst/>
          </a:prstGeom>
        </p:spPr>
      </p:pic>
      <p:sp>
        <p:nvSpPr>
          <p:cNvPr id="9" name="Shape 5"/>
          <p:cNvSpPr/>
          <p:nvPr/>
        </p:nvSpPr>
        <p:spPr>
          <a:xfrm>
            <a:off x="548640" y="4206240"/>
            <a:ext cx="2148840" cy="1600200"/>
          </a:xfrm>
          <a:prstGeom prst="rect">
            <a:avLst/>
          </a:prstGeom>
          <a:ln w="9525">
            <a:solidFill>
              <a:srgbClr val="111111"/>
            </a:solidFill>
            <a:prstDash val="solid"/>
          </a:ln>
        </p:spPr>
      </p:sp>
      <p:sp>
        <p:nvSpPr>
          <p:cNvPr id="10" name="Text 6"/>
          <p:cNvSpPr txBox="1"/>
          <p:nvPr/>
        </p:nvSpPr>
        <p:spPr>
          <a:xfrm>
            <a:off x="2880360" y="4251960"/>
            <a:ext cx="2743200" cy="822960"/>
          </a:xfrm>
          <a:prstGeom prst="rect">
            <a:avLst/>
          </a:prstGeom>
          <a:noFill/>
          <a:ln/>
        </p:spPr>
        <p:txBody>
          <a:bodyPr wrap="square" lIns="0" tIns="0" rIns="0" bIns="0" rtlCol="0" anchor="ctr"/>
          <a:lstStyle/>
          <a:p>
            <a:pPr indent="0" marL="0">
              <a:buNone/>
            </a:pPr>
            <a:r>
              <a:rPr lang="en-US" sz="900" b="1" spc="100" kern="0" dirty="0">
                <a:solidFill>
                  <a:srgbClr val="111111"/>
                </a:solidFill>
                <a:latin typeface="Courier New" pitchFamily="34" charset="0"/>
                <a:ea typeface="Courier New" pitchFamily="34" charset="-122"/>
                <a:cs typeface="Courier New" pitchFamily="34" charset="-120"/>
              </a:rPr>
              <a:t>FIG. 09 — DIGITAL TWIN,</a:t>
            </a:r>
            <a:endParaRPr lang="en-US" sz="900" dirty="0"/>
          </a:p>
          <a:p>
            <a:pPr indent="0" marL="0">
              <a:buNone/>
            </a:pPr>
            <a:r>
              <a:rPr lang="en-US" sz="900" b="1" spc="100" kern="0" dirty="0">
                <a:solidFill>
                  <a:srgbClr val="111111"/>
                </a:solidFill>
                <a:latin typeface="Courier New" pitchFamily="34" charset="0"/>
                <a:ea typeface="Courier New" pitchFamily="34" charset="-122"/>
                <a:cs typeface="Courier New" pitchFamily="34" charset="-120"/>
              </a:rPr>
              <a:t>ASSEMBLED + EXPLODED.</a:t>
            </a:r>
            <a:endParaRPr lang="en-US" sz="900" dirty="0"/>
          </a:p>
          <a:p>
            <a:pPr indent="0" marL="0">
              <a:buNone/>
            </a:pPr>
            <a:r>
              <a:rPr lang="en-US" sz="900" b="1" spc="100" kern="0" dirty="0">
                <a:solidFill>
                  <a:srgbClr val="111111"/>
                </a:solidFill>
                <a:latin typeface="Courier New" pitchFamily="34" charset="0"/>
                <a:ea typeface="Courier New" pitchFamily="34" charset="-122"/>
                <a:cs typeface="Courier New" pitchFamily="34" charset="-120"/>
              </a:rPr>
              <a:t>LIVE 3D IN THE APP.</a:t>
            </a:r>
            <a:endParaRPr lang="en-US" sz="900" dirty="0"/>
          </a:p>
        </p:txBody>
      </p:sp>
      <p:sp>
        <p:nvSpPr>
          <p:cNvPr id="11" name="Text 7"/>
          <p:cNvSpPr txBox="1"/>
          <p:nvPr/>
        </p:nvSpPr>
        <p:spPr>
          <a:xfrm>
            <a:off x="2880360" y="5074920"/>
            <a:ext cx="2834640" cy="731520"/>
          </a:xfrm>
          <a:prstGeom prst="rect">
            <a:avLst/>
          </a:prstGeom>
          <a:noFill/>
          <a:ln/>
        </p:spPr>
        <p:txBody>
          <a:bodyPr wrap="square" lIns="0" tIns="0" rIns="0" bIns="0" rtlCol="0" anchor="t"/>
          <a:lstStyle/>
          <a:p>
            <a:pPr indent="0" marL="0">
              <a:buNone/>
            </a:pPr>
            <a:r>
              <a:rPr lang="en-US" sz="1050" dirty="0">
                <a:solidFill>
                  <a:srgbClr val="6B6862"/>
                </a:solidFill>
                <a:latin typeface="Arial" pitchFamily="34" charset="0"/>
                <a:ea typeface="Arial" pitchFamily="34" charset="-122"/>
                <a:cs typeface="Arial" pitchFamily="34" charset="-120"/>
              </a:rPr>
              <a:t>LED → 10 mm cuvette → 0.1–0.2 mm razor slit → 1000 lines/mm grating at 33.4° → phone camera</a:t>
            </a:r>
            <a:endParaRPr lang="en-US" sz="1050" dirty="0"/>
          </a:p>
        </p:txBody>
      </p:sp>
      <p:sp>
        <p:nvSpPr>
          <p:cNvPr id="12" name="Text 8"/>
          <p:cNvSpPr txBox="1"/>
          <p:nvPr/>
        </p:nvSpPr>
        <p:spPr>
          <a:xfrm>
            <a:off x="6263640" y="868680"/>
            <a:ext cx="5486400" cy="640080"/>
          </a:xfrm>
          <a:prstGeom prst="rect">
            <a:avLst/>
          </a:prstGeom>
          <a:noFill/>
          <a:ln/>
        </p:spPr>
        <p:txBody>
          <a:bodyPr wrap="square" lIns="0" tIns="0" rIns="0" bIns="0" rtlCol="0" anchor="ctr"/>
          <a:lstStyle/>
          <a:p>
            <a:pPr indent="0" marL="0">
              <a:buNone/>
            </a:pPr>
            <a:r>
              <a:rPr lang="en-US" sz="3000" dirty="0">
                <a:solidFill>
                  <a:srgbClr val="111111"/>
                </a:solidFill>
                <a:latin typeface="Arial Black" pitchFamily="34" charset="0"/>
                <a:ea typeface="Arial Black" pitchFamily="34" charset="-122"/>
                <a:cs typeface="Arial Black" pitchFamily="34" charset="-120"/>
              </a:rPr>
              <a:t>The ₹500 </a:t>
            </a:r>
            <a:pPr indent="0" marL="0">
              <a:buNone/>
            </a:pPr>
            <a:r>
              <a:rPr lang="en-US" sz="3000" dirty="0">
                <a:solidFill>
                  <a:srgbClr val="1F3AE0"/>
                </a:solidFill>
                <a:latin typeface="Arial Black" pitchFamily="34" charset="0"/>
                <a:ea typeface="Arial Black" pitchFamily="34" charset="-122"/>
                <a:cs typeface="Arial Black" pitchFamily="34" charset="-120"/>
              </a:rPr>
              <a:t>clip-on lab</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263640" y="1691640"/>
          <a:ext cx="5394960" cy="914400"/>
        </p:xfrm>
        <a:graphic>
          <a:graphicData uri="http://schemas.openxmlformats.org/drawingml/2006/table">
            <a:tbl>
              <a:tblPr/>
              <a:tblGrid>
                <a:gridCol w="3017520"/>
                <a:gridCol w="1097280"/>
                <a:gridCol w="1280160"/>
              </a:tblGrid>
              <a:tr h="457200">
                <a:tc>
                  <a:txBody>
                    <a:bodyPr/>
                    <a:lstStyle/>
                    <a:p>
                      <a:pPr indent="0" marL="0">
                        <a:buNone/>
                      </a:pPr>
                      <a:r>
                        <a:rPr lang="en-US" sz="950" b="1" dirty="0">
                          <a:solidFill>
                            <a:srgbClr val="FFFFFF"/>
                          </a:solidFill>
                          <a:latin typeface="Courier New" pitchFamily="34" charset="0"/>
                          <a:ea typeface="Courier New" pitchFamily="34" charset="-122"/>
                          <a:cs typeface="Courier New" pitchFamily="34" charset="-120"/>
                        </a:rPr>
                        <a:t>COMPONENT</a:t>
                      </a:r>
                      <a:endParaRPr lang="en-US" sz="9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c>
                  <a:txBody>
                    <a:bodyPr/>
                    <a:lstStyle/>
                    <a:p>
                      <a:pPr indent="0" marL="0">
                        <a:buNone/>
                      </a:pPr>
                      <a:r>
                        <a:rPr lang="en-US" sz="950" b="1" dirty="0">
                          <a:solidFill>
                            <a:srgbClr val="FFFFFF"/>
                          </a:solidFill>
                          <a:latin typeface="Courier New" pitchFamily="34" charset="0"/>
                          <a:ea typeface="Courier New" pitchFamily="34" charset="-122"/>
                          <a:cs typeface="Courier New" pitchFamily="34" charset="-120"/>
                        </a:rPr>
                        <a:t>PROTOTYPE</a:t>
                      </a:r>
                      <a:endParaRPr lang="en-US" sz="9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c>
                  <a:txBody>
                    <a:bodyPr/>
                    <a:lstStyle/>
                    <a:p>
                      <a:pPr indent="0" marL="0">
                        <a:buNone/>
                      </a:pPr>
                      <a:r>
                        <a:rPr lang="en-US" sz="950" b="1" dirty="0">
                          <a:solidFill>
                            <a:srgbClr val="FFFFFF"/>
                          </a:solidFill>
                          <a:latin typeface="Courier New" pitchFamily="34" charset="0"/>
                          <a:ea typeface="Courier New" pitchFamily="34" charset="-122"/>
                          <a:cs typeface="Courier New" pitchFamily="34" charset="-120"/>
                        </a:rPr>
                        <a:t>AT 10K UNITS</a:t>
                      </a:r>
                      <a:endParaRPr lang="en-US" sz="9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r>
              <a:tr h="457200">
                <a:tc>
                  <a:txBody>
                    <a:bodyPr/>
                    <a:lstStyle/>
                    <a:p>
                      <a:pPr indent="0" marL="0">
                        <a:buNone/>
                      </a:pPr>
                      <a:r>
                        <a:rPr lang="en-US" sz="1100" dirty="0">
                          <a:solidFill>
                            <a:srgbClr val="111111"/>
                          </a:solidFill>
                          <a:latin typeface="Arial" pitchFamily="34" charset="0"/>
                          <a:ea typeface="Arial" pitchFamily="34" charset="-122"/>
                          <a:cs typeface="Arial" pitchFamily="34" charset="-120"/>
                        </a:rPr>
                        <a:t>Optical tube: 300 gsm black card + AR tape</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100" dirty="0">
                          <a:solidFill>
                            <a:srgbClr val="111111"/>
                          </a:solidFill>
                          <a:latin typeface="Courier New" pitchFamily="34" charset="0"/>
                          <a:ea typeface="Courier New" pitchFamily="34" charset="-122"/>
                          <a:cs typeface="Courier New" pitchFamily="34" charset="-120"/>
                        </a:rPr>
                        <a:t>₹150</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100" b="1" dirty="0">
                          <a:solidFill>
                            <a:srgbClr val="1F3AE0"/>
                          </a:solidFill>
                          <a:latin typeface="Courier New" pitchFamily="34" charset="0"/>
                          <a:ea typeface="Courier New" pitchFamily="34" charset="-122"/>
                          <a:cs typeface="Courier New" pitchFamily="34" charset="-120"/>
                        </a:rPr>
                        <a:t>₹110</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457200">
                <a:tc>
                  <a:txBody>
                    <a:bodyPr/>
                    <a:lstStyle/>
                    <a:p>
                      <a:pPr indent="0" marL="0">
                        <a:buNone/>
                      </a:pPr>
                      <a:r>
                        <a:rPr lang="en-US" sz="1100" dirty="0">
                          <a:solidFill>
                            <a:srgbClr val="111111"/>
                          </a:solidFill>
                          <a:latin typeface="Arial" pitchFamily="34" charset="0"/>
                          <a:ea typeface="Arial" pitchFamily="34" charset="-122"/>
                          <a:cs typeface="Arial" pitchFamily="34" charset="-120"/>
                        </a:rPr>
                        <a:t>Grating film + twin razor-blade slit</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100" dirty="0">
                          <a:solidFill>
                            <a:srgbClr val="111111"/>
                          </a:solidFill>
                          <a:latin typeface="Courier New" pitchFamily="34" charset="0"/>
                          <a:ea typeface="Courier New" pitchFamily="34" charset="-122"/>
                          <a:cs typeface="Courier New" pitchFamily="34" charset="-120"/>
                        </a:rPr>
                        <a:t>₹200</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100" b="1" dirty="0">
                          <a:solidFill>
                            <a:srgbClr val="1F3AE0"/>
                          </a:solidFill>
                          <a:latin typeface="Courier New" pitchFamily="34" charset="0"/>
                          <a:ea typeface="Courier New" pitchFamily="34" charset="-122"/>
                          <a:cs typeface="Courier New" pitchFamily="34" charset="-120"/>
                        </a:rPr>
                        <a:t>₹75</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457200">
                <a:tc>
                  <a:txBody>
                    <a:bodyPr/>
                    <a:lstStyle/>
                    <a:p>
                      <a:pPr indent="0" marL="0">
                        <a:buNone/>
                      </a:pPr>
                      <a:r>
                        <a:rPr lang="en-US" sz="1100" dirty="0">
                          <a:solidFill>
                            <a:srgbClr val="111111"/>
                          </a:solidFill>
                          <a:latin typeface="Arial" pitchFamily="34" charset="0"/>
                          <a:ea typeface="Arial" pitchFamily="34" charset="-122"/>
                          <a:cs typeface="Arial" pitchFamily="34" charset="-120"/>
                        </a:rPr>
                        <a:t>Constant-voltage USB LED module</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100" dirty="0">
                          <a:solidFill>
                            <a:srgbClr val="111111"/>
                          </a:solidFill>
                          <a:latin typeface="Courier New" pitchFamily="34" charset="0"/>
                          <a:ea typeface="Courier New" pitchFamily="34" charset="-122"/>
                          <a:cs typeface="Courier New" pitchFamily="34" charset="-120"/>
                        </a:rPr>
                        <a:t>₹150</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100" b="1" dirty="0">
                          <a:solidFill>
                            <a:srgbClr val="1F3AE0"/>
                          </a:solidFill>
                          <a:latin typeface="Courier New" pitchFamily="34" charset="0"/>
                          <a:ea typeface="Courier New" pitchFamily="34" charset="-122"/>
                          <a:cs typeface="Courier New" pitchFamily="34" charset="-120"/>
                        </a:rPr>
                        <a:t>₹65</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457200">
                <a:tc>
                  <a:txBody>
                    <a:bodyPr/>
                    <a:lstStyle/>
                    <a:p>
                      <a:pPr indent="0" marL="0">
                        <a:buNone/>
                      </a:pPr>
                      <a:r>
                        <a:rPr lang="en-US" sz="1100" b="1" dirty="0">
                          <a:solidFill>
                            <a:srgbClr val="111111"/>
                          </a:solidFill>
                          <a:latin typeface="Arial" pitchFamily="34" charset="0"/>
                          <a:ea typeface="Arial" pitchFamily="34" charset="-122"/>
                          <a:cs typeface="Arial" pitchFamily="34" charset="-120"/>
                        </a:rPr>
                        <a:t>Total hardware kit</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100" b="1" dirty="0">
                          <a:solidFill>
                            <a:srgbClr val="111111"/>
                          </a:solidFill>
                          <a:latin typeface="Courier New" pitchFamily="34" charset="0"/>
                          <a:ea typeface="Courier New" pitchFamily="34" charset="-122"/>
                          <a:cs typeface="Courier New" pitchFamily="34" charset="-120"/>
                        </a:rPr>
                        <a:t>₹500</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100" b="1" dirty="0">
                          <a:solidFill>
                            <a:srgbClr val="1F3AE0"/>
                          </a:solidFill>
                          <a:latin typeface="Courier New" pitchFamily="34" charset="0"/>
                          <a:ea typeface="Courier New" pitchFamily="34" charset="-122"/>
                          <a:cs typeface="Courier New" pitchFamily="34" charset="-120"/>
                        </a:rPr>
                        <a:t>₹250–320</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457200">
                <a:tc>
                  <a:txBody>
                    <a:bodyPr/>
                    <a:lstStyle/>
                    <a:p>
                      <a:pPr indent="0" marL="0">
                        <a:buNone/>
                      </a:pPr>
                      <a:r>
                        <a:rPr lang="en-US" sz="1100" dirty="0">
                          <a:solidFill>
                            <a:srgbClr val="111111"/>
                          </a:solidFill>
                          <a:latin typeface="Arial" pitchFamily="34" charset="0"/>
                          <a:ea typeface="Arial" pitchFamily="34" charset="-122"/>
                          <a:cs typeface="Arial" pitchFamily="34" charset="-120"/>
                        </a:rPr>
                        <a:t>Reagent refill, 50 tests</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100" dirty="0">
                          <a:solidFill>
                            <a:srgbClr val="111111"/>
                          </a:solidFill>
                          <a:latin typeface="Courier New" pitchFamily="34" charset="0"/>
                          <a:ea typeface="Courier New" pitchFamily="34" charset="-122"/>
                          <a:cs typeface="Courier New" pitchFamily="34" charset="-120"/>
                        </a:rPr>
                        <a:t>₹100</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100" b="1" dirty="0">
                          <a:solidFill>
                            <a:srgbClr val="1F3AE0"/>
                          </a:solidFill>
                          <a:latin typeface="Courier New" pitchFamily="34" charset="0"/>
                          <a:ea typeface="Courier New" pitchFamily="34" charset="-122"/>
                          <a:cs typeface="Courier New" pitchFamily="34" charset="-120"/>
                        </a:rPr>
                        <a:t>₹50–70</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bl>
          </a:graphicData>
        </a:graphic>
      </p:graphicFrame>
      <p:sp>
        <p:nvSpPr>
          <p:cNvPr id="14" name="Shape 9"/>
          <p:cNvSpPr/>
          <p:nvPr/>
        </p:nvSpPr>
        <p:spPr>
          <a:xfrm>
            <a:off x="6263640" y="4846320"/>
            <a:ext cx="1645920" cy="0"/>
          </a:xfrm>
          <a:prstGeom prst="line">
            <a:avLst/>
          </a:prstGeom>
          <a:noFill/>
          <a:ln w="19050">
            <a:solidFill>
              <a:srgbClr val="111111"/>
            </a:solidFill>
            <a:prstDash val="solid"/>
          </a:ln>
        </p:spPr>
      </p:sp>
      <p:sp>
        <p:nvSpPr>
          <p:cNvPr id="15" name="Text 10"/>
          <p:cNvSpPr txBox="1"/>
          <p:nvPr/>
        </p:nvSpPr>
        <p:spPr>
          <a:xfrm>
            <a:off x="6263640" y="4937760"/>
            <a:ext cx="1783080" cy="411480"/>
          </a:xfrm>
          <a:prstGeom prst="rect">
            <a:avLst/>
          </a:prstGeom>
          <a:noFill/>
          <a:ln/>
        </p:spPr>
        <p:txBody>
          <a:bodyPr wrap="square" lIns="0" tIns="0" rIns="0" bIns="0" rtlCol="0" anchor="ctr"/>
          <a:lstStyle/>
          <a:p>
            <a:pPr indent="0" marL="0">
              <a:buNone/>
            </a:pPr>
            <a:r>
              <a:rPr lang="en-US" sz="1800" dirty="0">
                <a:solidFill>
                  <a:srgbClr val="111111"/>
                </a:solidFill>
                <a:latin typeface="Arial Black" pitchFamily="34" charset="0"/>
                <a:ea typeface="Arial Black" pitchFamily="34" charset="-122"/>
                <a:cs typeface="Arial Black" pitchFamily="34" charset="-120"/>
              </a:rPr>
              <a:t>30×30 mm</a:t>
            </a:r>
            <a:endParaRPr lang="en-US" sz="1800" dirty="0"/>
          </a:p>
        </p:txBody>
      </p:sp>
      <p:sp>
        <p:nvSpPr>
          <p:cNvPr id="16" name="Text 11"/>
          <p:cNvSpPr txBox="1"/>
          <p:nvPr/>
        </p:nvSpPr>
        <p:spPr>
          <a:xfrm>
            <a:off x="6263640" y="5376672"/>
            <a:ext cx="1737360" cy="457200"/>
          </a:xfrm>
          <a:prstGeom prst="rect">
            <a:avLst/>
          </a:prstGeom>
          <a:noFill/>
          <a:ln/>
        </p:spPr>
        <p:txBody>
          <a:bodyPr wrap="square" lIns="0" tIns="0" rIns="0" bIns="0" rtlCol="0" anchor="ctr"/>
          <a:lstStyle/>
          <a:p>
            <a:pPr indent="0" marL="0">
              <a:buNone/>
            </a:pPr>
            <a:r>
              <a:rPr lang="en-US" sz="850" spc="100" kern="0" dirty="0">
                <a:solidFill>
                  <a:srgbClr val="6B6862"/>
                </a:solidFill>
                <a:latin typeface="Courier New" pitchFamily="34" charset="0"/>
                <a:ea typeface="Courier New" pitchFamily="34" charset="-122"/>
                <a:cs typeface="Courier New" pitchFamily="34" charset="-120"/>
              </a:rPr>
              <a:t>light-tight tube</a:t>
            </a:r>
            <a:endParaRPr lang="en-US" sz="850" dirty="0"/>
          </a:p>
        </p:txBody>
      </p:sp>
      <p:sp>
        <p:nvSpPr>
          <p:cNvPr id="17" name="Shape 12"/>
          <p:cNvSpPr/>
          <p:nvPr/>
        </p:nvSpPr>
        <p:spPr>
          <a:xfrm>
            <a:off x="8092440" y="4846320"/>
            <a:ext cx="1645920" cy="0"/>
          </a:xfrm>
          <a:prstGeom prst="line">
            <a:avLst/>
          </a:prstGeom>
          <a:noFill/>
          <a:ln w="19050">
            <a:solidFill>
              <a:srgbClr val="111111"/>
            </a:solidFill>
            <a:prstDash val="solid"/>
          </a:ln>
        </p:spPr>
      </p:sp>
      <p:sp>
        <p:nvSpPr>
          <p:cNvPr id="18" name="Text 13"/>
          <p:cNvSpPr txBox="1"/>
          <p:nvPr/>
        </p:nvSpPr>
        <p:spPr>
          <a:xfrm>
            <a:off x="8092440" y="4937760"/>
            <a:ext cx="1783080" cy="411480"/>
          </a:xfrm>
          <a:prstGeom prst="rect">
            <a:avLst/>
          </a:prstGeom>
          <a:noFill/>
          <a:ln/>
        </p:spPr>
        <p:txBody>
          <a:bodyPr wrap="square" lIns="0" tIns="0" rIns="0" bIns="0" rtlCol="0" anchor="ctr"/>
          <a:lstStyle/>
          <a:p>
            <a:pPr indent="0" marL="0">
              <a:buNone/>
            </a:pPr>
            <a:r>
              <a:rPr lang="en-US" sz="1800" dirty="0">
                <a:solidFill>
                  <a:srgbClr val="111111"/>
                </a:solidFill>
                <a:latin typeface="Arial Black" pitchFamily="34" charset="0"/>
                <a:ea typeface="Arial Black" pitchFamily="34" charset="-122"/>
                <a:cs typeface="Arial Black" pitchFamily="34" charset="-120"/>
              </a:rPr>
              <a:t>33.4°</a:t>
            </a:r>
            <a:endParaRPr lang="en-US" sz="1800" dirty="0"/>
          </a:p>
        </p:txBody>
      </p:sp>
      <p:sp>
        <p:nvSpPr>
          <p:cNvPr id="19" name="Text 14"/>
          <p:cNvSpPr txBox="1"/>
          <p:nvPr/>
        </p:nvSpPr>
        <p:spPr>
          <a:xfrm>
            <a:off x="8092440" y="5376672"/>
            <a:ext cx="1737360" cy="457200"/>
          </a:xfrm>
          <a:prstGeom prst="rect">
            <a:avLst/>
          </a:prstGeom>
          <a:noFill/>
          <a:ln/>
        </p:spPr>
        <p:txBody>
          <a:bodyPr wrap="square" lIns="0" tIns="0" rIns="0" bIns="0" rtlCol="0" anchor="ctr"/>
          <a:lstStyle/>
          <a:p>
            <a:pPr indent="0" marL="0">
              <a:buNone/>
            </a:pPr>
            <a:r>
              <a:rPr lang="en-US" sz="850" spc="100" kern="0" dirty="0">
                <a:solidFill>
                  <a:srgbClr val="6B6862"/>
                </a:solidFill>
                <a:latin typeface="Courier New" pitchFamily="34" charset="0"/>
                <a:ea typeface="Courier New" pitchFamily="34" charset="-122"/>
                <a:cs typeface="Courier New" pitchFamily="34" charset="-120"/>
              </a:rPr>
              <a:t>wedge: 550 nm mid-sensor</a:t>
            </a:r>
            <a:endParaRPr lang="en-US" sz="850" dirty="0"/>
          </a:p>
        </p:txBody>
      </p:sp>
      <p:sp>
        <p:nvSpPr>
          <p:cNvPr id="20" name="Shape 15"/>
          <p:cNvSpPr/>
          <p:nvPr/>
        </p:nvSpPr>
        <p:spPr>
          <a:xfrm>
            <a:off x="9921240" y="4846320"/>
            <a:ext cx="1645920" cy="0"/>
          </a:xfrm>
          <a:prstGeom prst="line">
            <a:avLst/>
          </a:prstGeom>
          <a:noFill/>
          <a:ln w="19050">
            <a:solidFill>
              <a:srgbClr val="111111"/>
            </a:solidFill>
            <a:prstDash val="solid"/>
          </a:ln>
        </p:spPr>
      </p:sp>
      <p:sp>
        <p:nvSpPr>
          <p:cNvPr id="21" name="Text 16"/>
          <p:cNvSpPr txBox="1"/>
          <p:nvPr/>
        </p:nvSpPr>
        <p:spPr>
          <a:xfrm>
            <a:off x="9921240" y="4937760"/>
            <a:ext cx="1783080" cy="411480"/>
          </a:xfrm>
          <a:prstGeom prst="rect">
            <a:avLst/>
          </a:prstGeom>
          <a:noFill/>
          <a:ln/>
        </p:spPr>
        <p:txBody>
          <a:bodyPr wrap="square" lIns="0" tIns="0" rIns="0" bIns="0" rtlCol="0" anchor="ctr"/>
          <a:lstStyle/>
          <a:p>
            <a:pPr indent="0" marL="0">
              <a:buNone/>
            </a:pPr>
            <a:r>
              <a:rPr lang="en-US" sz="1800" dirty="0">
                <a:solidFill>
                  <a:srgbClr val="111111"/>
                </a:solidFill>
                <a:latin typeface="Arial Black" pitchFamily="34" charset="0"/>
                <a:ea typeface="Arial Black" pitchFamily="34" charset="-122"/>
                <a:cs typeface="Arial Black" pitchFamily="34" charset="-120"/>
              </a:rPr>
              <a:t>R² ≈ 1</a:t>
            </a:r>
            <a:endParaRPr lang="en-US" sz="1800" dirty="0"/>
          </a:p>
        </p:txBody>
      </p:sp>
      <p:sp>
        <p:nvSpPr>
          <p:cNvPr id="22" name="Text 17"/>
          <p:cNvSpPr txBox="1"/>
          <p:nvPr/>
        </p:nvSpPr>
        <p:spPr>
          <a:xfrm>
            <a:off x="9921240" y="5376672"/>
            <a:ext cx="1737360" cy="457200"/>
          </a:xfrm>
          <a:prstGeom prst="rect">
            <a:avLst/>
          </a:prstGeom>
          <a:noFill/>
          <a:ln/>
        </p:spPr>
        <p:txBody>
          <a:bodyPr wrap="square" lIns="0" tIns="0" rIns="0" bIns="0" rtlCol="0" anchor="ctr"/>
          <a:lstStyle/>
          <a:p>
            <a:pPr indent="0" marL="0">
              <a:buNone/>
            </a:pPr>
            <a:r>
              <a:rPr lang="en-US" sz="850" spc="100" kern="0" dirty="0">
                <a:solidFill>
                  <a:srgbClr val="6B6862"/>
                </a:solidFill>
                <a:latin typeface="Courier New" pitchFamily="34" charset="0"/>
                <a:ea typeface="Courier New" pitchFamily="34" charset="-122"/>
                <a:cs typeface="Courier New" pitchFamily="34" charset="-120"/>
              </a:rPr>
              <a:t>CFL Hg-line λ calibration</a:t>
            </a:r>
            <a:endParaRPr lang="en-US" sz="850" dirty="0"/>
          </a:p>
        </p:txBody>
      </p:sp>
      <p:sp>
        <p:nvSpPr>
          <p:cNvPr id="23" name="Text 18"/>
          <p:cNvSpPr txBox="1"/>
          <p:nvPr/>
        </p:nvSpPr>
        <p:spPr>
          <a:xfrm>
            <a:off x="548640" y="6419088"/>
            <a:ext cx="9326880" cy="292608"/>
          </a:xfrm>
          <a:prstGeom prst="rect">
            <a:avLst/>
          </a:prstGeom>
          <a:noFill/>
          <a:ln/>
        </p:spPr>
        <p:txBody>
          <a:bodyPr wrap="square" lIns="0" tIns="0" rIns="0" bIns="0" rtlCol="0" anchor="b"/>
          <a:lstStyle/>
          <a:p>
            <a:pPr indent="0" marL="0">
              <a:buNone/>
            </a:pPr>
            <a:r>
              <a:rPr lang="en-US" sz="800" dirty="0">
                <a:solidFill>
                  <a:srgbClr val="6B6862"/>
                </a:solidFill>
                <a:latin typeface="Courier New" pitchFamily="34" charset="0"/>
                <a:ea typeface="Courier New" pitchFamily="34" charset="-122"/>
                <a:cs typeface="Courier New" pitchFamily="34" charset="-120"/>
              </a:rPr>
              <a:t>BOM from LISA build plan; at-scale costs are targets. Wavelength fit: λ(p) = 0.3333·p + 383.67 nm on CFL lines 435.8 / 546.1 / 611.2 / 631.0 nm.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000" b="1" spc="200" kern="0" dirty="0">
                <a:solidFill>
                  <a:srgbClr val="111111"/>
                </a:solidFill>
                <a:latin typeface="Courier New" pitchFamily="34" charset="0"/>
                <a:ea typeface="Courier New" pitchFamily="34" charset="-122"/>
                <a:cs typeface="Courier New" pitchFamily="34" charset="-120"/>
              </a:rPr>
              <a:t>10 — THE CHEMISTRY</a:t>
            </a:r>
            <a:endParaRPr lang="en-US" sz="1000" dirty="0"/>
          </a:p>
        </p:txBody>
      </p:sp>
      <p:sp>
        <p:nvSpPr>
          <p:cNvPr id="3" name="Text 1"/>
          <p:cNvSpPr txBox="1"/>
          <p:nvPr/>
        </p:nvSpPr>
        <p:spPr>
          <a:xfrm>
            <a:off x="6156655" y="292608"/>
            <a:ext cx="5486400" cy="274320"/>
          </a:xfrm>
          <a:prstGeom prst="rect">
            <a:avLst/>
          </a:prstGeom>
          <a:noFill/>
          <a:ln/>
        </p:spPr>
        <p:txBody>
          <a:bodyPr wrap="square" lIns="0" tIns="0" rIns="0" bIns="0" rtlCol="0" anchor="ctr"/>
          <a:lstStyle/>
          <a:p>
            <a:pPr algn="r" indent="0" marL="0">
              <a:buNone/>
            </a:pPr>
            <a:r>
              <a:rPr lang="en-US" sz="900" spc="200" kern="0" dirty="0">
                <a:solidFill>
                  <a:srgbClr val="6B6862"/>
                </a:solidFill>
                <a:latin typeface="Courier New" pitchFamily="34" charset="0"/>
                <a:ea typeface="Courier New" pitchFamily="34" charset="-122"/>
                <a:cs typeface="Courier New" pitchFamily="34" charset="-120"/>
              </a:rPr>
              <a:t>LISA  /  ASHOKA STARTUP CHALLENGE 2026</a:t>
            </a:r>
            <a:endParaRPr lang="en-US" sz="900" dirty="0"/>
          </a:p>
        </p:txBody>
      </p:sp>
      <p:sp>
        <p:nvSpPr>
          <p:cNvPr id="4"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900" dirty="0">
                <a:solidFill>
                  <a:srgbClr val="6B6862"/>
                </a:solidFill>
                <a:latin typeface="Courier New" pitchFamily="34" charset="0"/>
                <a:ea typeface="Courier New" pitchFamily="34" charset="-122"/>
                <a:cs typeface="Courier New" pitchFamily="34" charset="-120"/>
              </a:rPr>
              <a:t>10 / 24</a:t>
            </a:r>
            <a:endParaRPr lang="en-US" sz="900" dirty="0"/>
          </a:p>
        </p:txBody>
      </p:sp>
      <p:sp>
        <p:nvSpPr>
          <p:cNvPr id="5" name="Shape 3"/>
          <p:cNvSpPr/>
          <p:nvPr/>
        </p:nvSpPr>
        <p:spPr>
          <a:xfrm>
            <a:off x="210312" y="6583680"/>
            <a:ext cx="164592" cy="0"/>
          </a:xfrm>
          <a:prstGeom prst="line">
            <a:avLst/>
          </a:prstGeom>
          <a:noFill/>
          <a:ln w="9525">
            <a:solidFill>
              <a:srgbClr val="111111"/>
            </a:solidFill>
            <a:prstDash val="solid"/>
          </a:ln>
        </p:spPr>
      </p:sp>
      <p:sp>
        <p:nvSpPr>
          <p:cNvPr id="6" name="Shape 4"/>
          <p:cNvSpPr/>
          <p:nvPr/>
        </p:nvSpPr>
        <p:spPr>
          <a:xfrm>
            <a:off x="292608" y="6501384"/>
            <a:ext cx="0" cy="164592"/>
          </a:xfrm>
          <a:prstGeom prst="line">
            <a:avLst/>
          </a:prstGeom>
          <a:noFill/>
          <a:ln w="9525">
            <a:solidFill>
              <a:srgbClr val="111111"/>
            </a:solidFill>
            <a:prstDash val="solid"/>
          </a:ln>
        </p:spPr>
      </p:sp>
      <p:sp>
        <p:nvSpPr>
          <p:cNvPr id="7" name="Text 5"/>
          <p:cNvSpPr txBox="1"/>
          <p:nvPr/>
        </p:nvSpPr>
        <p:spPr>
          <a:xfrm>
            <a:off x="548640" y="685800"/>
            <a:ext cx="5029200" cy="1280160"/>
          </a:xfrm>
          <a:prstGeom prst="rect">
            <a:avLst/>
          </a:prstGeom>
          <a:noFill/>
          <a:ln/>
        </p:spPr>
        <p:txBody>
          <a:bodyPr wrap="square" lIns="0" tIns="0" rIns="0" bIns="0" rtlCol="0" anchor="t"/>
          <a:lstStyle/>
          <a:p>
            <a:pPr indent="0" marL="0">
              <a:lnSpc>
                <a:spcPct val="92000"/>
              </a:lnSpc>
              <a:buNone/>
            </a:pPr>
            <a:r>
              <a:rPr lang="en-US" sz="3400" dirty="0">
                <a:solidFill>
                  <a:srgbClr val="111111"/>
                </a:solidFill>
                <a:latin typeface="Arial Black" pitchFamily="34" charset="0"/>
                <a:ea typeface="Arial Black" pitchFamily="34" charset="-122"/>
                <a:cs typeface="Arial Black" pitchFamily="34" charset="-120"/>
              </a:rPr>
              <a:t>Chemistry detects.</a:t>
            </a:r>
            <a:pPr indent="0" marL="0">
              <a:lnSpc>
                <a:spcPct val="92000"/>
              </a:lnSpc>
              <a:buNone/>
            </a:pPr>
            <a:endParaRPr lang="en-US" sz="3400" dirty="0"/>
          </a:p>
          <a:p>
            <a:pPr indent="0" marL="0">
              <a:lnSpc>
                <a:spcPct val="92000"/>
              </a:lnSpc>
              <a:buNone/>
            </a:pPr>
            <a:r>
              <a:rPr lang="en-US" sz="3400" dirty="0">
                <a:solidFill>
                  <a:srgbClr val="1F3AE0"/>
                </a:solidFill>
                <a:latin typeface="Arial Black" pitchFamily="34" charset="0"/>
                <a:ea typeface="Arial Black" pitchFamily="34" charset="-122"/>
                <a:cs typeface="Arial Black" pitchFamily="34" charset="-120"/>
              </a:rPr>
              <a:t>Physics measures.</a:t>
            </a:r>
            <a:endParaRPr lang="en-US" sz="3400" dirty="0"/>
          </a:p>
        </p:txBody>
      </p:sp>
      <p:sp>
        <p:nvSpPr>
          <p:cNvPr id="8" name="Text 6"/>
          <p:cNvSpPr txBox="1"/>
          <p:nvPr/>
        </p:nvSpPr>
        <p:spPr>
          <a:xfrm>
            <a:off x="548640" y="2194560"/>
            <a:ext cx="4754880" cy="1097280"/>
          </a:xfrm>
          <a:prstGeom prst="rect">
            <a:avLst/>
          </a:prstGeom>
          <a:noFill/>
          <a:ln/>
        </p:spPr>
        <p:txBody>
          <a:bodyPr wrap="square" lIns="0" tIns="0" rIns="0" bIns="0" rtlCol="0" anchor="t"/>
          <a:lstStyle/>
          <a:p>
            <a:pPr indent="0" marL="0">
              <a:buNone/>
            </a:pPr>
            <a:r>
              <a:rPr lang="en-US" sz="1350" dirty="0">
                <a:solidFill>
                  <a:srgbClr val="111111"/>
                </a:solidFill>
                <a:latin typeface="Arial" pitchFamily="34" charset="0"/>
                <a:ea typeface="Arial" pitchFamily="34" charset="-122"/>
                <a:cs typeface="Arial" pitchFamily="34" charset="-120"/>
              </a:rPr>
              <a:t>Orthophosphate + ammonium molybdate + ascorbic acid forms molybdenum blue (US EPA 365.3 · Murphy &amp; Riley 1962). The more phosphate, the more red light the sample swallows.</a:t>
            </a:r>
            <a:endParaRPr lang="en-US" sz="1350" dirty="0"/>
          </a:p>
        </p:txBody>
      </p:sp>
      <p:sp>
        <p:nvSpPr>
          <p:cNvPr id="9" name="Shape 7"/>
          <p:cNvSpPr/>
          <p:nvPr/>
        </p:nvSpPr>
        <p:spPr>
          <a:xfrm>
            <a:off x="548640" y="3429000"/>
            <a:ext cx="4754880" cy="1143000"/>
          </a:xfrm>
          <a:prstGeom prst="rect">
            <a:avLst/>
          </a:prstGeom>
          <a:solidFill>
            <a:srgbClr val="111111"/>
          </a:solidFill>
          <a:ln/>
        </p:spPr>
      </p:sp>
      <p:sp>
        <p:nvSpPr>
          <p:cNvPr id="10" name="Text 8"/>
          <p:cNvSpPr txBox="1"/>
          <p:nvPr/>
        </p:nvSpPr>
        <p:spPr>
          <a:xfrm>
            <a:off x="731520" y="3474720"/>
            <a:ext cx="4480560" cy="685800"/>
          </a:xfrm>
          <a:prstGeom prst="rect">
            <a:avLst/>
          </a:prstGeom>
          <a:noFill/>
          <a:ln/>
        </p:spPr>
        <p:txBody>
          <a:bodyPr wrap="square" lIns="0" tIns="0" rIns="0" bIns="0"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A(λ) = −log₁₀( I_sample / I_blank ) = ε(λ) · ℓ · c</a:t>
            </a:r>
            <a:endParaRPr lang="en-US" sz="1500" dirty="0"/>
          </a:p>
        </p:txBody>
      </p:sp>
      <p:sp>
        <p:nvSpPr>
          <p:cNvPr id="11" name="Text 9"/>
          <p:cNvSpPr txBox="1"/>
          <p:nvPr/>
        </p:nvSpPr>
        <p:spPr>
          <a:xfrm>
            <a:off x="731520" y="4160520"/>
            <a:ext cx="4480560" cy="274320"/>
          </a:xfrm>
          <a:prstGeom prst="rect">
            <a:avLst/>
          </a:prstGeom>
          <a:noFill/>
          <a:ln/>
        </p:spPr>
        <p:txBody>
          <a:bodyPr wrap="square" lIns="0" tIns="0" rIns="0" bIns="0" rtlCol="0" anchor="ctr"/>
          <a:lstStyle/>
          <a:p>
            <a:pPr indent="0" marL="0">
              <a:buNone/>
            </a:pPr>
            <a:r>
              <a:rPr lang="en-US" sz="850" spc="100" kern="0" dirty="0">
                <a:solidFill>
                  <a:srgbClr val="CFCBC3"/>
                </a:solidFill>
                <a:latin typeface="Courier New" pitchFamily="34" charset="0"/>
                <a:ea typeface="Courier New" pitchFamily="34" charset="-122"/>
                <a:cs typeface="Courier New" pitchFamily="34" charset="-120"/>
              </a:rPr>
              <a:t>BEER–LAMBERT · ℓ = 10 mm · λ BAND 630–690 nm</a:t>
            </a:r>
            <a:endParaRPr lang="en-US" sz="850" dirty="0"/>
          </a:p>
        </p:txBody>
      </p:sp>
      <p:sp>
        <p:nvSpPr>
          <p:cNvPr id="12" name="Text 10"/>
          <p:cNvSpPr txBox="1"/>
          <p:nvPr/>
        </p:nvSpPr>
        <p:spPr>
          <a:xfrm>
            <a:off x="548640" y="4800600"/>
            <a:ext cx="4754880" cy="320040"/>
          </a:xfrm>
          <a:prstGeom prst="rect">
            <a:avLst/>
          </a:prstGeom>
          <a:noFill/>
          <a:ln/>
        </p:spPr>
        <p:txBody>
          <a:bodyPr wrap="square" lIns="0" tIns="0" rIns="0" bIns="0" rtlCol="0" anchor="ctr"/>
          <a:lstStyle/>
          <a:p>
            <a:pPr indent="0" marL="0">
              <a:buNone/>
            </a:pPr>
            <a:r>
              <a:rPr lang="en-US" sz="1400" dirty="0">
                <a:solidFill>
                  <a:srgbClr val="111111"/>
                </a:solidFill>
                <a:latin typeface="Arial Black" pitchFamily="34" charset="0"/>
                <a:ea typeface="Arial Black" pitchFamily="34" charset="-122"/>
                <a:cs typeface="Arial Black" pitchFamily="34" charset="-120"/>
              </a:rPr>
              <a:t>Why phosphate first?</a:t>
            </a:r>
            <a:endParaRPr lang="en-US" sz="1400" dirty="0"/>
          </a:p>
        </p:txBody>
      </p:sp>
      <p:sp>
        <p:nvSpPr>
          <p:cNvPr id="13" name="Text 11"/>
          <p:cNvSpPr txBox="1"/>
          <p:nvPr/>
        </p:nvSpPr>
        <p:spPr>
          <a:xfrm>
            <a:off x="548640" y="5120640"/>
            <a:ext cx="4754880" cy="1097280"/>
          </a:xfrm>
          <a:prstGeom prst="rect">
            <a:avLst/>
          </a:prstGeom>
          <a:noFill/>
          <a:ln/>
        </p:spPr>
        <p:txBody>
          <a:bodyPr wrap="square" lIns="0" tIns="0" rIns="0" bIns="0" rtlCol="0" anchor="t"/>
          <a:lstStyle/>
          <a:p>
            <a:pPr indent="0" marL="0">
              <a:buNone/>
            </a:pPr>
            <a:r>
              <a:rPr lang="en-US" sz="1200" dirty="0">
                <a:solidFill>
                  <a:srgbClr val="6B6862"/>
                </a:solidFill>
                <a:latin typeface="Arial" pitchFamily="34" charset="0"/>
                <a:ea typeface="Arial" pitchFamily="34" charset="-122"/>
                <a:cs typeface="Arial" pitchFamily="34" charset="-120"/>
              </a:rPr>
              <a:t>Clean groundwater has almost none. A spike is a tracer for sewage, detergent or fertiliser runoff, and it is the chemistry Feng et al. validated. Iron (IS 10500, 0.3 mg/L) is pack #2.</a:t>
            </a:r>
            <a:endParaRPr lang="en-US" sz="1200" dirty="0"/>
          </a:p>
        </p:txBody>
      </p:sp>
      <p:sp>
        <p:nvSpPr>
          <p:cNvPr id="14" name="Shape 12"/>
          <p:cNvSpPr/>
          <p:nvPr/>
        </p:nvSpPr>
        <p:spPr>
          <a:xfrm>
            <a:off x="5760720" y="868680"/>
            <a:ext cx="5897880" cy="5257800"/>
          </a:xfrm>
          <a:prstGeom prst="rect">
            <a:avLst/>
          </a:prstGeom>
          <a:solidFill>
            <a:srgbClr val="F7F6F3"/>
          </a:solidFill>
          <a:ln w="9525">
            <a:solidFill>
              <a:srgbClr val="111111"/>
            </a:solidFill>
            <a:prstDash val="solid"/>
          </a:ln>
        </p:spPr>
      </p:sp>
      <p:sp>
        <p:nvSpPr>
          <p:cNvPr id="15" name="Text 13"/>
          <p:cNvSpPr txBox="1"/>
          <p:nvPr/>
        </p:nvSpPr>
        <p:spPr>
          <a:xfrm>
            <a:off x="5989320" y="1051560"/>
            <a:ext cx="5486400" cy="274320"/>
          </a:xfrm>
          <a:prstGeom prst="rect">
            <a:avLst/>
          </a:prstGeom>
          <a:noFill/>
          <a:ln/>
        </p:spPr>
        <p:txBody>
          <a:bodyPr wrap="square" lIns="0" tIns="0" rIns="0" bIns="0" rtlCol="0" anchor="ctr"/>
          <a:lstStyle/>
          <a:p>
            <a:pPr indent="0" marL="0">
              <a:buNone/>
            </a:pPr>
            <a:r>
              <a:rPr lang="en-US" sz="900" b="1" spc="100" kern="0" dirty="0">
                <a:solidFill>
                  <a:srgbClr val="111111"/>
                </a:solidFill>
                <a:latin typeface="Courier New" pitchFamily="34" charset="0"/>
                <a:ea typeface="Courier New" pitchFamily="34" charset="-122"/>
                <a:cs typeface="Courier New" pitchFamily="34" charset="-120"/>
              </a:rPr>
              <a:t>FIG. 10 — MOLYBDENUM-BLUE ABSORBANCE A(λ) · SIMULATED</a:t>
            </a:r>
            <a:endParaRPr lang="en-US" sz="900" dirty="0"/>
          </a:p>
        </p:txBody>
      </p:sp>
      <p:graphicFrame>
        <p:nvGraphicFramePr>
          <p:cNvPr id="16" name="Chart 0" descr=""/>
          <p:cNvGraphicFramePr/>
          <p:nvPr/>
        </p:nvGraphicFramePr>
        <p:xfrm>
          <a:off x="5852160" y="1371600"/>
          <a:ext cx="5715000" cy="4663440"/>
        </p:xfrm>
        <a:graphic xmlns:a="http://schemas.openxmlformats.org/drawingml/2006/main">
          <a:graphicData uri="http://schemas.openxmlformats.org/drawingml/2006/chart">
            <c:chart xmlns:c="http://schemas.openxmlformats.org/drawingml/2006/chart" r:id="rId2"/>
          </a:graphicData>
        </a:graphic>
      </p:graphicFrame>
      <p:sp>
        <p:nvSpPr>
          <p:cNvPr id="17" name="Text 14"/>
          <p:cNvSpPr txBox="1"/>
          <p:nvPr/>
        </p:nvSpPr>
        <p:spPr>
          <a:xfrm>
            <a:off x="548640" y="6419088"/>
            <a:ext cx="9326880" cy="292608"/>
          </a:xfrm>
          <a:prstGeom prst="rect">
            <a:avLst/>
          </a:prstGeom>
          <a:noFill/>
          <a:ln/>
        </p:spPr>
        <p:txBody>
          <a:bodyPr wrap="square" lIns="0" tIns="0" rIns="0" bIns="0" rtlCol="0" anchor="b"/>
          <a:lstStyle/>
          <a:p>
            <a:pPr indent="0" marL="0">
              <a:buNone/>
            </a:pPr>
            <a:r>
              <a:rPr lang="en-US" sz="800" dirty="0">
                <a:solidFill>
                  <a:srgbClr val="6B6862"/>
                </a:solidFill>
                <a:latin typeface="Courier New" pitchFamily="34" charset="0"/>
                <a:ea typeface="Courier New" pitchFamily="34" charset="-122"/>
                <a:cs typeface="Courier New" pitchFamily="34" charset="-120"/>
              </a:rPr>
              <a:t>Curves generated from LISA’s physics simulator model (ε·ℓ·c, logistic onset toward the 880 nm peak). Illustrative, not wet-lab data.</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000" b="1" spc="200" kern="0" dirty="0">
                <a:solidFill>
                  <a:srgbClr val="111111"/>
                </a:solidFill>
                <a:latin typeface="Courier New" pitchFamily="34" charset="0"/>
                <a:ea typeface="Courier New" pitchFamily="34" charset="-122"/>
                <a:cs typeface="Courier New" pitchFamily="34" charset="-120"/>
              </a:rPr>
              <a:t>11 — THE ENGINE</a:t>
            </a:r>
            <a:endParaRPr lang="en-US" sz="1000" dirty="0"/>
          </a:p>
        </p:txBody>
      </p:sp>
      <p:sp>
        <p:nvSpPr>
          <p:cNvPr id="3" name="Text 1"/>
          <p:cNvSpPr txBox="1"/>
          <p:nvPr/>
        </p:nvSpPr>
        <p:spPr>
          <a:xfrm>
            <a:off x="6156655" y="292608"/>
            <a:ext cx="5486400" cy="274320"/>
          </a:xfrm>
          <a:prstGeom prst="rect">
            <a:avLst/>
          </a:prstGeom>
          <a:noFill/>
          <a:ln/>
        </p:spPr>
        <p:txBody>
          <a:bodyPr wrap="square" lIns="0" tIns="0" rIns="0" bIns="0" rtlCol="0" anchor="ctr"/>
          <a:lstStyle/>
          <a:p>
            <a:pPr algn="r" indent="0" marL="0">
              <a:buNone/>
            </a:pPr>
            <a:r>
              <a:rPr lang="en-US" sz="900" spc="200" kern="0" dirty="0">
                <a:solidFill>
                  <a:srgbClr val="6B6862"/>
                </a:solidFill>
                <a:latin typeface="Courier New" pitchFamily="34" charset="0"/>
                <a:ea typeface="Courier New" pitchFamily="34" charset="-122"/>
                <a:cs typeface="Courier New" pitchFamily="34" charset="-120"/>
              </a:rPr>
              <a:t>LISA  /  ASHOKA STARTUP CHALLENGE 2026</a:t>
            </a:r>
            <a:endParaRPr lang="en-US" sz="900" dirty="0"/>
          </a:p>
        </p:txBody>
      </p:sp>
      <p:sp>
        <p:nvSpPr>
          <p:cNvPr id="4"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900" dirty="0">
                <a:solidFill>
                  <a:srgbClr val="6B6862"/>
                </a:solidFill>
                <a:latin typeface="Courier New" pitchFamily="34" charset="0"/>
                <a:ea typeface="Courier New" pitchFamily="34" charset="-122"/>
                <a:cs typeface="Courier New" pitchFamily="34" charset="-120"/>
              </a:rPr>
              <a:t>11 / 24</a:t>
            </a:r>
            <a:endParaRPr lang="en-US" sz="900" dirty="0"/>
          </a:p>
        </p:txBody>
      </p:sp>
      <p:sp>
        <p:nvSpPr>
          <p:cNvPr id="5" name="Shape 3"/>
          <p:cNvSpPr/>
          <p:nvPr/>
        </p:nvSpPr>
        <p:spPr>
          <a:xfrm>
            <a:off x="210312" y="6583680"/>
            <a:ext cx="164592" cy="0"/>
          </a:xfrm>
          <a:prstGeom prst="line">
            <a:avLst/>
          </a:prstGeom>
          <a:noFill/>
          <a:ln w="9525">
            <a:solidFill>
              <a:srgbClr val="111111"/>
            </a:solidFill>
            <a:prstDash val="solid"/>
          </a:ln>
        </p:spPr>
      </p:sp>
      <p:sp>
        <p:nvSpPr>
          <p:cNvPr id="6" name="Shape 4"/>
          <p:cNvSpPr/>
          <p:nvPr/>
        </p:nvSpPr>
        <p:spPr>
          <a:xfrm>
            <a:off x="292608" y="6501384"/>
            <a:ext cx="0" cy="164592"/>
          </a:xfrm>
          <a:prstGeom prst="line">
            <a:avLst/>
          </a:prstGeom>
          <a:noFill/>
          <a:ln w="9525">
            <a:solidFill>
              <a:srgbClr val="111111"/>
            </a:solidFill>
            <a:prstDash val="solid"/>
          </a:ln>
        </p:spPr>
      </p:sp>
      <p:sp>
        <p:nvSpPr>
          <p:cNvPr id="7" name="Text 5"/>
          <p:cNvSpPr txBox="1"/>
          <p:nvPr/>
        </p:nvSpPr>
        <p:spPr>
          <a:xfrm>
            <a:off x="548640" y="685800"/>
            <a:ext cx="10515600" cy="1280160"/>
          </a:xfrm>
          <a:prstGeom prst="rect">
            <a:avLst/>
          </a:prstGeom>
          <a:noFill/>
          <a:ln/>
        </p:spPr>
        <p:txBody>
          <a:bodyPr wrap="square" lIns="0" tIns="0" rIns="0" bIns="0" rtlCol="0" anchor="t"/>
          <a:lstStyle/>
          <a:p>
            <a:pPr indent="0" marL="0">
              <a:lnSpc>
                <a:spcPct val="92000"/>
              </a:lnSpc>
              <a:buNone/>
            </a:pPr>
            <a:r>
              <a:rPr lang="en-US" sz="3400" dirty="0">
                <a:solidFill>
                  <a:srgbClr val="111111"/>
                </a:solidFill>
                <a:latin typeface="Arial Black" pitchFamily="34" charset="0"/>
                <a:ea typeface="Arial Black" pitchFamily="34" charset="-122"/>
                <a:cs typeface="Arial Black" pitchFamily="34" charset="-120"/>
              </a:rPr>
              <a:t>Hardware captures imperfect light.</a:t>
            </a:r>
            <a:pPr indent="0" marL="0">
              <a:lnSpc>
                <a:spcPct val="92000"/>
              </a:lnSpc>
              <a:buNone/>
            </a:pPr>
            <a:endParaRPr lang="en-US" sz="3400" dirty="0"/>
          </a:p>
          <a:p>
            <a:pPr indent="0" marL="0">
              <a:lnSpc>
                <a:spcPct val="92000"/>
              </a:lnSpc>
              <a:buNone/>
            </a:pPr>
            <a:r>
              <a:rPr lang="en-US" sz="3400" dirty="0">
                <a:solidFill>
                  <a:srgbClr val="1F3AE0"/>
                </a:solidFill>
                <a:latin typeface="Arial Black" pitchFamily="34" charset="0"/>
                <a:ea typeface="Arial Black" pitchFamily="34" charset="-122"/>
                <a:cs typeface="Arial Black" pitchFamily="34" charset="-120"/>
              </a:rPr>
              <a:t>Software reconstructs the truth.</a:t>
            </a:r>
            <a:endParaRPr lang="en-US" sz="3400" dirty="0"/>
          </a:p>
        </p:txBody>
      </p:sp>
      <p:sp>
        <p:nvSpPr>
          <p:cNvPr id="8" name="Shape 6"/>
          <p:cNvSpPr/>
          <p:nvPr/>
        </p:nvSpPr>
        <p:spPr>
          <a:xfrm>
            <a:off x="548640" y="2331720"/>
            <a:ext cx="1170432" cy="3246120"/>
          </a:xfrm>
          <a:prstGeom prst="rect">
            <a:avLst/>
          </a:prstGeom>
          <a:ln w="12700">
            <a:solidFill>
              <a:srgbClr val="111111"/>
            </a:solidFill>
            <a:prstDash val="solid"/>
          </a:ln>
        </p:spPr>
      </p:sp>
      <p:sp>
        <p:nvSpPr>
          <p:cNvPr id="9" name="Text 7"/>
          <p:cNvSpPr txBox="1"/>
          <p:nvPr/>
        </p:nvSpPr>
        <p:spPr>
          <a:xfrm>
            <a:off x="658368" y="2468880"/>
            <a:ext cx="548640" cy="274320"/>
          </a:xfrm>
          <a:prstGeom prst="rect">
            <a:avLst/>
          </a:prstGeom>
          <a:noFill/>
          <a:ln/>
        </p:spPr>
        <p:txBody>
          <a:bodyPr wrap="square" lIns="0" tIns="0" rIns="0" bIns="0" rtlCol="0" anchor="ctr"/>
          <a:lstStyle/>
          <a:p>
            <a:pPr indent="0" marL="0">
              <a:buNone/>
            </a:pPr>
            <a:r>
              <a:rPr lang="en-US" sz="1100" b="1" spc="100" kern="0" dirty="0">
                <a:solidFill>
                  <a:srgbClr val="111111"/>
                </a:solidFill>
                <a:latin typeface="Courier New" pitchFamily="34" charset="0"/>
                <a:ea typeface="Courier New" pitchFamily="34" charset="-122"/>
                <a:cs typeface="Courier New" pitchFamily="34" charset="-120"/>
              </a:rPr>
              <a:t>01</a:t>
            </a:r>
            <a:endParaRPr lang="en-US" sz="1100" dirty="0"/>
          </a:p>
        </p:txBody>
      </p:sp>
      <p:pic>
        <p:nvPicPr>
          <p:cNvPr id="10" name="Image 0" descr="preencoded.png">    </p:cNvPr>
          <p:cNvPicPr>
            <a:picLocks noChangeAspect="1"/>
          </p:cNvPicPr>
          <p:nvPr/>
        </p:nvPicPr>
        <p:blipFill>
          <a:blip r:embed="rId2"/>
          <a:stretch>
            <a:fillRect/>
          </a:stretch>
        </p:blipFill>
        <p:spPr>
          <a:xfrm>
            <a:off x="658368" y="2880360"/>
            <a:ext cx="384048" cy="384048"/>
          </a:xfrm>
          <a:prstGeom prst="rect">
            <a:avLst/>
          </a:prstGeom>
        </p:spPr>
      </p:pic>
      <p:sp>
        <p:nvSpPr>
          <p:cNvPr id="11" name="Text 8"/>
          <p:cNvSpPr txBox="1"/>
          <p:nvPr/>
        </p:nvSpPr>
        <p:spPr>
          <a:xfrm>
            <a:off x="658368" y="3429000"/>
            <a:ext cx="987552" cy="320040"/>
          </a:xfrm>
          <a:prstGeom prst="rect">
            <a:avLst/>
          </a:prstGeom>
          <a:noFill/>
          <a:ln/>
        </p:spPr>
        <p:txBody>
          <a:bodyPr wrap="square" lIns="0" tIns="0" rIns="0" bIns="0" rtlCol="0" anchor="ctr"/>
          <a:lstStyle/>
          <a:p>
            <a:pPr indent="0" marL="0">
              <a:buNone/>
            </a:pPr>
            <a:r>
              <a:rPr lang="en-US" sz="1150" dirty="0">
                <a:solidFill>
                  <a:srgbClr val="111111"/>
                </a:solidFill>
                <a:latin typeface="Arial Black" pitchFamily="34" charset="0"/>
                <a:ea typeface="Arial Black" pitchFamily="34" charset="-122"/>
                <a:cs typeface="Arial Black" pitchFamily="34" charset="-120"/>
              </a:rPr>
              <a:t>Capture</a:t>
            </a:r>
            <a:endParaRPr lang="en-US" sz="1150" dirty="0"/>
          </a:p>
        </p:txBody>
      </p:sp>
      <p:sp>
        <p:nvSpPr>
          <p:cNvPr id="12" name="Text 9"/>
          <p:cNvSpPr txBox="1"/>
          <p:nvPr/>
        </p:nvSpPr>
        <p:spPr>
          <a:xfrm>
            <a:off x="658368" y="3813048"/>
            <a:ext cx="969264" cy="1645920"/>
          </a:xfrm>
          <a:prstGeom prst="rect">
            <a:avLst/>
          </a:prstGeom>
          <a:noFill/>
          <a:ln/>
        </p:spPr>
        <p:txBody>
          <a:bodyPr wrap="square" lIns="0" tIns="0" rIns="0" bIns="0" rtlCol="0" anchor="t"/>
          <a:lstStyle/>
          <a:p>
            <a:pPr indent="0" marL="0">
              <a:buNone/>
            </a:pPr>
            <a:r>
              <a:rPr lang="en-US" sz="1000" dirty="0">
                <a:solidFill>
                  <a:srgbClr val="6B6862"/>
                </a:solidFill>
                <a:latin typeface="Arial" pitchFamily="34" charset="0"/>
                <a:ea typeface="Arial" pitchFamily="34" charset="-122"/>
                <a:cs typeface="Arial" pitchFamily="34" charset="-120"/>
              </a:rPr>
              <a:t>AE/AWB locked camera, upload, CSV or simulator</a:t>
            </a:r>
            <a:endParaRPr lang="en-US" sz="1000" dirty="0"/>
          </a:p>
        </p:txBody>
      </p:sp>
      <p:sp>
        <p:nvSpPr>
          <p:cNvPr id="13" name="Shape 10"/>
          <p:cNvSpPr/>
          <p:nvPr/>
        </p:nvSpPr>
        <p:spPr>
          <a:xfrm>
            <a:off x="1787652" y="2331720"/>
            <a:ext cx="1170432" cy="3246120"/>
          </a:xfrm>
          <a:prstGeom prst="rect">
            <a:avLst/>
          </a:prstGeom>
          <a:ln w="12700">
            <a:solidFill>
              <a:srgbClr val="111111"/>
            </a:solidFill>
            <a:prstDash val="solid"/>
          </a:ln>
        </p:spPr>
      </p:sp>
      <p:sp>
        <p:nvSpPr>
          <p:cNvPr id="14" name="Text 11"/>
          <p:cNvSpPr txBox="1"/>
          <p:nvPr/>
        </p:nvSpPr>
        <p:spPr>
          <a:xfrm>
            <a:off x="1897380" y="2468880"/>
            <a:ext cx="548640" cy="274320"/>
          </a:xfrm>
          <a:prstGeom prst="rect">
            <a:avLst/>
          </a:prstGeom>
          <a:noFill/>
          <a:ln/>
        </p:spPr>
        <p:txBody>
          <a:bodyPr wrap="square" lIns="0" tIns="0" rIns="0" bIns="0" rtlCol="0" anchor="ctr"/>
          <a:lstStyle/>
          <a:p>
            <a:pPr indent="0" marL="0">
              <a:buNone/>
            </a:pPr>
            <a:r>
              <a:rPr lang="en-US" sz="1100" b="1" spc="100" kern="0" dirty="0">
                <a:solidFill>
                  <a:srgbClr val="111111"/>
                </a:solidFill>
                <a:latin typeface="Courier New" pitchFamily="34" charset="0"/>
                <a:ea typeface="Courier New" pitchFamily="34" charset="-122"/>
                <a:cs typeface="Courier New" pitchFamily="34" charset="-120"/>
              </a:rPr>
              <a:t>02</a:t>
            </a:r>
            <a:endParaRPr lang="en-US" sz="1100" dirty="0"/>
          </a:p>
        </p:txBody>
      </p:sp>
      <p:pic>
        <p:nvPicPr>
          <p:cNvPr id="15" name="Image 1" descr="preencoded.png">    </p:cNvPr>
          <p:cNvPicPr>
            <a:picLocks noChangeAspect="1"/>
          </p:cNvPicPr>
          <p:nvPr/>
        </p:nvPicPr>
        <p:blipFill>
          <a:blip r:embed="rId3"/>
          <a:stretch>
            <a:fillRect/>
          </a:stretch>
        </p:blipFill>
        <p:spPr>
          <a:xfrm>
            <a:off x="1897380" y="2880360"/>
            <a:ext cx="384048" cy="384048"/>
          </a:xfrm>
          <a:prstGeom prst="rect">
            <a:avLst/>
          </a:prstGeom>
        </p:spPr>
      </p:pic>
      <p:sp>
        <p:nvSpPr>
          <p:cNvPr id="16" name="Text 12"/>
          <p:cNvSpPr txBox="1"/>
          <p:nvPr/>
        </p:nvSpPr>
        <p:spPr>
          <a:xfrm>
            <a:off x="1897380" y="3429000"/>
            <a:ext cx="987552" cy="320040"/>
          </a:xfrm>
          <a:prstGeom prst="rect">
            <a:avLst/>
          </a:prstGeom>
          <a:noFill/>
          <a:ln/>
        </p:spPr>
        <p:txBody>
          <a:bodyPr wrap="square" lIns="0" tIns="0" rIns="0" bIns="0" rtlCol="0" anchor="ctr"/>
          <a:lstStyle/>
          <a:p>
            <a:pPr indent="0" marL="0">
              <a:buNone/>
            </a:pPr>
            <a:r>
              <a:rPr lang="en-US" sz="1150" dirty="0">
                <a:solidFill>
                  <a:srgbClr val="111111"/>
                </a:solidFill>
                <a:latin typeface="Arial Black" pitchFamily="34" charset="0"/>
                <a:ea typeface="Arial Black" pitchFamily="34" charset="-122"/>
                <a:cs typeface="Arial Black" pitchFamily="34" charset="-120"/>
              </a:rPr>
              <a:t>Extract</a:t>
            </a:r>
            <a:endParaRPr lang="en-US" sz="1150" dirty="0"/>
          </a:p>
        </p:txBody>
      </p:sp>
      <p:sp>
        <p:nvSpPr>
          <p:cNvPr id="17" name="Text 13"/>
          <p:cNvSpPr txBox="1"/>
          <p:nvPr/>
        </p:nvSpPr>
        <p:spPr>
          <a:xfrm>
            <a:off x="1897380" y="3813048"/>
            <a:ext cx="969264" cy="1645920"/>
          </a:xfrm>
          <a:prstGeom prst="rect">
            <a:avLst/>
          </a:prstGeom>
          <a:noFill/>
          <a:ln/>
        </p:spPr>
        <p:txBody>
          <a:bodyPr wrap="square" lIns="0" tIns="0" rIns="0" bIns="0" rtlCol="0" anchor="t"/>
          <a:lstStyle/>
          <a:p>
            <a:pPr indent="0" marL="0">
              <a:buNone/>
            </a:pPr>
            <a:r>
              <a:rPr lang="en-US" sz="1000" dirty="0">
                <a:solidFill>
                  <a:srgbClr val="6B6862"/>
                </a:solidFill>
                <a:latin typeface="Arial" pitchFamily="34" charset="0"/>
                <a:ea typeface="Arial" pitchFamily="34" charset="-122"/>
                <a:cs typeface="Arial" pitchFamily="34" charset="-120"/>
              </a:rPr>
              <a:t>CV finds the spectral band; column binning ~10× less noise</a:t>
            </a:r>
            <a:endParaRPr lang="en-US" sz="1000" dirty="0"/>
          </a:p>
        </p:txBody>
      </p:sp>
      <p:sp>
        <p:nvSpPr>
          <p:cNvPr id="18" name="Shape 14"/>
          <p:cNvSpPr/>
          <p:nvPr/>
        </p:nvSpPr>
        <p:spPr>
          <a:xfrm>
            <a:off x="3026664" y="2331720"/>
            <a:ext cx="1170432" cy="3246120"/>
          </a:xfrm>
          <a:prstGeom prst="rect">
            <a:avLst/>
          </a:prstGeom>
          <a:ln w="12700">
            <a:solidFill>
              <a:srgbClr val="111111"/>
            </a:solidFill>
            <a:prstDash val="solid"/>
          </a:ln>
        </p:spPr>
      </p:sp>
      <p:sp>
        <p:nvSpPr>
          <p:cNvPr id="19" name="Text 15"/>
          <p:cNvSpPr txBox="1"/>
          <p:nvPr/>
        </p:nvSpPr>
        <p:spPr>
          <a:xfrm>
            <a:off x="3136392" y="2468880"/>
            <a:ext cx="548640" cy="274320"/>
          </a:xfrm>
          <a:prstGeom prst="rect">
            <a:avLst/>
          </a:prstGeom>
          <a:noFill/>
          <a:ln/>
        </p:spPr>
        <p:txBody>
          <a:bodyPr wrap="square" lIns="0" tIns="0" rIns="0" bIns="0" rtlCol="0" anchor="ctr"/>
          <a:lstStyle/>
          <a:p>
            <a:pPr indent="0" marL="0">
              <a:buNone/>
            </a:pPr>
            <a:r>
              <a:rPr lang="en-US" sz="1100" b="1" spc="100" kern="0" dirty="0">
                <a:solidFill>
                  <a:srgbClr val="111111"/>
                </a:solidFill>
                <a:latin typeface="Courier New" pitchFamily="34" charset="0"/>
                <a:ea typeface="Courier New" pitchFamily="34" charset="-122"/>
                <a:cs typeface="Courier New" pitchFamily="34" charset="-120"/>
              </a:rPr>
              <a:t>03</a:t>
            </a:r>
            <a:endParaRPr lang="en-US" sz="1100" dirty="0"/>
          </a:p>
        </p:txBody>
      </p:sp>
      <p:pic>
        <p:nvPicPr>
          <p:cNvPr id="20" name="Image 2" descr="preencoded.png">    </p:cNvPr>
          <p:cNvPicPr>
            <a:picLocks noChangeAspect="1"/>
          </p:cNvPicPr>
          <p:nvPr/>
        </p:nvPicPr>
        <p:blipFill>
          <a:blip r:embed="rId4"/>
          <a:stretch>
            <a:fillRect/>
          </a:stretch>
        </p:blipFill>
        <p:spPr>
          <a:xfrm>
            <a:off x="3136392" y="2880360"/>
            <a:ext cx="384048" cy="384048"/>
          </a:xfrm>
          <a:prstGeom prst="rect">
            <a:avLst/>
          </a:prstGeom>
        </p:spPr>
      </p:pic>
      <p:sp>
        <p:nvSpPr>
          <p:cNvPr id="21" name="Text 16"/>
          <p:cNvSpPr txBox="1"/>
          <p:nvPr/>
        </p:nvSpPr>
        <p:spPr>
          <a:xfrm>
            <a:off x="3136392" y="3429000"/>
            <a:ext cx="987552" cy="320040"/>
          </a:xfrm>
          <a:prstGeom prst="rect">
            <a:avLst/>
          </a:prstGeom>
          <a:noFill/>
          <a:ln/>
        </p:spPr>
        <p:txBody>
          <a:bodyPr wrap="square" lIns="0" tIns="0" rIns="0" bIns="0" rtlCol="0" anchor="ctr"/>
          <a:lstStyle/>
          <a:p>
            <a:pPr indent="0" marL="0">
              <a:buNone/>
            </a:pPr>
            <a:r>
              <a:rPr lang="en-US" sz="1150" dirty="0">
                <a:solidFill>
                  <a:srgbClr val="111111"/>
                </a:solidFill>
                <a:latin typeface="Arial Black" pitchFamily="34" charset="0"/>
                <a:ea typeface="Arial Black" pitchFamily="34" charset="-122"/>
                <a:cs typeface="Arial Black" pitchFamily="34" charset="-120"/>
              </a:rPr>
              <a:t>Register</a:t>
            </a:r>
            <a:endParaRPr lang="en-US" sz="1150" dirty="0"/>
          </a:p>
        </p:txBody>
      </p:sp>
      <p:sp>
        <p:nvSpPr>
          <p:cNvPr id="22" name="Text 17"/>
          <p:cNvSpPr txBox="1"/>
          <p:nvPr/>
        </p:nvSpPr>
        <p:spPr>
          <a:xfrm>
            <a:off x="3136392" y="3813048"/>
            <a:ext cx="969264" cy="1645920"/>
          </a:xfrm>
          <a:prstGeom prst="rect">
            <a:avLst/>
          </a:prstGeom>
          <a:noFill/>
          <a:ln/>
        </p:spPr>
        <p:txBody>
          <a:bodyPr wrap="square" lIns="0" tIns="0" rIns="0" bIns="0" rtlCol="0" anchor="t"/>
          <a:lstStyle/>
          <a:p>
            <a:pPr indent="0" marL="0">
              <a:buNone/>
            </a:pPr>
            <a:r>
              <a:rPr lang="en-US" sz="1000" dirty="0">
                <a:solidFill>
                  <a:srgbClr val="6B6862"/>
                </a:solidFill>
                <a:latin typeface="Arial" pitchFamily="34" charset="0"/>
                <a:ea typeface="Arial" pitchFamily="34" charset="-122"/>
                <a:cs typeface="Arial" pitchFamily="34" charset="-120"/>
              </a:rPr>
              <a:t>CFL Hg lines → pixel-to-λ fit, &lt;1 nm residual</a:t>
            </a:r>
            <a:endParaRPr lang="en-US" sz="1000" dirty="0"/>
          </a:p>
        </p:txBody>
      </p:sp>
      <p:sp>
        <p:nvSpPr>
          <p:cNvPr id="23" name="Shape 18"/>
          <p:cNvSpPr/>
          <p:nvPr/>
        </p:nvSpPr>
        <p:spPr>
          <a:xfrm>
            <a:off x="4265676" y="2331720"/>
            <a:ext cx="1170432" cy="3246120"/>
          </a:xfrm>
          <a:prstGeom prst="rect">
            <a:avLst/>
          </a:prstGeom>
          <a:ln w="12700">
            <a:solidFill>
              <a:srgbClr val="111111"/>
            </a:solidFill>
            <a:prstDash val="solid"/>
          </a:ln>
        </p:spPr>
      </p:sp>
      <p:sp>
        <p:nvSpPr>
          <p:cNvPr id="24" name="Text 19"/>
          <p:cNvSpPr txBox="1"/>
          <p:nvPr/>
        </p:nvSpPr>
        <p:spPr>
          <a:xfrm>
            <a:off x="4375404" y="2468880"/>
            <a:ext cx="548640" cy="274320"/>
          </a:xfrm>
          <a:prstGeom prst="rect">
            <a:avLst/>
          </a:prstGeom>
          <a:noFill/>
          <a:ln/>
        </p:spPr>
        <p:txBody>
          <a:bodyPr wrap="square" lIns="0" tIns="0" rIns="0" bIns="0" rtlCol="0" anchor="ctr"/>
          <a:lstStyle/>
          <a:p>
            <a:pPr indent="0" marL="0">
              <a:buNone/>
            </a:pPr>
            <a:r>
              <a:rPr lang="en-US" sz="1100" b="1" spc="100" kern="0" dirty="0">
                <a:solidFill>
                  <a:srgbClr val="111111"/>
                </a:solidFill>
                <a:latin typeface="Courier New" pitchFamily="34" charset="0"/>
                <a:ea typeface="Courier New" pitchFamily="34" charset="-122"/>
                <a:cs typeface="Courier New" pitchFamily="34" charset="-120"/>
              </a:rPr>
              <a:t>04</a:t>
            </a:r>
            <a:endParaRPr lang="en-US" sz="1100" dirty="0"/>
          </a:p>
        </p:txBody>
      </p:sp>
      <p:pic>
        <p:nvPicPr>
          <p:cNvPr id="25" name="Image 3" descr="preencoded.png">    </p:cNvPr>
          <p:cNvPicPr>
            <a:picLocks noChangeAspect="1"/>
          </p:cNvPicPr>
          <p:nvPr/>
        </p:nvPicPr>
        <p:blipFill>
          <a:blip r:embed="rId5"/>
          <a:stretch>
            <a:fillRect/>
          </a:stretch>
        </p:blipFill>
        <p:spPr>
          <a:xfrm>
            <a:off x="4375404" y="2880360"/>
            <a:ext cx="384048" cy="384048"/>
          </a:xfrm>
          <a:prstGeom prst="rect">
            <a:avLst/>
          </a:prstGeom>
        </p:spPr>
      </p:pic>
      <p:sp>
        <p:nvSpPr>
          <p:cNvPr id="26" name="Text 20"/>
          <p:cNvSpPr txBox="1"/>
          <p:nvPr/>
        </p:nvSpPr>
        <p:spPr>
          <a:xfrm>
            <a:off x="4375404" y="3429000"/>
            <a:ext cx="987552" cy="320040"/>
          </a:xfrm>
          <a:prstGeom prst="rect">
            <a:avLst/>
          </a:prstGeom>
          <a:noFill/>
          <a:ln/>
        </p:spPr>
        <p:txBody>
          <a:bodyPr wrap="square" lIns="0" tIns="0" rIns="0" bIns="0" rtlCol="0" anchor="ctr"/>
          <a:lstStyle/>
          <a:p>
            <a:pPr indent="0" marL="0">
              <a:buNone/>
            </a:pPr>
            <a:r>
              <a:rPr lang="en-US" sz="1150" dirty="0">
                <a:solidFill>
                  <a:srgbClr val="111111"/>
                </a:solidFill>
                <a:latin typeface="Arial Black" pitchFamily="34" charset="0"/>
                <a:ea typeface="Arial Black" pitchFamily="34" charset="-122"/>
                <a:cs typeface="Arial Black" pitchFamily="34" charset="-120"/>
              </a:rPr>
              <a:t>Blank</a:t>
            </a:r>
            <a:endParaRPr lang="en-US" sz="1150" dirty="0"/>
          </a:p>
        </p:txBody>
      </p:sp>
      <p:sp>
        <p:nvSpPr>
          <p:cNvPr id="27" name="Text 21"/>
          <p:cNvSpPr txBox="1"/>
          <p:nvPr/>
        </p:nvSpPr>
        <p:spPr>
          <a:xfrm>
            <a:off x="4375404" y="3813048"/>
            <a:ext cx="969264" cy="1645920"/>
          </a:xfrm>
          <a:prstGeom prst="rect">
            <a:avLst/>
          </a:prstGeom>
          <a:noFill/>
          <a:ln/>
        </p:spPr>
        <p:txBody>
          <a:bodyPr wrap="square" lIns="0" tIns="0" rIns="0" bIns="0" rtlCol="0" anchor="t"/>
          <a:lstStyle/>
          <a:p>
            <a:pPr indent="0" marL="0">
              <a:buNone/>
            </a:pPr>
            <a:r>
              <a:rPr lang="en-US" sz="1000" dirty="0">
                <a:solidFill>
                  <a:srgbClr val="6B6862"/>
                </a:solidFill>
                <a:latin typeface="Arial" pitchFamily="34" charset="0"/>
                <a:ea typeface="Arial" pitchFamily="34" charset="-122"/>
                <a:cs typeface="Arial" pitchFamily="34" charset="-120"/>
              </a:rPr>
              <a:t>Instrument + matrix blanks strip colour and turbidity</a:t>
            </a:r>
            <a:endParaRPr lang="en-US" sz="1000" dirty="0"/>
          </a:p>
        </p:txBody>
      </p:sp>
      <p:sp>
        <p:nvSpPr>
          <p:cNvPr id="28" name="Shape 22"/>
          <p:cNvSpPr/>
          <p:nvPr/>
        </p:nvSpPr>
        <p:spPr>
          <a:xfrm>
            <a:off x="5504688" y="2331720"/>
            <a:ext cx="1170432" cy="3246120"/>
          </a:xfrm>
          <a:prstGeom prst="rect">
            <a:avLst/>
          </a:prstGeom>
          <a:ln w="12700">
            <a:solidFill>
              <a:srgbClr val="111111"/>
            </a:solidFill>
            <a:prstDash val="solid"/>
          </a:ln>
        </p:spPr>
      </p:sp>
      <p:sp>
        <p:nvSpPr>
          <p:cNvPr id="29" name="Text 23"/>
          <p:cNvSpPr txBox="1"/>
          <p:nvPr/>
        </p:nvSpPr>
        <p:spPr>
          <a:xfrm>
            <a:off x="5614416" y="2468880"/>
            <a:ext cx="548640" cy="274320"/>
          </a:xfrm>
          <a:prstGeom prst="rect">
            <a:avLst/>
          </a:prstGeom>
          <a:noFill/>
          <a:ln/>
        </p:spPr>
        <p:txBody>
          <a:bodyPr wrap="square" lIns="0" tIns="0" rIns="0" bIns="0" rtlCol="0" anchor="ctr"/>
          <a:lstStyle/>
          <a:p>
            <a:pPr indent="0" marL="0">
              <a:buNone/>
            </a:pPr>
            <a:r>
              <a:rPr lang="en-US" sz="1100" b="1" spc="100" kern="0" dirty="0">
                <a:solidFill>
                  <a:srgbClr val="111111"/>
                </a:solidFill>
                <a:latin typeface="Courier New" pitchFamily="34" charset="0"/>
                <a:ea typeface="Courier New" pitchFamily="34" charset="-122"/>
                <a:cs typeface="Courier New" pitchFamily="34" charset="-120"/>
              </a:rPr>
              <a:t>05</a:t>
            </a:r>
            <a:endParaRPr lang="en-US" sz="1100" dirty="0"/>
          </a:p>
        </p:txBody>
      </p:sp>
      <p:pic>
        <p:nvPicPr>
          <p:cNvPr id="30" name="Image 4" descr="preencoded.png">    </p:cNvPr>
          <p:cNvPicPr>
            <a:picLocks noChangeAspect="1"/>
          </p:cNvPicPr>
          <p:nvPr/>
        </p:nvPicPr>
        <p:blipFill>
          <a:blip r:embed="rId6"/>
          <a:stretch>
            <a:fillRect/>
          </a:stretch>
        </p:blipFill>
        <p:spPr>
          <a:xfrm>
            <a:off x="5614416" y="2880360"/>
            <a:ext cx="384048" cy="384048"/>
          </a:xfrm>
          <a:prstGeom prst="rect">
            <a:avLst/>
          </a:prstGeom>
        </p:spPr>
      </p:pic>
      <p:sp>
        <p:nvSpPr>
          <p:cNvPr id="31" name="Text 24"/>
          <p:cNvSpPr txBox="1"/>
          <p:nvPr/>
        </p:nvSpPr>
        <p:spPr>
          <a:xfrm>
            <a:off x="5614416" y="3429000"/>
            <a:ext cx="987552" cy="320040"/>
          </a:xfrm>
          <a:prstGeom prst="rect">
            <a:avLst/>
          </a:prstGeom>
          <a:noFill/>
          <a:ln/>
        </p:spPr>
        <p:txBody>
          <a:bodyPr wrap="square" lIns="0" tIns="0" rIns="0" bIns="0" rtlCol="0" anchor="ctr"/>
          <a:lstStyle/>
          <a:p>
            <a:pPr indent="0" marL="0">
              <a:buNone/>
            </a:pPr>
            <a:r>
              <a:rPr lang="en-US" sz="1150" dirty="0">
                <a:solidFill>
                  <a:srgbClr val="111111"/>
                </a:solidFill>
                <a:latin typeface="Arial Black" pitchFamily="34" charset="0"/>
                <a:ea typeface="Arial Black" pitchFamily="34" charset="-122"/>
                <a:cs typeface="Arial Black" pitchFamily="34" charset="-120"/>
              </a:rPr>
              <a:t>Physics</a:t>
            </a:r>
            <a:endParaRPr lang="en-US" sz="1150" dirty="0"/>
          </a:p>
        </p:txBody>
      </p:sp>
      <p:sp>
        <p:nvSpPr>
          <p:cNvPr id="32" name="Text 25"/>
          <p:cNvSpPr txBox="1"/>
          <p:nvPr/>
        </p:nvSpPr>
        <p:spPr>
          <a:xfrm>
            <a:off x="5614416" y="3813048"/>
            <a:ext cx="969264" cy="1645920"/>
          </a:xfrm>
          <a:prstGeom prst="rect">
            <a:avLst/>
          </a:prstGeom>
          <a:noFill/>
          <a:ln/>
        </p:spPr>
        <p:txBody>
          <a:bodyPr wrap="square" lIns="0" tIns="0" rIns="0" bIns="0" rtlCol="0" anchor="t"/>
          <a:lstStyle/>
          <a:p>
            <a:pPr indent="0" marL="0">
              <a:buNone/>
            </a:pPr>
            <a:r>
              <a:rPr lang="en-US" sz="1000" dirty="0">
                <a:solidFill>
                  <a:srgbClr val="6B6862"/>
                </a:solidFill>
                <a:latin typeface="Arial" pitchFamily="34" charset="0"/>
                <a:ea typeface="Arial" pitchFamily="34" charset="-122"/>
                <a:cs typeface="Arial" pitchFamily="34" charset="-120"/>
              </a:rPr>
              <a:t>Beer–Lambert on the 630–690 nm band</a:t>
            </a:r>
            <a:endParaRPr lang="en-US" sz="1000" dirty="0"/>
          </a:p>
        </p:txBody>
      </p:sp>
      <p:sp>
        <p:nvSpPr>
          <p:cNvPr id="33" name="Shape 26"/>
          <p:cNvSpPr/>
          <p:nvPr/>
        </p:nvSpPr>
        <p:spPr>
          <a:xfrm>
            <a:off x="6743700" y="2331720"/>
            <a:ext cx="1170432" cy="3246120"/>
          </a:xfrm>
          <a:prstGeom prst="rect">
            <a:avLst/>
          </a:prstGeom>
          <a:ln w="12700">
            <a:solidFill>
              <a:srgbClr val="111111"/>
            </a:solidFill>
            <a:prstDash val="solid"/>
          </a:ln>
        </p:spPr>
      </p:sp>
      <p:sp>
        <p:nvSpPr>
          <p:cNvPr id="34" name="Text 27"/>
          <p:cNvSpPr txBox="1"/>
          <p:nvPr/>
        </p:nvSpPr>
        <p:spPr>
          <a:xfrm>
            <a:off x="6853428" y="2468880"/>
            <a:ext cx="548640" cy="274320"/>
          </a:xfrm>
          <a:prstGeom prst="rect">
            <a:avLst/>
          </a:prstGeom>
          <a:noFill/>
          <a:ln/>
        </p:spPr>
        <p:txBody>
          <a:bodyPr wrap="square" lIns="0" tIns="0" rIns="0" bIns="0" rtlCol="0" anchor="ctr"/>
          <a:lstStyle/>
          <a:p>
            <a:pPr indent="0" marL="0">
              <a:buNone/>
            </a:pPr>
            <a:r>
              <a:rPr lang="en-US" sz="1100" b="1" spc="100" kern="0" dirty="0">
                <a:solidFill>
                  <a:srgbClr val="111111"/>
                </a:solidFill>
                <a:latin typeface="Courier New" pitchFamily="34" charset="0"/>
                <a:ea typeface="Courier New" pitchFamily="34" charset="-122"/>
                <a:cs typeface="Courier New" pitchFamily="34" charset="-120"/>
              </a:rPr>
              <a:t>06</a:t>
            </a:r>
            <a:endParaRPr lang="en-US" sz="1100" dirty="0"/>
          </a:p>
        </p:txBody>
      </p:sp>
      <p:pic>
        <p:nvPicPr>
          <p:cNvPr id="35" name="Image 5" descr="preencoded.png">    </p:cNvPr>
          <p:cNvPicPr>
            <a:picLocks noChangeAspect="1"/>
          </p:cNvPicPr>
          <p:nvPr/>
        </p:nvPicPr>
        <p:blipFill>
          <a:blip r:embed="rId7"/>
          <a:stretch>
            <a:fillRect/>
          </a:stretch>
        </p:blipFill>
        <p:spPr>
          <a:xfrm>
            <a:off x="6853428" y="2880360"/>
            <a:ext cx="384048" cy="384048"/>
          </a:xfrm>
          <a:prstGeom prst="rect">
            <a:avLst/>
          </a:prstGeom>
        </p:spPr>
      </p:pic>
      <p:sp>
        <p:nvSpPr>
          <p:cNvPr id="36" name="Text 28"/>
          <p:cNvSpPr txBox="1"/>
          <p:nvPr/>
        </p:nvSpPr>
        <p:spPr>
          <a:xfrm>
            <a:off x="6853428" y="3429000"/>
            <a:ext cx="987552" cy="320040"/>
          </a:xfrm>
          <a:prstGeom prst="rect">
            <a:avLst/>
          </a:prstGeom>
          <a:noFill/>
          <a:ln/>
        </p:spPr>
        <p:txBody>
          <a:bodyPr wrap="square" lIns="0" tIns="0" rIns="0" bIns="0" rtlCol="0" anchor="ctr"/>
          <a:lstStyle/>
          <a:p>
            <a:pPr indent="0" marL="0">
              <a:buNone/>
            </a:pPr>
            <a:r>
              <a:rPr lang="en-US" sz="1150" dirty="0">
                <a:solidFill>
                  <a:srgbClr val="111111"/>
                </a:solidFill>
                <a:latin typeface="Arial Black" pitchFamily="34" charset="0"/>
                <a:ea typeface="Arial Black" pitchFamily="34" charset="-122"/>
                <a:cs typeface="Arial Black" pitchFamily="34" charset="-120"/>
              </a:rPr>
              <a:t>Ridge</a:t>
            </a:r>
            <a:endParaRPr lang="en-US" sz="1150" dirty="0"/>
          </a:p>
        </p:txBody>
      </p:sp>
      <p:sp>
        <p:nvSpPr>
          <p:cNvPr id="37" name="Text 29"/>
          <p:cNvSpPr txBox="1"/>
          <p:nvPr/>
        </p:nvSpPr>
        <p:spPr>
          <a:xfrm>
            <a:off x="6853428" y="3813048"/>
            <a:ext cx="969264" cy="1645920"/>
          </a:xfrm>
          <a:prstGeom prst="rect">
            <a:avLst/>
          </a:prstGeom>
          <a:noFill/>
          <a:ln/>
        </p:spPr>
        <p:txBody>
          <a:bodyPr wrap="square" lIns="0" tIns="0" rIns="0" bIns="0" rtlCol="0" anchor="t"/>
          <a:lstStyle/>
          <a:p>
            <a:pPr indent="0" marL="0">
              <a:buNone/>
            </a:pPr>
            <a:r>
              <a:rPr lang="en-US" sz="1000" dirty="0">
                <a:solidFill>
                  <a:srgbClr val="6B6862"/>
                </a:solidFill>
                <a:latin typeface="Arial" pitchFamily="34" charset="0"/>
                <a:ea typeface="Arial" pitchFamily="34" charset="-122"/>
                <a:cs typeface="Arial" pitchFamily="34" charset="-120"/>
              </a:rPr>
              <a:t>Full 151-band L2 regression; best CV model wins</a:t>
            </a:r>
            <a:endParaRPr lang="en-US" sz="1000" dirty="0"/>
          </a:p>
        </p:txBody>
      </p:sp>
      <p:sp>
        <p:nvSpPr>
          <p:cNvPr id="38" name="Shape 30"/>
          <p:cNvSpPr/>
          <p:nvPr/>
        </p:nvSpPr>
        <p:spPr>
          <a:xfrm>
            <a:off x="7982712" y="2331720"/>
            <a:ext cx="1170432" cy="3246120"/>
          </a:xfrm>
          <a:prstGeom prst="rect">
            <a:avLst/>
          </a:prstGeom>
          <a:ln w="12700">
            <a:solidFill>
              <a:srgbClr val="111111"/>
            </a:solidFill>
            <a:prstDash val="solid"/>
          </a:ln>
        </p:spPr>
      </p:sp>
      <p:sp>
        <p:nvSpPr>
          <p:cNvPr id="39" name="Text 31"/>
          <p:cNvSpPr txBox="1"/>
          <p:nvPr/>
        </p:nvSpPr>
        <p:spPr>
          <a:xfrm>
            <a:off x="8092440" y="2468880"/>
            <a:ext cx="548640" cy="274320"/>
          </a:xfrm>
          <a:prstGeom prst="rect">
            <a:avLst/>
          </a:prstGeom>
          <a:noFill/>
          <a:ln/>
        </p:spPr>
        <p:txBody>
          <a:bodyPr wrap="square" lIns="0" tIns="0" rIns="0" bIns="0" rtlCol="0" anchor="ctr"/>
          <a:lstStyle/>
          <a:p>
            <a:pPr indent="0" marL="0">
              <a:buNone/>
            </a:pPr>
            <a:r>
              <a:rPr lang="en-US" sz="1100" b="1" spc="100" kern="0" dirty="0">
                <a:solidFill>
                  <a:srgbClr val="111111"/>
                </a:solidFill>
                <a:latin typeface="Courier New" pitchFamily="34" charset="0"/>
                <a:ea typeface="Courier New" pitchFamily="34" charset="-122"/>
                <a:cs typeface="Courier New" pitchFamily="34" charset="-120"/>
              </a:rPr>
              <a:t>07</a:t>
            </a:r>
            <a:endParaRPr lang="en-US" sz="1100" dirty="0"/>
          </a:p>
        </p:txBody>
      </p:sp>
      <p:pic>
        <p:nvPicPr>
          <p:cNvPr id="40" name="Image 6" descr="preencoded.png">    </p:cNvPr>
          <p:cNvPicPr>
            <a:picLocks noChangeAspect="1"/>
          </p:cNvPicPr>
          <p:nvPr/>
        </p:nvPicPr>
        <p:blipFill>
          <a:blip r:embed="rId8"/>
          <a:stretch>
            <a:fillRect/>
          </a:stretch>
        </p:blipFill>
        <p:spPr>
          <a:xfrm>
            <a:off x="8092440" y="2880360"/>
            <a:ext cx="384048" cy="384048"/>
          </a:xfrm>
          <a:prstGeom prst="rect">
            <a:avLst/>
          </a:prstGeom>
        </p:spPr>
      </p:pic>
      <p:sp>
        <p:nvSpPr>
          <p:cNvPr id="41" name="Text 32"/>
          <p:cNvSpPr txBox="1"/>
          <p:nvPr/>
        </p:nvSpPr>
        <p:spPr>
          <a:xfrm>
            <a:off x="8092440" y="3429000"/>
            <a:ext cx="987552" cy="320040"/>
          </a:xfrm>
          <a:prstGeom prst="rect">
            <a:avLst/>
          </a:prstGeom>
          <a:noFill/>
          <a:ln/>
        </p:spPr>
        <p:txBody>
          <a:bodyPr wrap="square" lIns="0" tIns="0" rIns="0" bIns="0" rtlCol="0" anchor="ctr"/>
          <a:lstStyle/>
          <a:p>
            <a:pPr indent="0" marL="0">
              <a:buNone/>
            </a:pPr>
            <a:r>
              <a:rPr lang="en-US" sz="1150" dirty="0">
                <a:solidFill>
                  <a:srgbClr val="111111"/>
                </a:solidFill>
                <a:latin typeface="Arial Black" pitchFamily="34" charset="0"/>
                <a:ea typeface="Arial Black" pitchFamily="34" charset="-122"/>
                <a:cs typeface="Arial Black" pitchFamily="34" charset="-120"/>
              </a:rPr>
              <a:t>Validate</a:t>
            </a:r>
            <a:endParaRPr lang="en-US" sz="1150" dirty="0"/>
          </a:p>
        </p:txBody>
      </p:sp>
      <p:sp>
        <p:nvSpPr>
          <p:cNvPr id="42" name="Text 33"/>
          <p:cNvSpPr txBox="1"/>
          <p:nvPr/>
        </p:nvSpPr>
        <p:spPr>
          <a:xfrm>
            <a:off x="8092440" y="3813048"/>
            <a:ext cx="969264" cy="1645920"/>
          </a:xfrm>
          <a:prstGeom prst="rect">
            <a:avLst/>
          </a:prstGeom>
          <a:noFill/>
          <a:ln/>
        </p:spPr>
        <p:txBody>
          <a:bodyPr wrap="square" lIns="0" tIns="0" rIns="0" bIns="0" rtlCol="0" anchor="t"/>
          <a:lstStyle/>
          <a:p>
            <a:pPr indent="0" marL="0">
              <a:buNone/>
            </a:pPr>
            <a:r>
              <a:rPr lang="en-US" sz="1000" dirty="0">
                <a:solidFill>
                  <a:srgbClr val="6B6862"/>
                </a:solidFill>
                <a:latin typeface="Arial" pitchFamily="34" charset="0"/>
                <a:ea typeface="Arial" pitchFamily="34" charset="-122"/>
                <a:cs typeface="Arial" pitchFamily="34" charset="-120"/>
              </a:rPr>
              <a:t>5 QC gates + Mahalanobis OOD</a:t>
            </a:r>
            <a:endParaRPr lang="en-US" sz="1000" dirty="0"/>
          </a:p>
        </p:txBody>
      </p:sp>
      <p:sp>
        <p:nvSpPr>
          <p:cNvPr id="43" name="Shape 34"/>
          <p:cNvSpPr/>
          <p:nvPr/>
        </p:nvSpPr>
        <p:spPr>
          <a:xfrm>
            <a:off x="9221724" y="2331720"/>
            <a:ext cx="1170432" cy="3246120"/>
          </a:xfrm>
          <a:prstGeom prst="rect">
            <a:avLst/>
          </a:prstGeom>
          <a:ln w="12700">
            <a:solidFill>
              <a:srgbClr val="111111"/>
            </a:solidFill>
            <a:prstDash val="solid"/>
          </a:ln>
        </p:spPr>
      </p:sp>
      <p:sp>
        <p:nvSpPr>
          <p:cNvPr id="44" name="Text 35"/>
          <p:cNvSpPr txBox="1"/>
          <p:nvPr/>
        </p:nvSpPr>
        <p:spPr>
          <a:xfrm>
            <a:off x="9331452" y="2468880"/>
            <a:ext cx="548640" cy="274320"/>
          </a:xfrm>
          <a:prstGeom prst="rect">
            <a:avLst/>
          </a:prstGeom>
          <a:noFill/>
          <a:ln/>
        </p:spPr>
        <p:txBody>
          <a:bodyPr wrap="square" lIns="0" tIns="0" rIns="0" bIns="0" rtlCol="0" anchor="ctr"/>
          <a:lstStyle/>
          <a:p>
            <a:pPr indent="0" marL="0">
              <a:buNone/>
            </a:pPr>
            <a:r>
              <a:rPr lang="en-US" sz="1100" b="1" spc="100" kern="0" dirty="0">
                <a:solidFill>
                  <a:srgbClr val="111111"/>
                </a:solidFill>
                <a:latin typeface="Courier New" pitchFamily="34" charset="0"/>
                <a:ea typeface="Courier New" pitchFamily="34" charset="-122"/>
                <a:cs typeface="Courier New" pitchFamily="34" charset="-120"/>
              </a:rPr>
              <a:t>08</a:t>
            </a:r>
            <a:endParaRPr lang="en-US" sz="1100" dirty="0"/>
          </a:p>
        </p:txBody>
      </p:sp>
      <p:pic>
        <p:nvPicPr>
          <p:cNvPr id="45" name="Image 7" descr="preencoded.png">    </p:cNvPr>
          <p:cNvPicPr>
            <a:picLocks noChangeAspect="1"/>
          </p:cNvPicPr>
          <p:nvPr/>
        </p:nvPicPr>
        <p:blipFill>
          <a:blip r:embed="rId9"/>
          <a:stretch>
            <a:fillRect/>
          </a:stretch>
        </p:blipFill>
        <p:spPr>
          <a:xfrm>
            <a:off x="9331452" y="2880360"/>
            <a:ext cx="384048" cy="384048"/>
          </a:xfrm>
          <a:prstGeom prst="rect">
            <a:avLst/>
          </a:prstGeom>
        </p:spPr>
      </p:pic>
      <p:sp>
        <p:nvSpPr>
          <p:cNvPr id="46" name="Text 36"/>
          <p:cNvSpPr txBox="1"/>
          <p:nvPr/>
        </p:nvSpPr>
        <p:spPr>
          <a:xfrm>
            <a:off x="9331452" y="3429000"/>
            <a:ext cx="987552" cy="320040"/>
          </a:xfrm>
          <a:prstGeom prst="rect">
            <a:avLst/>
          </a:prstGeom>
          <a:noFill/>
          <a:ln/>
        </p:spPr>
        <p:txBody>
          <a:bodyPr wrap="square" lIns="0" tIns="0" rIns="0" bIns="0" rtlCol="0" anchor="ctr"/>
          <a:lstStyle/>
          <a:p>
            <a:pPr indent="0" marL="0">
              <a:buNone/>
            </a:pPr>
            <a:r>
              <a:rPr lang="en-US" sz="1150" dirty="0">
                <a:solidFill>
                  <a:srgbClr val="111111"/>
                </a:solidFill>
                <a:latin typeface="Arial Black" pitchFamily="34" charset="0"/>
                <a:ea typeface="Arial Black" pitchFamily="34" charset="-122"/>
                <a:cs typeface="Arial Black" pitchFamily="34" charset="-120"/>
              </a:rPr>
              <a:t>Uncertainty</a:t>
            </a:r>
            <a:endParaRPr lang="en-US" sz="1150" dirty="0"/>
          </a:p>
        </p:txBody>
      </p:sp>
      <p:sp>
        <p:nvSpPr>
          <p:cNvPr id="47" name="Text 37"/>
          <p:cNvSpPr txBox="1"/>
          <p:nvPr/>
        </p:nvSpPr>
        <p:spPr>
          <a:xfrm>
            <a:off x="9331452" y="3813048"/>
            <a:ext cx="969264" cy="1645920"/>
          </a:xfrm>
          <a:prstGeom prst="rect">
            <a:avLst/>
          </a:prstGeom>
          <a:noFill/>
          <a:ln/>
        </p:spPr>
        <p:txBody>
          <a:bodyPr wrap="square" lIns="0" tIns="0" rIns="0" bIns="0" rtlCol="0" anchor="t"/>
          <a:lstStyle/>
          <a:p>
            <a:pPr indent="0" marL="0">
              <a:buNone/>
            </a:pPr>
            <a:r>
              <a:rPr lang="en-US" sz="1000" dirty="0">
                <a:solidFill>
                  <a:srgbClr val="6B6862"/>
                </a:solidFill>
                <a:latin typeface="Arial" pitchFamily="34" charset="0"/>
                <a:ea typeface="Arial" pitchFamily="34" charset="-122"/>
                <a:cs typeface="Arial" pitchFamily="34" charset="-120"/>
              </a:rPr>
              <a:t>95% interval: ± δ, never a bare number</a:t>
            </a:r>
            <a:endParaRPr lang="en-US" sz="1000" dirty="0"/>
          </a:p>
        </p:txBody>
      </p:sp>
      <p:sp>
        <p:nvSpPr>
          <p:cNvPr id="48" name="Shape 38"/>
          <p:cNvSpPr/>
          <p:nvPr/>
        </p:nvSpPr>
        <p:spPr>
          <a:xfrm>
            <a:off x="10460736" y="2331720"/>
            <a:ext cx="1170432" cy="3246120"/>
          </a:xfrm>
          <a:prstGeom prst="rect">
            <a:avLst/>
          </a:prstGeom>
          <a:solidFill>
            <a:srgbClr val="1F3AE0"/>
          </a:solidFill>
          <a:ln/>
        </p:spPr>
      </p:sp>
      <p:sp>
        <p:nvSpPr>
          <p:cNvPr id="49" name="Text 39"/>
          <p:cNvSpPr txBox="1"/>
          <p:nvPr/>
        </p:nvSpPr>
        <p:spPr>
          <a:xfrm>
            <a:off x="10570464" y="2468880"/>
            <a:ext cx="548640" cy="274320"/>
          </a:xfrm>
          <a:prstGeom prst="rect">
            <a:avLst/>
          </a:prstGeom>
          <a:noFill/>
          <a:ln/>
        </p:spPr>
        <p:txBody>
          <a:bodyPr wrap="square" lIns="0" tIns="0" rIns="0" bIns="0" rtlCol="0" anchor="ctr"/>
          <a:lstStyle/>
          <a:p>
            <a:pPr indent="0" marL="0">
              <a:buNone/>
            </a:pPr>
            <a:r>
              <a:rPr lang="en-US" sz="1100" b="1" spc="100" kern="0" dirty="0">
                <a:solidFill>
                  <a:srgbClr val="FFFFFF"/>
                </a:solidFill>
                <a:latin typeface="Courier New" pitchFamily="34" charset="0"/>
                <a:ea typeface="Courier New" pitchFamily="34" charset="-122"/>
                <a:cs typeface="Courier New" pitchFamily="34" charset="-120"/>
              </a:rPr>
              <a:t>09</a:t>
            </a:r>
            <a:endParaRPr lang="en-US" sz="1100" dirty="0"/>
          </a:p>
        </p:txBody>
      </p:sp>
      <p:pic>
        <p:nvPicPr>
          <p:cNvPr id="50" name="Image 8" descr="preencoded.png">    </p:cNvPr>
          <p:cNvPicPr>
            <a:picLocks noChangeAspect="1"/>
          </p:cNvPicPr>
          <p:nvPr/>
        </p:nvPicPr>
        <p:blipFill>
          <a:blip r:embed="rId10"/>
          <a:stretch>
            <a:fillRect/>
          </a:stretch>
        </p:blipFill>
        <p:spPr>
          <a:xfrm>
            <a:off x="10570464" y="2880360"/>
            <a:ext cx="384048" cy="384048"/>
          </a:xfrm>
          <a:prstGeom prst="rect">
            <a:avLst/>
          </a:prstGeom>
        </p:spPr>
      </p:pic>
      <p:sp>
        <p:nvSpPr>
          <p:cNvPr id="51" name="Text 40"/>
          <p:cNvSpPr txBox="1"/>
          <p:nvPr/>
        </p:nvSpPr>
        <p:spPr>
          <a:xfrm>
            <a:off x="10570464" y="3429000"/>
            <a:ext cx="987552" cy="320040"/>
          </a:xfrm>
          <a:prstGeom prst="rect">
            <a:avLst/>
          </a:prstGeom>
          <a:noFill/>
          <a:ln/>
        </p:spPr>
        <p:txBody>
          <a:bodyPr wrap="square" lIns="0" tIns="0" rIns="0" bIns="0" rtlCol="0" anchor="ctr"/>
          <a:lstStyle/>
          <a:p>
            <a:pPr indent="0" marL="0">
              <a:buNone/>
            </a:pPr>
            <a:r>
              <a:rPr lang="en-US" sz="1150" dirty="0">
                <a:solidFill>
                  <a:srgbClr val="FFFFFF"/>
                </a:solidFill>
                <a:latin typeface="Arial Black" pitchFamily="34" charset="0"/>
                <a:ea typeface="Arial Black" pitchFamily="34" charset="-122"/>
                <a:cs typeface="Arial Black" pitchFamily="34" charset="-120"/>
              </a:rPr>
              <a:t>Verdict</a:t>
            </a:r>
            <a:endParaRPr lang="en-US" sz="1150" dirty="0"/>
          </a:p>
        </p:txBody>
      </p:sp>
      <p:sp>
        <p:nvSpPr>
          <p:cNvPr id="52" name="Text 41"/>
          <p:cNvSpPr txBox="1"/>
          <p:nvPr/>
        </p:nvSpPr>
        <p:spPr>
          <a:xfrm>
            <a:off x="10570464" y="3813048"/>
            <a:ext cx="969264" cy="164592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SAFE / CAUTION / ALERT / REJECTED</a:t>
            </a:r>
            <a:endParaRPr lang="en-US" sz="1000" dirty="0"/>
          </a:p>
        </p:txBody>
      </p:sp>
      <p:sp>
        <p:nvSpPr>
          <p:cNvPr id="53" name="Text 42"/>
          <p:cNvSpPr txBox="1"/>
          <p:nvPr/>
        </p:nvSpPr>
        <p:spPr>
          <a:xfrm>
            <a:off x="548640" y="5806440"/>
            <a:ext cx="2651760" cy="365760"/>
          </a:xfrm>
          <a:prstGeom prst="rect">
            <a:avLst/>
          </a:prstGeom>
          <a:noFill/>
          <a:ln w="9525">
            <a:solidFill>
              <a:srgbClr val="111111"/>
            </a:solidFill>
          </a:ln>
        </p:spPr>
        <p:txBody>
          <a:bodyPr wrap="square" lIns="0" tIns="0" rIns="0" bIns="0" rtlCol="0" anchor="ctr"/>
          <a:lstStyle/>
          <a:p>
            <a:pPr algn="ctr" indent="0" marL="0">
              <a:buNone/>
            </a:pPr>
            <a:r>
              <a:rPr lang="en-US" sz="950" b="1" dirty="0">
                <a:solidFill>
                  <a:srgbClr val="111111"/>
                </a:solidFill>
                <a:latin typeface="Courier New" pitchFamily="34" charset="0"/>
                <a:ea typeface="Courier New" pitchFamily="34" charset="-122"/>
                <a:cs typeface="Courier New" pitchFamily="34" charset="-120"/>
              </a:rPr>
              <a:t>&lt; 50 MS PER SCAN</a:t>
            </a:r>
            <a:endParaRPr lang="en-US" sz="950" dirty="0"/>
          </a:p>
        </p:txBody>
      </p:sp>
      <p:sp>
        <p:nvSpPr>
          <p:cNvPr id="54" name="Text 43"/>
          <p:cNvSpPr txBox="1"/>
          <p:nvPr/>
        </p:nvSpPr>
        <p:spPr>
          <a:xfrm>
            <a:off x="3337560" y="5806440"/>
            <a:ext cx="2651760" cy="365760"/>
          </a:xfrm>
          <a:prstGeom prst="rect">
            <a:avLst/>
          </a:prstGeom>
          <a:noFill/>
          <a:ln w="9525">
            <a:solidFill>
              <a:srgbClr val="111111"/>
            </a:solidFill>
          </a:ln>
        </p:spPr>
        <p:txBody>
          <a:bodyPr wrap="square" lIns="0" tIns="0" rIns="0" bIns="0" rtlCol="0" anchor="ctr"/>
          <a:lstStyle/>
          <a:p>
            <a:pPr algn="ctr" indent="0" marL="0">
              <a:buNone/>
            </a:pPr>
            <a:r>
              <a:rPr lang="en-US" sz="950" b="1" dirty="0">
                <a:solidFill>
                  <a:srgbClr val="111111"/>
                </a:solidFill>
                <a:latin typeface="Courier New" pitchFamily="34" charset="0"/>
                <a:ea typeface="Courier New" pitchFamily="34" charset="-122"/>
                <a:cs typeface="Courier New" pitchFamily="34" charset="-120"/>
              </a:rPr>
              <a:t>100% ON-DEVICE</a:t>
            </a:r>
            <a:endParaRPr lang="en-US" sz="950" dirty="0"/>
          </a:p>
        </p:txBody>
      </p:sp>
      <p:sp>
        <p:nvSpPr>
          <p:cNvPr id="55" name="Text 44"/>
          <p:cNvSpPr txBox="1"/>
          <p:nvPr/>
        </p:nvSpPr>
        <p:spPr>
          <a:xfrm>
            <a:off x="6126480" y="5806440"/>
            <a:ext cx="2651760" cy="365760"/>
          </a:xfrm>
          <a:prstGeom prst="rect">
            <a:avLst/>
          </a:prstGeom>
          <a:noFill/>
          <a:ln w="9525">
            <a:solidFill>
              <a:srgbClr val="111111"/>
            </a:solidFill>
          </a:ln>
        </p:spPr>
        <p:txBody>
          <a:bodyPr wrap="square" lIns="0" tIns="0" rIns="0" bIns="0" rtlCol="0" anchor="ctr"/>
          <a:lstStyle/>
          <a:p>
            <a:pPr algn="ctr" indent="0" marL="0">
              <a:buNone/>
            </a:pPr>
            <a:r>
              <a:rPr lang="en-US" sz="950" b="1" dirty="0">
                <a:solidFill>
                  <a:srgbClr val="111111"/>
                </a:solidFill>
                <a:latin typeface="Courier New" pitchFamily="34" charset="0"/>
                <a:ea typeface="Courier New" pitchFamily="34" charset="-122"/>
                <a:cs typeface="Courier New" pitchFamily="34" charset="-120"/>
              </a:rPr>
              <a:t>DETERMINISTIC, SEEDED</a:t>
            </a:r>
            <a:endParaRPr lang="en-US" sz="950" dirty="0"/>
          </a:p>
        </p:txBody>
      </p:sp>
      <p:sp>
        <p:nvSpPr>
          <p:cNvPr id="56" name="Text 45"/>
          <p:cNvSpPr txBox="1"/>
          <p:nvPr/>
        </p:nvSpPr>
        <p:spPr>
          <a:xfrm>
            <a:off x="8915400" y="5806440"/>
            <a:ext cx="2651760" cy="365760"/>
          </a:xfrm>
          <a:prstGeom prst="rect">
            <a:avLst/>
          </a:prstGeom>
          <a:noFill/>
          <a:ln w="9525">
            <a:solidFill>
              <a:srgbClr val="111111"/>
            </a:solidFill>
          </a:ln>
        </p:spPr>
        <p:txBody>
          <a:bodyPr wrap="square" lIns="0" tIns="0" rIns="0" bIns="0" rtlCol="0" anchor="ctr"/>
          <a:lstStyle/>
          <a:p>
            <a:pPr algn="ctr" indent="0" marL="0">
              <a:buNone/>
            </a:pPr>
            <a:r>
              <a:rPr lang="en-US" sz="950" b="1" dirty="0">
                <a:solidFill>
                  <a:srgbClr val="111111"/>
                </a:solidFill>
                <a:latin typeface="Courier New" pitchFamily="34" charset="0"/>
                <a:ea typeface="Courier New" pitchFamily="34" charset="-122"/>
                <a:cs typeface="Courier New" pitchFamily="34" charset="-120"/>
              </a:rPr>
              <a:t>EVERY RESULT BADGED WITH ITS SOURCE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000" b="1" spc="200" kern="0" dirty="0">
                <a:solidFill>
                  <a:srgbClr val="111111"/>
                </a:solidFill>
                <a:latin typeface="Courier New" pitchFamily="34" charset="0"/>
                <a:ea typeface="Courier New" pitchFamily="34" charset="-122"/>
                <a:cs typeface="Courier New" pitchFamily="34" charset="-120"/>
              </a:rPr>
              <a:t>12 — INTELLIGENCE LAYER</a:t>
            </a:r>
            <a:endParaRPr lang="en-US" sz="1000" dirty="0"/>
          </a:p>
        </p:txBody>
      </p:sp>
      <p:sp>
        <p:nvSpPr>
          <p:cNvPr id="3" name="Text 1"/>
          <p:cNvSpPr txBox="1"/>
          <p:nvPr/>
        </p:nvSpPr>
        <p:spPr>
          <a:xfrm>
            <a:off x="6156655" y="292608"/>
            <a:ext cx="5486400" cy="274320"/>
          </a:xfrm>
          <a:prstGeom prst="rect">
            <a:avLst/>
          </a:prstGeom>
          <a:noFill/>
          <a:ln/>
        </p:spPr>
        <p:txBody>
          <a:bodyPr wrap="square" lIns="0" tIns="0" rIns="0" bIns="0" rtlCol="0" anchor="ctr"/>
          <a:lstStyle/>
          <a:p>
            <a:pPr algn="r" indent="0" marL="0">
              <a:buNone/>
            </a:pPr>
            <a:r>
              <a:rPr lang="en-US" sz="900" spc="200" kern="0" dirty="0">
                <a:solidFill>
                  <a:srgbClr val="6B6862"/>
                </a:solidFill>
                <a:latin typeface="Courier New" pitchFamily="34" charset="0"/>
                <a:ea typeface="Courier New" pitchFamily="34" charset="-122"/>
                <a:cs typeface="Courier New" pitchFamily="34" charset="-120"/>
              </a:rPr>
              <a:t>LISA  /  ASHOKA STARTUP CHALLENGE 2026</a:t>
            </a:r>
            <a:endParaRPr lang="en-US" sz="900" dirty="0"/>
          </a:p>
        </p:txBody>
      </p:sp>
      <p:sp>
        <p:nvSpPr>
          <p:cNvPr id="4"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900" dirty="0">
                <a:solidFill>
                  <a:srgbClr val="6B6862"/>
                </a:solidFill>
                <a:latin typeface="Courier New" pitchFamily="34" charset="0"/>
                <a:ea typeface="Courier New" pitchFamily="34" charset="-122"/>
                <a:cs typeface="Courier New" pitchFamily="34" charset="-120"/>
              </a:rPr>
              <a:t>12 / 24</a:t>
            </a:r>
            <a:endParaRPr lang="en-US" sz="900" dirty="0"/>
          </a:p>
        </p:txBody>
      </p:sp>
      <p:sp>
        <p:nvSpPr>
          <p:cNvPr id="5" name="Shape 3"/>
          <p:cNvSpPr/>
          <p:nvPr/>
        </p:nvSpPr>
        <p:spPr>
          <a:xfrm>
            <a:off x="210312" y="6583680"/>
            <a:ext cx="164592" cy="0"/>
          </a:xfrm>
          <a:prstGeom prst="line">
            <a:avLst/>
          </a:prstGeom>
          <a:noFill/>
          <a:ln w="9525">
            <a:solidFill>
              <a:srgbClr val="111111"/>
            </a:solidFill>
            <a:prstDash val="solid"/>
          </a:ln>
        </p:spPr>
      </p:sp>
      <p:sp>
        <p:nvSpPr>
          <p:cNvPr id="6" name="Shape 4"/>
          <p:cNvSpPr/>
          <p:nvPr/>
        </p:nvSpPr>
        <p:spPr>
          <a:xfrm>
            <a:off x="292608" y="6501384"/>
            <a:ext cx="0" cy="164592"/>
          </a:xfrm>
          <a:prstGeom prst="line">
            <a:avLst/>
          </a:prstGeom>
          <a:noFill/>
          <a:ln w="9525">
            <a:solidFill>
              <a:srgbClr val="111111"/>
            </a:solidFill>
            <a:prstDash val="solid"/>
          </a:ln>
        </p:spPr>
      </p:sp>
      <p:sp>
        <p:nvSpPr>
          <p:cNvPr id="7" name="Text 5"/>
          <p:cNvSpPr txBox="1"/>
          <p:nvPr/>
        </p:nvSpPr>
        <p:spPr>
          <a:xfrm>
            <a:off x="548640" y="685800"/>
            <a:ext cx="5943600" cy="1280160"/>
          </a:xfrm>
          <a:prstGeom prst="rect">
            <a:avLst/>
          </a:prstGeom>
          <a:noFill/>
          <a:ln/>
        </p:spPr>
        <p:txBody>
          <a:bodyPr wrap="square" lIns="0" tIns="0" rIns="0" bIns="0" rtlCol="0" anchor="t"/>
          <a:lstStyle/>
          <a:p>
            <a:pPr indent="0" marL="0">
              <a:lnSpc>
                <a:spcPct val="92000"/>
              </a:lnSpc>
              <a:buNone/>
            </a:pPr>
            <a:r>
              <a:rPr lang="en-US" sz="3000" dirty="0">
                <a:solidFill>
                  <a:srgbClr val="111111"/>
                </a:solidFill>
                <a:latin typeface="Arial Black" pitchFamily="34" charset="0"/>
                <a:ea typeface="Arial Black" pitchFamily="34" charset="-122"/>
                <a:cs typeface="Arial Black" pitchFamily="34" charset="-120"/>
              </a:rPr>
              <a:t>Two models compete.</a:t>
            </a:r>
            <a:pPr indent="0" marL="0">
              <a:lnSpc>
                <a:spcPct val="92000"/>
              </a:lnSpc>
              <a:buNone/>
            </a:pPr>
            <a:endParaRPr lang="en-US" sz="3000" dirty="0"/>
          </a:p>
          <a:p>
            <a:pPr indent="0" marL="0">
              <a:lnSpc>
                <a:spcPct val="92000"/>
              </a:lnSpc>
              <a:buNone/>
            </a:pPr>
            <a:r>
              <a:rPr lang="en-US" sz="3000" dirty="0">
                <a:solidFill>
                  <a:srgbClr val="1F3AE0"/>
                </a:solidFill>
                <a:latin typeface="Arial Black" pitchFamily="34" charset="0"/>
                <a:ea typeface="Arial Black" pitchFamily="34" charset="-122"/>
                <a:cs typeface="Arial Black" pitchFamily="34" charset="-120"/>
              </a:rPr>
              <a:t>Data picks the winner.</a:t>
            </a:r>
            <a:endParaRPr lang="en-US" sz="3000" dirty="0"/>
          </a:p>
        </p:txBody>
      </p:sp>
      <p:sp>
        <p:nvSpPr>
          <p:cNvPr id="8" name="Shape 6"/>
          <p:cNvSpPr/>
          <p:nvPr/>
        </p:nvSpPr>
        <p:spPr>
          <a:xfrm>
            <a:off x="548640" y="2286000"/>
            <a:ext cx="5760720" cy="1691640"/>
          </a:xfrm>
          <a:prstGeom prst="rect">
            <a:avLst/>
          </a:prstGeom>
          <a:ln w="12700">
            <a:solidFill>
              <a:srgbClr val="111111"/>
            </a:solidFill>
            <a:prstDash val="solid"/>
          </a:ln>
        </p:spPr>
      </p:sp>
      <p:sp>
        <p:nvSpPr>
          <p:cNvPr id="9" name="Text 7"/>
          <p:cNvSpPr txBox="1"/>
          <p:nvPr/>
        </p:nvSpPr>
        <p:spPr>
          <a:xfrm>
            <a:off x="777240" y="2468880"/>
            <a:ext cx="1828800" cy="274320"/>
          </a:xfrm>
          <a:prstGeom prst="rect">
            <a:avLst/>
          </a:prstGeom>
          <a:noFill/>
          <a:ln/>
        </p:spPr>
        <p:txBody>
          <a:bodyPr wrap="square" lIns="0" tIns="0" rIns="0" bIns="0" rtlCol="0" anchor="ctr"/>
          <a:lstStyle/>
          <a:p>
            <a:pPr indent="0" marL="0">
              <a:buNone/>
            </a:pPr>
            <a:r>
              <a:rPr lang="en-US" sz="1000" b="1" spc="100" kern="0" dirty="0">
                <a:solidFill>
                  <a:srgbClr val="1F3AE0"/>
                </a:solidFill>
                <a:latin typeface="Courier New" pitchFamily="34" charset="0"/>
                <a:ea typeface="Courier New" pitchFamily="34" charset="-122"/>
                <a:cs typeface="Courier New" pitchFamily="34" charset="-120"/>
              </a:rPr>
              <a:t>MODEL A</a:t>
            </a:r>
            <a:endParaRPr lang="en-US" sz="1000" dirty="0"/>
          </a:p>
        </p:txBody>
      </p:sp>
      <p:sp>
        <p:nvSpPr>
          <p:cNvPr id="10" name="Text 8"/>
          <p:cNvSpPr txBox="1"/>
          <p:nvPr/>
        </p:nvSpPr>
        <p:spPr>
          <a:xfrm>
            <a:off x="777240" y="2743200"/>
            <a:ext cx="2926080" cy="411480"/>
          </a:xfrm>
          <a:prstGeom prst="rect">
            <a:avLst/>
          </a:prstGeom>
          <a:noFill/>
          <a:ln/>
        </p:spPr>
        <p:txBody>
          <a:bodyPr wrap="square" lIns="0" tIns="0" rIns="0" bIns="0" rtlCol="0" anchor="ctr"/>
          <a:lstStyle/>
          <a:p>
            <a:pPr indent="0" marL="0">
              <a:buNone/>
            </a:pPr>
            <a:r>
              <a:rPr lang="en-US" sz="1700" dirty="0">
                <a:solidFill>
                  <a:srgbClr val="111111"/>
                </a:solidFill>
                <a:latin typeface="Arial Black" pitchFamily="34" charset="0"/>
                <a:ea typeface="Arial Black" pitchFamily="34" charset="-122"/>
                <a:cs typeface="Arial Black" pitchFamily="34" charset="-120"/>
              </a:rPr>
              <a:t>Beer–Lambert</a:t>
            </a:r>
            <a:endParaRPr lang="en-US" sz="1700" dirty="0"/>
          </a:p>
        </p:txBody>
      </p:sp>
      <p:sp>
        <p:nvSpPr>
          <p:cNvPr id="11" name="Text 9"/>
          <p:cNvSpPr txBox="1"/>
          <p:nvPr/>
        </p:nvSpPr>
        <p:spPr>
          <a:xfrm>
            <a:off x="3657600" y="2743200"/>
            <a:ext cx="2514600" cy="411480"/>
          </a:xfrm>
          <a:prstGeom prst="rect">
            <a:avLst/>
          </a:prstGeom>
          <a:noFill/>
          <a:ln/>
        </p:spPr>
        <p:txBody>
          <a:bodyPr wrap="square" lIns="0" tIns="0" rIns="0" bIns="0" rtlCol="0" anchor="ctr"/>
          <a:lstStyle/>
          <a:p>
            <a:pPr algn="r" indent="0" marL="0">
              <a:buNone/>
            </a:pPr>
            <a:r>
              <a:rPr lang="en-US" sz="1200" b="1" dirty="0">
                <a:solidFill>
                  <a:srgbClr val="111111"/>
                </a:solidFill>
                <a:latin typeface="Courier New" pitchFamily="34" charset="0"/>
                <a:ea typeface="Courier New" pitchFamily="34" charset="-122"/>
                <a:cs typeface="Courier New" pitchFamily="34" charset="-120"/>
              </a:rPr>
              <a:t>A_band = k·c + b</a:t>
            </a:r>
            <a:endParaRPr lang="en-US" sz="1200" dirty="0"/>
          </a:p>
        </p:txBody>
      </p:sp>
      <p:sp>
        <p:nvSpPr>
          <p:cNvPr id="12" name="Text 10"/>
          <p:cNvSpPr txBox="1"/>
          <p:nvPr/>
        </p:nvSpPr>
        <p:spPr>
          <a:xfrm>
            <a:off x="777240" y="3246120"/>
            <a:ext cx="5303520" cy="640080"/>
          </a:xfrm>
          <a:prstGeom prst="rect">
            <a:avLst/>
          </a:prstGeom>
          <a:noFill/>
          <a:ln/>
        </p:spPr>
        <p:txBody>
          <a:bodyPr wrap="square" lIns="0" tIns="0" rIns="0" bIns="0" rtlCol="0" anchor="t"/>
          <a:lstStyle/>
          <a:p>
            <a:pPr indent="0" marL="0">
              <a:buNone/>
            </a:pPr>
            <a:r>
              <a:rPr lang="en-US" sz="1200" dirty="0">
                <a:solidFill>
                  <a:srgbClr val="6B6862"/>
                </a:solidFill>
                <a:latin typeface="Arial" pitchFamily="34" charset="0"/>
                <a:ea typeface="Arial" pitchFamily="34" charset="-122"/>
                <a:cs typeface="Arial" pitchFamily="34" charset="-120"/>
              </a:rPr>
              <a:t>One chromophore band. Transparent, auditable, the chemist’s baseline.</a:t>
            </a:r>
            <a:endParaRPr lang="en-US" sz="1200" dirty="0"/>
          </a:p>
        </p:txBody>
      </p:sp>
      <p:sp>
        <p:nvSpPr>
          <p:cNvPr id="13" name="Shape 11"/>
          <p:cNvSpPr/>
          <p:nvPr/>
        </p:nvSpPr>
        <p:spPr>
          <a:xfrm>
            <a:off x="548640" y="4160520"/>
            <a:ext cx="5760720" cy="1691640"/>
          </a:xfrm>
          <a:prstGeom prst="rect">
            <a:avLst/>
          </a:prstGeom>
          <a:solidFill>
            <a:srgbClr val="111111"/>
          </a:solidFill>
          <a:ln/>
        </p:spPr>
      </p:sp>
      <p:sp>
        <p:nvSpPr>
          <p:cNvPr id="14" name="Text 12"/>
          <p:cNvSpPr txBox="1"/>
          <p:nvPr/>
        </p:nvSpPr>
        <p:spPr>
          <a:xfrm>
            <a:off x="777240" y="4343400"/>
            <a:ext cx="1828800" cy="274320"/>
          </a:xfrm>
          <a:prstGeom prst="rect">
            <a:avLst/>
          </a:prstGeom>
          <a:noFill/>
          <a:ln/>
        </p:spPr>
        <p:txBody>
          <a:bodyPr wrap="square" lIns="0" tIns="0" rIns="0" bIns="0" rtlCol="0" anchor="ctr"/>
          <a:lstStyle/>
          <a:p>
            <a:pPr indent="0" marL="0">
              <a:buNone/>
            </a:pPr>
            <a:r>
              <a:rPr lang="en-US" sz="1000" b="1" spc="100" kern="0" dirty="0">
                <a:solidFill>
                  <a:srgbClr val="8FA1FF"/>
                </a:solidFill>
                <a:latin typeface="Courier New" pitchFamily="34" charset="0"/>
                <a:ea typeface="Courier New" pitchFamily="34" charset="-122"/>
                <a:cs typeface="Courier New" pitchFamily="34" charset="-120"/>
              </a:rPr>
              <a:t>MODEL B</a:t>
            </a:r>
            <a:endParaRPr lang="en-US" sz="1000" dirty="0"/>
          </a:p>
        </p:txBody>
      </p:sp>
      <p:sp>
        <p:nvSpPr>
          <p:cNvPr id="15" name="Text 13"/>
          <p:cNvSpPr txBox="1"/>
          <p:nvPr/>
        </p:nvSpPr>
        <p:spPr>
          <a:xfrm>
            <a:off x="777240" y="4617720"/>
            <a:ext cx="2926080" cy="411480"/>
          </a:xfrm>
          <a:prstGeom prst="rect">
            <a:avLst/>
          </a:prstGeom>
          <a:noFill/>
          <a:ln/>
        </p:spPr>
        <p:txBody>
          <a:bodyPr wrap="square" lIns="0" tIns="0" rIns="0" bIns="0" rtlCol="0" anchor="ctr"/>
          <a:lstStyle/>
          <a:p>
            <a:pPr indent="0" marL="0">
              <a:buNone/>
            </a:pPr>
            <a:r>
              <a:rPr lang="en-US" sz="1700" dirty="0">
                <a:solidFill>
                  <a:srgbClr val="FFFFFF"/>
                </a:solidFill>
                <a:latin typeface="Arial Black" pitchFamily="34" charset="0"/>
                <a:ea typeface="Arial Black" pitchFamily="34" charset="-122"/>
                <a:cs typeface="Arial Black" pitchFamily="34" charset="-120"/>
              </a:rPr>
              <a:t>Full-spectrum Ridge</a:t>
            </a:r>
            <a:endParaRPr lang="en-US" sz="1700" dirty="0"/>
          </a:p>
        </p:txBody>
      </p:sp>
      <p:sp>
        <p:nvSpPr>
          <p:cNvPr id="16" name="Text 14"/>
          <p:cNvSpPr txBox="1"/>
          <p:nvPr/>
        </p:nvSpPr>
        <p:spPr>
          <a:xfrm>
            <a:off x="3657600" y="4617720"/>
            <a:ext cx="2514600" cy="411480"/>
          </a:xfrm>
          <a:prstGeom prst="rect">
            <a:avLst/>
          </a:prstGeom>
          <a:noFill/>
          <a:ln/>
        </p:spPr>
        <p:txBody>
          <a:bodyPr wrap="square" lIns="0" tIns="0" rIns="0" bIns="0" rtlCol="0" anchor="ctr"/>
          <a:lstStyle/>
          <a:p>
            <a:pPr algn="r" indent="0" marL="0">
              <a:buNone/>
            </a:pPr>
            <a:r>
              <a:rPr lang="en-US" sz="1200" b="1" dirty="0">
                <a:solidFill>
                  <a:srgbClr val="FFFFFF"/>
                </a:solidFill>
                <a:latin typeface="Courier New" pitchFamily="34" charset="0"/>
                <a:ea typeface="Courier New" pitchFamily="34" charset="-122"/>
                <a:cs typeface="Courier New" pitchFamily="34" charset="-120"/>
              </a:rPr>
              <a:t>ŵ = (XᵀX + αI)⁻¹ Xᵀy</a:t>
            </a:r>
            <a:endParaRPr lang="en-US" sz="1200" dirty="0"/>
          </a:p>
        </p:txBody>
      </p:sp>
      <p:sp>
        <p:nvSpPr>
          <p:cNvPr id="17" name="Text 15"/>
          <p:cNvSpPr txBox="1"/>
          <p:nvPr/>
        </p:nvSpPr>
        <p:spPr>
          <a:xfrm>
            <a:off x="777240" y="5120640"/>
            <a:ext cx="5303520" cy="640080"/>
          </a:xfrm>
          <a:prstGeom prst="rect">
            <a:avLst/>
          </a:prstGeom>
          <a:noFill/>
          <a:ln/>
        </p:spPr>
        <p:txBody>
          <a:bodyPr wrap="square" lIns="0" tIns="0" rIns="0" bIns="0" rtlCol="0" anchor="t"/>
          <a:lstStyle/>
          <a:p>
            <a:pPr indent="0" marL="0">
              <a:buNone/>
            </a:pPr>
            <a:r>
              <a:rPr lang="en-US" sz="1200" dirty="0">
                <a:solidFill>
                  <a:srgbClr val="D0CCC4"/>
                </a:solidFill>
                <a:latin typeface="Arial" pitchFamily="34" charset="0"/>
                <a:ea typeface="Arial" pitchFamily="34" charset="-122"/>
                <a:cs typeface="Arial" pitchFamily="34" charset="-120"/>
              </a:rPr>
              <a:t>All 151 bands, L2-regularised. Absorbs baseline skew, scatter and mild interferents.</a:t>
            </a:r>
            <a:endParaRPr lang="en-US" sz="1200" dirty="0"/>
          </a:p>
        </p:txBody>
      </p:sp>
      <p:sp>
        <p:nvSpPr>
          <p:cNvPr id="18" name="Shape 16"/>
          <p:cNvSpPr/>
          <p:nvPr/>
        </p:nvSpPr>
        <p:spPr>
          <a:xfrm>
            <a:off x="6675120" y="868680"/>
            <a:ext cx="4983480" cy="5257800"/>
          </a:xfrm>
          <a:prstGeom prst="rect">
            <a:avLst/>
          </a:prstGeom>
          <a:solidFill>
            <a:srgbClr val="F7F6F3"/>
          </a:solidFill>
          <a:ln w="9525">
            <a:solidFill>
              <a:srgbClr val="111111"/>
            </a:solidFill>
            <a:prstDash val="solid"/>
          </a:ln>
        </p:spPr>
      </p:sp>
      <p:sp>
        <p:nvSpPr>
          <p:cNvPr id="19" name="Text 17"/>
          <p:cNvSpPr txBox="1"/>
          <p:nvPr/>
        </p:nvSpPr>
        <p:spPr>
          <a:xfrm>
            <a:off x="6903720" y="1051560"/>
            <a:ext cx="4663440" cy="457200"/>
          </a:xfrm>
          <a:prstGeom prst="rect">
            <a:avLst/>
          </a:prstGeom>
          <a:noFill/>
          <a:ln/>
        </p:spPr>
        <p:txBody>
          <a:bodyPr wrap="square" lIns="0" tIns="0" rIns="0" bIns="0" rtlCol="0" anchor="ctr"/>
          <a:lstStyle/>
          <a:p>
            <a:pPr indent="0" marL="0">
              <a:buNone/>
            </a:pPr>
            <a:r>
              <a:rPr lang="en-US" sz="900" b="1" spc="100" kern="0" dirty="0">
                <a:solidFill>
                  <a:srgbClr val="111111"/>
                </a:solidFill>
                <a:latin typeface="Courier New" pitchFamily="34" charset="0"/>
                <a:ea typeface="Courier New" pitchFamily="34" charset="-122"/>
                <a:cs typeface="Courier New" pitchFamily="34" charset="-120"/>
              </a:rPr>
              <a:t>FIG. 12 — GROUPED CROSS-VALIDATION RMSE (mg/L)</a:t>
            </a:r>
            <a:endParaRPr lang="en-US" sz="900" dirty="0"/>
          </a:p>
          <a:p>
            <a:pPr indent="0" marL="0">
              <a:buNone/>
            </a:pPr>
            <a:r>
              <a:rPr lang="en-US" sz="900" b="1" spc="100" kern="0" dirty="0">
                <a:solidFill>
                  <a:srgbClr val="111111"/>
                </a:solidFill>
                <a:latin typeface="Courier New" pitchFamily="34" charset="0"/>
                <a:ea typeface="Courier New" pitchFamily="34" charset="-122"/>
                <a:cs typeface="Courier New" pitchFamily="34" charset="-120"/>
              </a:rPr>
              <a:t>LOWER WINS · LEAD RESEARCH TRACK · SIMULATED</a:t>
            </a:r>
            <a:endParaRPr lang="en-US" sz="900" dirty="0"/>
          </a:p>
        </p:txBody>
      </p:sp>
      <p:graphicFrame>
        <p:nvGraphicFramePr>
          <p:cNvPr id="20" name="Chart 0" descr=""/>
          <p:cNvGraphicFramePr/>
          <p:nvPr/>
        </p:nvGraphicFramePr>
        <p:xfrm>
          <a:off x="6812280" y="1600200"/>
          <a:ext cx="4709160" cy="2834640"/>
        </p:xfrm>
        <a:graphic xmlns:a="http://schemas.openxmlformats.org/drawingml/2006/main">
          <a:graphicData uri="http://schemas.openxmlformats.org/drawingml/2006/chart">
            <c:chart xmlns:c="http://schemas.openxmlformats.org/drawingml/2006/chart" r:id="rId2"/>
          </a:graphicData>
        </a:graphic>
      </p:graphicFrame>
      <p:sp>
        <p:nvSpPr>
          <p:cNvPr id="21" name="Text 18"/>
          <p:cNvSpPr txBox="1"/>
          <p:nvPr/>
        </p:nvSpPr>
        <p:spPr>
          <a:xfrm>
            <a:off x="6903720" y="4617720"/>
            <a:ext cx="1508760" cy="457200"/>
          </a:xfrm>
          <a:prstGeom prst="rect">
            <a:avLst/>
          </a:prstGeom>
          <a:noFill/>
          <a:ln/>
        </p:spPr>
        <p:txBody>
          <a:bodyPr wrap="square" lIns="0" tIns="0" rIns="0" bIns="0" rtlCol="0" anchor="ctr"/>
          <a:lstStyle/>
          <a:p>
            <a:pPr indent="0" marL="0">
              <a:buNone/>
            </a:pPr>
            <a:r>
              <a:rPr lang="en-US" sz="1900" dirty="0">
                <a:solidFill>
                  <a:srgbClr val="111111"/>
                </a:solidFill>
                <a:latin typeface="Arial Black" pitchFamily="34" charset="0"/>
                <a:ea typeface="Arial Black" pitchFamily="34" charset="-122"/>
                <a:cs typeface="Arial Black" pitchFamily="34" charset="-120"/>
              </a:rPr>
              <a:t>3.3×</a:t>
            </a:r>
            <a:endParaRPr lang="en-US" sz="1900" dirty="0"/>
          </a:p>
        </p:txBody>
      </p:sp>
      <p:sp>
        <p:nvSpPr>
          <p:cNvPr id="22" name="Text 19"/>
          <p:cNvSpPr txBox="1"/>
          <p:nvPr/>
        </p:nvSpPr>
        <p:spPr>
          <a:xfrm>
            <a:off x="6903720" y="5074920"/>
            <a:ext cx="1463040" cy="457200"/>
          </a:xfrm>
          <a:prstGeom prst="rect">
            <a:avLst/>
          </a:prstGeom>
          <a:noFill/>
          <a:ln/>
        </p:spPr>
        <p:txBody>
          <a:bodyPr wrap="square" lIns="0" tIns="0" rIns="0" bIns="0" rtlCol="0" anchor="ctr"/>
          <a:lstStyle/>
          <a:p>
            <a:pPr indent="0" marL="0">
              <a:buNone/>
            </a:pPr>
            <a:r>
              <a:rPr lang="en-US" sz="850" spc="100" kern="0" dirty="0">
                <a:solidFill>
                  <a:srgbClr val="6B6862"/>
                </a:solidFill>
                <a:latin typeface="Courier New" pitchFamily="34" charset="0"/>
                <a:ea typeface="Courier New" pitchFamily="34" charset="-122"/>
                <a:cs typeface="Courier New" pitchFamily="34" charset="-120"/>
              </a:rPr>
              <a:t>lower error with Ridge</a:t>
            </a:r>
            <a:endParaRPr lang="en-US" sz="850" dirty="0"/>
          </a:p>
        </p:txBody>
      </p:sp>
      <p:sp>
        <p:nvSpPr>
          <p:cNvPr id="23" name="Text 20"/>
          <p:cNvSpPr txBox="1"/>
          <p:nvPr/>
        </p:nvSpPr>
        <p:spPr>
          <a:xfrm>
            <a:off x="8476488" y="4617720"/>
            <a:ext cx="1508760" cy="457200"/>
          </a:xfrm>
          <a:prstGeom prst="rect">
            <a:avLst/>
          </a:prstGeom>
          <a:noFill/>
          <a:ln/>
        </p:spPr>
        <p:txBody>
          <a:bodyPr wrap="square" lIns="0" tIns="0" rIns="0" bIns="0" rtlCol="0" anchor="ctr"/>
          <a:lstStyle/>
          <a:p>
            <a:pPr indent="0" marL="0">
              <a:buNone/>
            </a:pPr>
            <a:r>
              <a:rPr lang="en-US" sz="1900" dirty="0">
                <a:solidFill>
                  <a:srgbClr val="111111"/>
                </a:solidFill>
                <a:latin typeface="Arial Black" pitchFamily="34" charset="0"/>
                <a:ea typeface="Arial Black" pitchFamily="34" charset="-122"/>
                <a:cs typeface="Arial Black" pitchFamily="34" charset="-120"/>
              </a:rPr>
              <a:t>0.9996</a:t>
            </a:r>
            <a:endParaRPr lang="en-US" sz="1900" dirty="0"/>
          </a:p>
        </p:txBody>
      </p:sp>
      <p:sp>
        <p:nvSpPr>
          <p:cNvPr id="24" name="Text 21"/>
          <p:cNvSpPr txBox="1"/>
          <p:nvPr/>
        </p:nvSpPr>
        <p:spPr>
          <a:xfrm>
            <a:off x="8476488" y="5074920"/>
            <a:ext cx="1463040" cy="457200"/>
          </a:xfrm>
          <a:prstGeom prst="rect">
            <a:avLst/>
          </a:prstGeom>
          <a:noFill/>
          <a:ln/>
        </p:spPr>
        <p:txBody>
          <a:bodyPr wrap="square" lIns="0" tIns="0" rIns="0" bIns="0" rtlCol="0" anchor="ctr"/>
          <a:lstStyle/>
          <a:p>
            <a:pPr indent="0" marL="0">
              <a:buNone/>
            </a:pPr>
            <a:r>
              <a:rPr lang="en-US" sz="850" spc="100" kern="0" dirty="0">
                <a:solidFill>
                  <a:srgbClr val="6B6862"/>
                </a:solidFill>
                <a:latin typeface="Courier New" pitchFamily="34" charset="0"/>
                <a:ea typeface="Courier New" pitchFamily="34" charset="-122"/>
                <a:cs typeface="Courier New" pitchFamily="34" charset="-120"/>
              </a:rPr>
              <a:t>grouped-CV R²</a:t>
            </a:r>
            <a:endParaRPr lang="en-US" sz="850" dirty="0"/>
          </a:p>
        </p:txBody>
      </p:sp>
      <p:sp>
        <p:nvSpPr>
          <p:cNvPr id="25" name="Text 22"/>
          <p:cNvSpPr txBox="1"/>
          <p:nvPr/>
        </p:nvSpPr>
        <p:spPr>
          <a:xfrm>
            <a:off x="10049256" y="4617720"/>
            <a:ext cx="1508760" cy="457200"/>
          </a:xfrm>
          <a:prstGeom prst="rect">
            <a:avLst/>
          </a:prstGeom>
          <a:noFill/>
          <a:ln/>
        </p:spPr>
        <p:txBody>
          <a:bodyPr wrap="square" lIns="0" tIns="0" rIns="0" bIns="0" rtlCol="0" anchor="ctr"/>
          <a:lstStyle/>
          <a:p>
            <a:pPr indent="0" marL="0">
              <a:buNone/>
            </a:pPr>
            <a:r>
              <a:rPr lang="en-US" sz="1900" dirty="0">
                <a:solidFill>
                  <a:srgbClr val="111111"/>
                </a:solidFill>
                <a:latin typeface="Arial Black" pitchFamily="34" charset="0"/>
                <a:ea typeface="Arial Black" pitchFamily="34" charset="-122"/>
                <a:cs typeface="Arial Black" pitchFamily="34" charset="-120"/>
              </a:rPr>
              <a:t>0</a:t>
            </a:r>
            <a:endParaRPr lang="en-US" sz="1900" dirty="0"/>
          </a:p>
        </p:txBody>
      </p:sp>
      <p:sp>
        <p:nvSpPr>
          <p:cNvPr id="26" name="Text 23"/>
          <p:cNvSpPr txBox="1"/>
          <p:nvPr/>
        </p:nvSpPr>
        <p:spPr>
          <a:xfrm>
            <a:off x="10049256" y="5074920"/>
            <a:ext cx="1463040" cy="457200"/>
          </a:xfrm>
          <a:prstGeom prst="rect">
            <a:avLst/>
          </a:prstGeom>
          <a:noFill/>
          <a:ln/>
        </p:spPr>
        <p:txBody>
          <a:bodyPr wrap="square" lIns="0" tIns="0" rIns="0" bIns="0" rtlCol="0" anchor="ctr"/>
          <a:lstStyle/>
          <a:p>
            <a:pPr indent="0" marL="0">
              <a:buNone/>
            </a:pPr>
            <a:r>
              <a:rPr lang="en-US" sz="850" spc="100" kern="0" dirty="0">
                <a:solidFill>
                  <a:srgbClr val="6B6862"/>
                </a:solidFill>
                <a:latin typeface="Courier New" pitchFamily="34" charset="0"/>
                <a:ea typeface="Courier New" pitchFamily="34" charset="-122"/>
                <a:cs typeface="Courier New" pitchFamily="34" charset="-120"/>
              </a:rPr>
              <a:t>concentration leakage</a:t>
            </a:r>
            <a:endParaRPr lang="en-US" sz="850" dirty="0"/>
          </a:p>
        </p:txBody>
      </p:sp>
      <p:sp>
        <p:nvSpPr>
          <p:cNvPr id="27" name="Text 24"/>
          <p:cNvSpPr txBox="1"/>
          <p:nvPr/>
        </p:nvSpPr>
        <p:spPr>
          <a:xfrm>
            <a:off x="6903720" y="5577840"/>
            <a:ext cx="4572000" cy="411480"/>
          </a:xfrm>
          <a:prstGeom prst="rect">
            <a:avLst/>
          </a:prstGeom>
          <a:noFill/>
          <a:ln/>
        </p:spPr>
        <p:txBody>
          <a:bodyPr wrap="square" lIns="0" tIns="0" rIns="0" bIns="0" rtlCol="0" anchor="t"/>
          <a:lstStyle/>
          <a:p>
            <a:pPr indent="0" marL="0">
              <a:buNone/>
            </a:pPr>
            <a:r>
              <a:rPr lang="en-US" sz="1050" dirty="0">
                <a:solidFill>
                  <a:srgbClr val="6B6862"/>
                </a:solidFill>
                <a:latin typeface="Arial" pitchFamily="34" charset="0"/>
                <a:ea typeface="Arial" pitchFamily="34" charset="-122"/>
                <a:cs typeface="Arial" pitchFamily="34" charset="-120"/>
              </a:rPr>
              <a:t>Leave-one-concentration-out CV: replicates never leak between train and test.</a:t>
            </a:r>
            <a:endParaRPr lang="en-US" sz="1050" dirty="0"/>
          </a:p>
        </p:txBody>
      </p:sp>
      <p:sp>
        <p:nvSpPr>
          <p:cNvPr id="28" name="Text 25"/>
          <p:cNvSpPr txBox="1"/>
          <p:nvPr/>
        </p:nvSpPr>
        <p:spPr>
          <a:xfrm>
            <a:off x="548640" y="6419088"/>
            <a:ext cx="9326880" cy="292608"/>
          </a:xfrm>
          <a:prstGeom prst="rect">
            <a:avLst/>
          </a:prstGeom>
          <a:noFill/>
          <a:ln/>
        </p:spPr>
        <p:txBody>
          <a:bodyPr wrap="square" lIns="0" tIns="0" rIns="0" bIns="0" rtlCol="0" anchor="b"/>
          <a:lstStyle/>
          <a:p>
            <a:pPr indent="0" marL="0">
              <a:buNone/>
            </a:pPr>
            <a:r>
              <a:rPr lang="en-US" sz="800" dirty="0">
                <a:solidFill>
                  <a:srgbClr val="6B6862"/>
                </a:solidFill>
                <a:latin typeface="Courier New" pitchFamily="34" charset="0"/>
                <a:ea typeface="Courier New" pitchFamily="34" charset="-122"/>
                <a:cs typeface="Courier New" pitchFamily="34" charset="-120"/>
              </a:rPr>
              <a:t>Phosphate engine in the app: Ridge selected, grouped-CV RMSE 0.0481 mg/L, calibration R² 0.9990. Chart: lead track, 33 standards × 151 bands (LISA_LEAD_IMPLEMENTATION_REPORT).</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000" b="1" spc="200" kern="0" dirty="0">
                <a:solidFill>
                  <a:srgbClr val="D8D4CC"/>
                </a:solidFill>
                <a:latin typeface="Courier New" pitchFamily="34" charset="0"/>
                <a:ea typeface="Courier New" pitchFamily="34" charset="-122"/>
                <a:cs typeface="Courier New" pitchFamily="34" charset="-120"/>
              </a:rPr>
              <a:t>13 — THE SAFETY FEATURE</a:t>
            </a:r>
            <a:endParaRPr lang="en-US" sz="1000" dirty="0"/>
          </a:p>
        </p:txBody>
      </p:sp>
      <p:sp>
        <p:nvSpPr>
          <p:cNvPr id="3" name="Text 1"/>
          <p:cNvSpPr txBox="1"/>
          <p:nvPr/>
        </p:nvSpPr>
        <p:spPr>
          <a:xfrm>
            <a:off x="6156655" y="292608"/>
            <a:ext cx="5486400" cy="274320"/>
          </a:xfrm>
          <a:prstGeom prst="rect">
            <a:avLst/>
          </a:prstGeom>
          <a:noFill/>
          <a:ln/>
        </p:spPr>
        <p:txBody>
          <a:bodyPr wrap="square" lIns="0" tIns="0" rIns="0" bIns="0" rtlCol="0" anchor="ctr"/>
          <a:lstStyle/>
          <a:p>
            <a:pPr algn="r" indent="0" marL="0">
              <a:buNone/>
            </a:pPr>
            <a:r>
              <a:rPr lang="en-US" sz="900" spc="200" kern="0" dirty="0">
                <a:solidFill>
                  <a:srgbClr val="A9A59E"/>
                </a:solidFill>
                <a:latin typeface="Courier New" pitchFamily="34" charset="0"/>
                <a:ea typeface="Courier New" pitchFamily="34" charset="-122"/>
                <a:cs typeface="Courier New" pitchFamily="34" charset="-120"/>
              </a:rPr>
              <a:t>LISA  /  ASHOKA STARTUP CHALLENGE 2026</a:t>
            </a:r>
            <a:endParaRPr lang="en-US" sz="900" dirty="0"/>
          </a:p>
        </p:txBody>
      </p:sp>
      <p:sp>
        <p:nvSpPr>
          <p:cNvPr id="4"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900" dirty="0">
                <a:solidFill>
                  <a:srgbClr val="A9A59E"/>
                </a:solidFill>
                <a:latin typeface="Courier New" pitchFamily="34" charset="0"/>
                <a:ea typeface="Courier New" pitchFamily="34" charset="-122"/>
                <a:cs typeface="Courier New" pitchFamily="34" charset="-120"/>
              </a:rPr>
              <a:t>13 / 24</a:t>
            </a:r>
            <a:endParaRPr lang="en-US" sz="900" dirty="0"/>
          </a:p>
        </p:txBody>
      </p:sp>
      <p:sp>
        <p:nvSpPr>
          <p:cNvPr id="5" name="Shape 3"/>
          <p:cNvSpPr/>
          <p:nvPr/>
        </p:nvSpPr>
        <p:spPr>
          <a:xfrm>
            <a:off x="210312" y="6583680"/>
            <a:ext cx="164592" cy="0"/>
          </a:xfrm>
          <a:prstGeom prst="line">
            <a:avLst/>
          </a:prstGeom>
          <a:noFill/>
          <a:ln w="9525">
            <a:solidFill>
              <a:srgbClr val="D8D4CC"/>
            </a:solidFill>
            <a:prstDash val="solid"/>
          </a:ln>
        </p:spPr>
      </p:sp>
      <p:sp>
        <p:nvSpPr>
          <p:cNvPr id="6" name="Shape 4"/>
          <p:cNvSpPr/>
          <p:nvPr/>
        </p:nvSpPr>
        <p:spPr>
          <a:xfrm>
            <a:off x="292608" y="6501384"/>
            <a:ext cx="0" cy="164592"/>
          </a:xfrm>
          <a:prstGeom prst="line">
            <a:avLst/>
          </a:prstGeom>
          <a:noFill/>
          <a:ln w="9525">
            <a:solidFill>
              <a:srgbClr val="D8D4CC"/>
            </a:solidFill>
            <a:prstDash val="solid"/>
          </a:ln>
        </p:spPr>
      </p:sp>
      <p:sp>
        <p:nvSpPr>
          <p:cNvPr id="7" name="Text 5"/>
          <p:cNvSpPr txBox="1"/>
          <p:nvPr/>
        </p:nvSpPr>
        <p:spPr>
          <a:xfrm>
            <a:off x="548640" y="731520"/>
            <a:ext cx="6583680" cy="1920240"/>
          </a:xfrm>
          <a:prstGeom prst="rect">
            <a:avLst/>
          </a:prstGeom>
          <a:noFill/>
          <a:ln/>
        </p:spPr>
        <p:txBody>
          <a:bodyPr wrap="square" lIns="0" tIns="0" rIns="0" bIns="0" rtlCol="0" anchor="t"/>
          <a:lstStyle/>
          <a:p>
            <a:pPr indent="0" marL="0">
              <a:lnSpc>
                <a:spcPct val="95000"/>
              </a:lnSpc>
              <a:buNone/>
            </a:pPr>
            <a:r>
              <a:rPr lang="en-US" sz="3000" dirty="0">
                <a:solidFill>
                  <a:srgbClr val="EDEBE6"/>
                </a:solidFill>
                <a:latin typeface="Arial Black" pitchFamily="34" charset="0"/>
                <a:ea typeface="Arial Black" pitchFamily="34" charset="-122"/>
                <a:cs typeface="Arial Black" pitchFamily="34" charset="-120"/>
              </a:rPr>
              <a:t>A confident wrong answer
can hospitalise a village.
</a:t>
            </a:r>
            <a:pPr indent="0" marL="0">
              <a:lnSpc>
                <a:spcPct val="95000"/>
              </a:lnSpc>
              <a:buNone/>
            </a:pPr>
            <a:r>
              <a:rPr lang="en-US" sz="3000" dirty="0">
                <a:solidFill>
                  <a:srgbClr val="E8431A"/>
                </a:solidFill>
                <a:latin typeface="Arial Black" pitchFamily="34" charset="0"/>
                <a:ea typeface="Arial Black" pitchFamily="34" charset="-122"/>
                <a:cs typeface="Arial Black" pitchFamily="34" charset="-120"/>
              </a:rPr>
              <a:t>So LISA refuses.</a:t>
            </a:r>
            <a:endParaRPr lang="en-US" sz="3000" dirty="0"/>
          </a:p>
        </p:txBody>
      </p:sp>
      <p:pic>
        <p:nvPicPr>
          <p:cNvPr id="8" name="Image 0" descr="assets/reject_spectrum.png">    </p:cNvPr>
          <p:cNvPicPr>
            <a:picLocks noChangeAspect="1"/>
          </p:cNvPicPr>
          <p:nvPr/>
        </p:nvPicPr>
        <p:blipFill>
          <a:blip r:embed="rId2"/>
          <a:stretch>
            <a:fillRect/>
          </a:stretch>
        </p:blipFill>
        <p:spPr>
          <a:xfrm>
            <a:off x="548640" y="2834640"/>
            <a:ext cx="5120640" cy="3300984"/>
          </a:xfrm>
          <a:prstGeom prst="rect">
            <a:avLst/>
          </a:prstGeom>
        </p:spPr>
      </p:pic>
      <p:pic>
        <p:nvPicPr>
          <p:cNvPr id="9" name="Image 1" descr="assets/reject_card.png">    </p:cNvPr>
          <p:cNvPicPr>
            <a:picLocks noChangeAspect="1"/>
          </p:cNvPicPr>
          <p:nvPr/>
        </p:nvPicPr>
        <p:blipFill>
          <a:blip r:embed="rId3"/>
          <a:stretch>
            <a:fillRect/>
          </a:stretch>
        </p:blipFill>
        <p:spPr>
          <a:xfrm>
            <a:off x="5806440" y="2834640"/>
            <a:ext cx="2560320" cy="3374136"/>
          </a:xfrm>
          <a:prstGeom prst="rect">
            <a:avLst/>
          </a:prstGeom>
        </p:spPr>
      </p:pic>
      <p:sp>
        <p:nvSpPr>
          <p:cNvPr id="10" name="Text 6"/>
          <p:cNvSpPr txBox="1"/>
          <p:nvPr/>
        </p:nvSpPr>
        <p:spPr>
          <a:xfrm>
            <a:off x="548640" y="6217920"/>
            <a:ext cx="7863840" cy="228600"/>
          </a:xfrm>
          <a:prstGeom prst="rect">
            <a:avLst/>
          </a:prstGeom>
          <a:noFill/>
          <a:ln/>
        </p:spPr>
        <p:txBody>
          <a:bodyPr wrap="square" lIns="0" tIns="0" rIns="0" bIns="0" rtlCol="0" anchor="ctr"/>
          <a:lstStyle/>
          <a:p>
            <a:pPr indent="0" marL="0">
              <a:buNone/>
            </a:pPr>
            <a:r>
              <a:rPr lang="en-US" sz="800" spc="100" kern="0" dirty="0">
                <a:solidFill>
                  <a:srgbClr val="CFCBC3"/>
                </a:solidFill>
                <a:latin typeface="Courier New" pitchFamily="34" charset="0"/>
                <a:ea typeface="Courier New" pitchFamily="34" charset="-122"/>
                <a:cs typeface="Courier New" pitchFamily="34" charset="-120"/>
              </a:rPr>
              <a:t>LIVE APP · TARTRAZINE DYE INSERTED AS “PHOSPHATE” → OUT OF DISTRIBUTION → NO NUMBER</a:t>
            </a:r>
            <a:endParaRPr lang="en-US" sz="800" dirty="0"/>
          </a:p>
        </p:txBody>
      </p:sp>
      <p:sp>
        <p:nvSpPr>
          <p:cNvPr id="11" name="Text 7"/>
          <p:cNvSpPr txBox="1"/>
          <p:nvPr/>
        </p:nvSpPr>
        <p:spPr>
          <a:xfrm>
            <a:off x="8732520" y="868680"/>
            <a:ext cx="3017520" cy="365760"/>
          </a:xfrm>
          <a:prstGeom prst="rect">
            <a:avLst/>
          </a:prstGeom>
          <a:noFill/>
          <a:ln/>
        </p:spPr>
        <p:txBody>
          <a:bodyPr wrap="square" lIns="0" tIns="0" rIns="0" bIns="0" rtlCol="0" anchor="ctr"/>
          <a:lstStyle/>
          <a:p>
            <a:pPr indent="0" marL="0">
              <a:buNone/>
            </a:pPr>
            <a:r>
              <a:rPr lang="en-US" sz="1400" dirty="0">
                <a:solidFill>
                  <a:srgbClr val="EDEBE6"/>
                </a:solidFill>
                <a:latin typeface="Arial Black" pitchFamily="34" charset="0"/>
                <a:ea typeface="Arial Black" pitchFamily="34" charset="-122"/>
                <a:cs typeface="Arial Black" pitchFamily="34" charset="-120"/>
              </a:rPr>
              <a:t>6 gates before any number</a:t>
            </a:r>
            <a:endParaRPr lang="en-US" sz="1400" dirty="0"/>
          </a:p>
        </p:txBody>
      </p:sp>
      <p:sp>
        <p:nvSpPr>
          <p:cNvPr id="12" name="Shape 8"/>
          <p:cNvSpPr/>
          <p:nvPr/>
        </p:nvSpPr>
        <p:spPr>
          <a:xfrm>
            <a:off x="8732520" y="1371600"/>
            <a:ext cx="2926080" cy="0"/>
          </a:xfrm>
          <a:prstGeom prst="line">
            <a:avLst/>
          </a:prstGeom>
          <a:noFill/>
          <a:ln w="9525">
            <a:solidFill>
              <a:srgbClr val="55524D"/>
            </a:solidFill>
            <a:prstDash val="solid"/>
          </a:ln>
        </p:spPr>
      </p:sp>
      <p:sp>
        <p:nvSpPr>
          <p:cNvPr id="13" name="Text 9"/>
          <p:cNvSpPr txBox="1"/>
          <p:nvPr/>
        </p:nvSpPr>
        <p:spPr>
          <a:xfrm>
            <a:off x="8732520" y="1481328"/>
            <a:ext cx="365760" cy="274320"/>
          </a:xfrm>
          <a:prstGeom prst="rect">
            <a:avLst/>
          </a:prstGeom>
          <a:noFill/>
          <a:ln/>
        </p:spPr>
        <p:txBody>
          <a:bodyPr wrap="square" lIns="0" tIns="0" rIns="0" bIns="0" rtlCol="0" anchor="ctr"/>
          <a:lstStyle/>
          <a:p>
            <a:pPr indent="0" marL="0">
              <a:buNone/>
            </a:pPr>
            <a:r>
              <a:rPr lang="en-US" sz="1000" b="1" spc="100" kern="0" dirty="0">
                <a:solidFill>
                  <a:srgbClr val="E8431A"/>
                </a:solidFill>
                <a:latin typeface="Courier New" pitchFamily="34" charset="0"/>
                <a:ea typeface="Courier New" pitchFamily="34" charset="-122"/>
                <a:cs typeface="Courier New" pitchFamily="34" charset="-120"/>
              </a:rPr>
              <a:t>01</a:t>
            </a:r>
            <a:endParaRPr lang="en-US" sz="1000" dirty="0"/>
          </a:p>
        </p:txBody>
      </p:sp>
      <p:sp>
        <p:nvSpPr>
          <p:cNvPr id="14" name="Text 10"/>
          <p:cNvSpPr txBox="1"/>
          <p:nvPr/>
        </p:nvSpPr>
        <p:spPr>
          <a:xfrm>
            <a:off x="9098280" y="1444752"/>
            <a:ext cx="1188720" cy="365760"/>
          </a:xfrm>
          <a:prstGeom prst="rect">
            <a:avLst/>
          </a:prstGeom>
          <a:noFill/>
          <a:ln/>
        </p:spPr>
        <p:txBody>
          <a:bodyPr wrap="square" lIns="0" tIns="0" rIns="0" bIns="0" rtlCol="0" anchor="ctr"/>
          <a:lstStyle/>
          <a:p>
            <a:pPr indent="0" marL="0">
              <a:buNone/>
            </a:pPr>
            <a:r>
              <a:rPr lang="en-US" sz="1200" b="1" dirty="0">
                <a:solidFill>
                  <a:srgbClr val="EDEBE6"/>
                </a:solidFill>
                <a:latin typeface="Arial" pitchFamily="34" charset="0"/>
                <a:ea typeface="Arial" pitchFamily="34" charset="-122"/>
                <a:cs typeface="Arial" pitchFamily="34" charset="-120"/>
              </a:rPr>
              <a:t>Saturation</a:t>
            </a:r>
            <a:endParaRPr lang="en-US" sz="1200" dirty="0"/>
          </a:p>
        </p:txBody>
      </p:sp>
      <p:sp>
        <p:nvSpPr>
          <p:cNvPr id="15" name="Text 11"/>
          <p:cNvSpPr txBox="1"/>
          <p:nvPr/>
        </p:nvSpPr>
        <p:spPr>
          <a:xfrm>
            <a:off x="10149840" y="1444752"/>
            <a:ext cx="1554480" cy="411480"/>
          </a:xfrm>
          <a:prstGeom prst="rect">
            <a:avLst/>
          </a:prstGeom>
          <a:noFill/>
          <a:ln/>
        </p:spPr>
        <p:txBody>
          <a:bodyPr wrap="square" lIns="0" tIns="0" rIns="0" bIns="0" rtlCol="0" anchor="ctr"/>
          <a:lstStyle/>
          <a:p>
            <a:pPr indent="0" marL="0">
              <a:buNone/>
            </a:pPr>
            <a:r>
              <a:rPr lang="en-US" sz="800" spc="100" kern="0" dirty="0">
                <a:solidFill>
                  <a:srgbClr val="A9A59E"/>
                </a:solidFill>
                <a:latin typeface="Courier New" pitchFamily="34" charset="0"/>
                <a:ea typeface="Courier New" pitchFamily="34" charset="-122"/>
                <a:cs typeface="Courier New" pitchFamily="34" charset="-120"/>
              </a:rPr>
              <a:t>pixel ≥ 250/255</a:t>
            </a:r>
            <a:endParaRPr lang="en-US" sz="800" dirty="0"/>
          </a:p>
        </p:txBody>
      </p:sp>
      <p:sp>
        <p:nvSpPr>
          <p:cNvPr id="16" name="Shape 12"/>
          <p:cNvSpPr/>
          <p:nvPr/>
        </p:nvSpPr>
        <p:spPr>
          <a:xfrm>
            <a:off x="8732520" y="1938528"/>
            <a:ext cx="2926080" cy="0"/>
          </a:xfrm>
          <a:prstGeom prst="line">
            <a:avLst/>
          </a:prstGeom>
          <a:noFill/>
          <a:ln w="9525">
            <a:solidFill>
              <a:srgbClr val="55524D"/>
            </a:solidFill>
            <a:prstDash val="solid"/>
          </a:ln>
        </p:spPr>
      </p:sp>
      <p:sp>
        <p:nvSpPr>
          <p:cNvPr id="17" name="Text 13"/>
          <p:cNvSpPr txBox="1"/>
          <p:nvPr/>
        </p:nvSpPr>
        <p:spPr>
          <a:xfrm>
            <a:off x="8732520" y="2048256"/>
            <a:ext cx="365760" cy="274320"/>
          </a:xfrm>
          <a:prstGeom prst="rect">
            <a:avLst/>
          </a:prstGeom>
          <a:noFill/>
          <a:ln/>
        </p:spPr>
        <p:txBody>
          <a:bodyPr wrap="square" lIns="0" tIns="0" rIns="0" bIns="0" rtlCol="0" anchor="ctr"/>
          <a:lstStyle/>
          <a:p>
            <a:pPr indent="0" marL="0">
              <a:buNone/>
            </a:pPr>
            <a:r>
              <a:rPr lang="en-US" sz="1000" b="1" spc="100" kern="0" dirty="0">
                <a:solidFill>
                  <a:srgbClr val="E8431A"/>
                </a:solidFill>
                <a:latin typeface="Courier New" pitchFamily="34" charset="0"/>
                <a:ea typeface="Courier New" pitchFamily="34" charset="-122"/>
                <a:cs typeface="Courier New" pitchFamily="34" charset="-120"/>
              </a:rPr>
              <a:t>02</a:t>
            </a:r>
            <a:endParaRPr lang="en-US" sz="1000" dirty="0"/>
          </a:p>
        </p:txBody>
      </p:sp>
      <p:sp>
        <p:nvSpPr>
          <p:cNvPr id="18" name="Text 14"/>
          <p:cNvSpPr txBox="1"/>
          <p:nvPr/>
        </p:nvSpPr>
        <p:spPr>
          <a:xfrm>
            <a:off x="9098280" y="2011680"/>
            <a:ext cx="1188720" cy="365760"/>
          </a:xfrm>
          <a:prstGeom prst="rect">
            <a:avLst/>
          </a:prstGeom>
          <a:noFill/>
          <a:ln/>
        </p:spPr>
        <p:txBody>
          <a:bodyPr wrap="square" lIns="0" tIns="0" rIns="0" bIns="0" rtlCol="0" anchor="ctr"/>
          <a:lstStyle/>
          <a:p>
            <a:pPr indent="0" marL="0">
              <a:buNone/>
            </a:pPr>
            <a:r>
              <a:rPr lang="en-US" sz="1200" b="1" dirty="0">
                <a:solidFill>
                  <a:srgbClr val="EDEBE6"/>
                </a:solidFill>
                <a:latin typeface="Arial" pitchFamily="34" charset="0"/>
                <a:ea typeface="Arial" pitchFamily="34" charset="-122"/>
                <a:cs typeface="Arial" pitchFamily="34" charset="-120"/>
              </a:rPr>
              <a:t>Signal</a:t>
            </a:r>
            <a:endParaRPr lang="en-US" sz="1200" dirty="0"/>
          </a:p>
        </p:txBody>
      </p:sp>
      <p:sp>
        <p:nvSpPr>
          <p:cNvPr id="19" name="Text 15"/>
          <p:cNvSpPr txBox="1"/>
          <p:nvPr/>
        </p:nvSpPr>
        <p:spPr>
          <a:xfrm>
            <a:off x="10149840" y="2011680"/>
            <a:ext cx="1554480" cy="411480"/>
          </a:xfrm>
          <a:prstGeom prst="rect">
            <a:avLst/>
          </a:prstGeom>
          <a:noFill/>
          <a:ln/>
        </p:spPr>
        <p:txBody>
          <a:bodyPr wrap="square" lIns="0" tIns="0" rIns="0" bIns="0" rtlCol="0" anchor="ctr"/>
          <a:lstStyle/>
          <a:p>
            <a:pPr indent="0" marL="0">
              <a:buNone/>
            </a:pPr>
            <a:r>
              <a:rPr lang="en-US" sz="800" spc="100" kern="0" dirty="0">
                <a:solidFill>
                  <a:srgbClr val="A9A59E"/>
                </a:solidFill>
                <a:latin typeface="Courier New" pitchFamily="34" charset="0"/>
                <a:ea typeface="Courier New" pitchFamily="34" charset="-122"/>
                <a:cs typeface="Courier New" pitchFamily="34" charset="-120"/>
              </a:rPr>
              <a:t>throughput too low</a:t>
            </a:r>
            <a:endParaRPr lang="en-US" sz="800" dirty="0"/>
          </a:p>
        </p:txBody>
      </p:sp>
      <p:sp>
        <p:nvSpPr>
          <p:cNvPr id="20" name="Shape 16"/>
          <p:cNvSpPr/>
          <p:nvPr/>
        </p:nvSpPr>
        <p:spPr>
          <a:xfrm>
            <a:off x="8732520" y="2505456"/>
            <a:ext cx="2926080" cy="0"/>
          </a:xfrm>
          <a:prstGeom prst="line">
            <a:avLst/>
          </a:prstGeom>
          <a:noFill/>
          <a:ln w="9525">
            <a:solidFill>
              <a:srgbClr val="55524D"/>
            </a:solidFill>
            <a:prstDash val="solid"/>
          </a:ln>
        </p:spPr>
      </p:sp>
      <p:sp>
        <p:nvSpPr>
          <p:cNvPr id="21" name="Text 17"/>
          <p:cNvSpPr txBox="1"/>
          <p:nvPr/>
        </p:nvSpPr>
        <p:spPr>
          <a:xfrm>
            <a:off x="8732520" y="2615184"/>
            <a:ext cx="365760" cy="274320"/>
          </a:xfrm>
          <a:prstGeom prst="rect">
            <a:avLst/>
          </a:prstGeom>
          <a:noFill/>
          <a:ln/>
        </p:spPr>
        <p:txBody>
          <a:bodyPr wrap="square" lIns="0" tIns="0" rIns="0" bIns="0" rtlCol="0" anchor="ctr"/>
          <a:lstStyle/>
          <a:p>
            <a:pPr indent="0" marL="0">
              <a:buNone/>
            </a:pPr>
            <a:r>
              <a:rPr lang="en-US" sz="1000" b="1" spc="100" kern="0" dirty="0">
                <a:solidFill>
                  <a:srgbClr val="E8431A"/>
                </a:solidFill>
                <a:latin typeface="Courier New" pitchFamily="34" charset="0"/>
                <a:ea typeface="Courier New" pitchFamily="34" charset="-122"/>
                <a:cs typeface="Courier New" pitchFamily="34" charset="-120"/>
              </a:rPr>
              <a:t>03</a:t>
            </a:r>
            <a:endParaRPr lang="en-US" sz="1000" dirty="0"/>
          </a:p>
        </p:txBody>
      </p:sp>
      <p:sp>
        <p:nvSpPr>
          <p:cNvPr id="22" name="Text 18"/>
          <p:cNvSpPr txBox="1"/>
          <p:nvPr/>
        </p:nvSpPr>
        <p:spPr>
          <a:xfrm>
            <a:off x="9098280" y="2578608"/>
            <a:ext cx="1188720" cy="365760"/>
          </a:xfrm>
          <a:prstGeom prst="rect">
            <a:avLst/>
          </a:prstGeom>
          <a:noFill/>
          <a:ln/>
        </p:spPr>
        <p:txBody>
          <a:bodyPr wrap="square" lIns="0" tIns="0" rIns="0" bIns="0" rtlCol="0" anchor="ctr"/>
          <a:lstStyle/>
          <a:p>
            <a:pPr indent="0" marL="0">
              <a:buNone/>
            </a:pPr>
            <a:r>
              <a:rPr lang="en-US" sz="1200" b="1" dirty="0">
                <a:solidFill>
                  <a:srgbClr val="EDEBE6"/>
                </a:solidFill>
                <a:latin typeface="Arial" pitchFamily="34" charset="0"/>
                <a:ea typeface="Arial" pitchFamily="34" charset="-122"/>
                <a:cs typeface="Arial" pitchFamily="34" charset="-120"/>
              </a:rPr>
              <a:t>Alignment</a:t>
            </a:r>
            <a:endParaRPr lang="en-US" sz="1200" dirty="0"/>
          </a:p>
        </p:txBody>
      </p:sp>
      <p:sp>
        <p:nvSpPr>
          <p:cNvPr id="23" name="Text 19"/>
          <p:cNvSpPr txBox="1"/>
          <p:nvPr/>
        </p:nvSpPr>
        <p:spPr>
          <a:xfrm>
            <a:off x="10149840" y="2578608"/>
            <a:ext cx="1554480" cy="411480"/>
          </a:xfrm>
          <a:prstGeom prst="rect">
            <a:avLst/>
          </a:prstGeom>
          <a:noFill/>
          <a:ln/>
        </p:spPr>
        <p:txBody>
          <a:bodyPr wrap="square" lIns="0" tIns="0" rIns="0" bIns="0" rtlCol="0" anchor="ctr"/>
          <a:lstStyle/>
          <a:p>
            <a:pPr indent="0" marL="0">
              <a:buNone/>
            </a:pPr>
            <a:r>
              <a:rPr lang="en-US" sz="800" spc="100" kern="0" dirty="0">
                <a:solidFill>
                  <a:srgbClr val="A9A59E"/>
                </a:solidFill>
                <a:latin typeface="Courier New" pitchFamily="34" charset="0"/>
                <a:ea typeface="Courier New" pitchFamily="34" charset="-122"/>
                <a:cs typeface="Courier New" pitchFamily="34" charset="-120"/>
              </a:rPr>
              <a:t>cuvette shift &gt; ±6 px</a:t>
            </a:r>
            <a:endParaRPr lang="en-US" sz="800" dirty="0"/>
          </a:p>
        </p:txBody>
      </p:sp>
      <p:sp>
        <p:nvSpPr>
          <p:cNvPr id="24" name="Shape 20"/>
          <p:cNvSpPr/>
          <p:nvPr/>
        </p:nvSpPr>
        <p:spPr>
          <a:xfrm>
            <a:off x="8732520" y="3072384"/>
            <a:ext cx="2926080" cy="0"/>
          </a:xfrm>
          <a:prstGeom prst="line">
            <a:avLst/>
          </a:prstGeom>
          <a:noFill/>
          <a:ln w="9525">
            <a:solidFill>
              <a:srgbClr val="55524D"/>
            </a:solidFill>
            <a:prstDash val="solid"/>
          </a:ln>
        </p:spPr>
      </p:sp>
      <p:sp>
        <p:nvSpPr>
          <p:cNvPr id="25" name="Text 21"/>
          <p:cNvSpPr txBox="1"/>
          <p:nvPr/>
        </p:nvSpPr>
        <p:spPr>
          <a:xfrm>
            <a:off x="8732520" y="3182112"/>
            <a:ext cx="365760" cy="274320"/>
          </a:xfrm>
          <a:prstGeom prst="rect">
            <a:avLst/>
          </a:prstGeom>
          <a:noFill/>
          <a:ln/>
        </p:spPr>
        <p:txBody>
          <a:bodyPr wrap="square" lIns="0" tIns="0" rIns="0" bIns="0" rtlCol="0" anchor="ctr"/>
          <a:lstStyle/>
          <a:p>
            <a:pPr indent="0" marL="0">
              <a:buNone/>
            </a:pPr>
            <a:r>
              <a:rPr lang="en-US" sz="1000" b="1" spc="100" kern="0" dirty="0">
                <a:solidFill>
                  <a:srgbClr val="E8431A"/>
                </a:solidFill>
                <a:latin typeface="Courier New" pitchFamily="34" charset="0"/>
                <a:ea typeface="Courier New" pitchFamily="34" charset="-122"/>
                <a:cs typeface="Courier New" pitchFamily="34" charset="-120"/>
              </a:rPr>
              <a:t>04</a:t>
            </a:r>
            <a:endParaRPr lang="en-US" sz="1000" dirty="0"/>
          </a:p>
        </p:txBody>
      </p:sp>
      <p:sp>
        <p:nvSpPr>
          <p:cNvPr id="26" name="Text 22"/>
          <p:cNvSpPr txBox="1"/>
          <p:nvPr/>
        </p:nvSpPr>
        <p:spPr>
          <a:xfrm>
            <a:off x="9098280" y="3145536"/>
            <a:ext cx="1188720" cy="365760"/>
          </a:xfrm>
          <a:prstGeom prst="rect">
            <a:avLst/>
          </a:prstGeom>
          <a:noFill/>
          <a:ln/>
        </p:spPr>
        <p:txBody>
          <a:bodyPr wrap="square" lIns="0" tIns="0" rIns="0" bIns="0" rtlCol="0" anchor="ctr"/>
          <a:lstStyle/>
          <a:p>
            <a:pPr indent="0" marL="0">
              <a:buNone/>
            </a:pPr>
            <a:r>
              <a:rPr lang="en-US" sz="1200" b="1" dirty="0">
                <a:solidFill>
                  <a:srgbClr val="EDEBE6"/>
                </a:solidFill>
                <a:latin typeface="Arial" pitchFamily="34" charset="0"/>
                <a:ea typeface="Arial" pitchFamily="34" charset="-122"/>
                <a:cs typeface="Arial" pitchFamily="34" charset="-120"/>
              </a:rPr>
              <a:t>Range</a:t>
            </a:r>
            <a:endParaRPr lang="en-US" sz="1200" dirty="0"/>
          </a:p>
        </p:txBody>
      </p:sp>
      <p:sp>
        <p:nvSpPr>
          <p:cNvPr id="27" name="Text 23"/>
          <p:cNvSpPr txBox="1"/>
          <p:nvPr/>
        </p:nvSpPr>
        <p:spPr>
          <a:xfrm>
            <a:off x="10149840" y="3145536"/>
            <a:ext cx="1554480" cy="411480"/>
          </a:xfrm>
          <a:prstGeom prst="rect">
            <a:avLst/>
          </a:prstGeom>
          <a:noFill/>
          <a:ln/>
        </p:spPr>
        <p:txBody>
          <a:bodyPr wrap="square" lIns="0" tIns="0" rIns="0" bIns="0" rtlCol="0" anchor="ctr"/>
          <a:lstStyle/>
          <a:p>
            <a:pPr indent="0" marL="0">
              <a:buNone/>
            </a:pPr>
            <a:r>
              <a:rPr lang="en-US" sz="800" spc="100" kern="0" dirty="0">
                <a:solidFill>
                  <a:srgbClr val="A9A59E"/>
                </a:solidFill>
                <a:latin typeface="Courier New" pitchFamily="34" charset="0"/>
                <a:ea typeface="Courier New" pitchFamily="34" charset="-122"/>
                <a:cs typeface="Courier New" pitchFamily="34" charset="-120"/>
              </a:rPr>
              <a:t>above top standard → dilute</a:t>
            </a:r>
            <a:endParaRPr lang="en-US" sz="800" dirty="0"/>
          </a:p>
        </p:txBody>
      </p:sp>
      <p:sp>
        <p:nvSpPr>
          <p:cNvPr id="28" name="Shape 24"/>
          <p:cNvSpPr/>
          <p:nvPr/>
        </p:nvSpPr>
        <p:spPr>
          <a:xfrm>
            <a:off x="8732520" y="3639312"/>
            <a:ext cx="2926080" cy="0"/>
          </a:xfrm>
          <a:prstGeom prst="line">
            <a:avLst/>
          </a:prstGeom>
          <a:noFill/>
          <a:ln w="9525">
            <a:solidFill>
              <a:srgbClr val="55524D"/>
            </a:solidFill>
            <a:prstDash val="solid"/>
          </a:ln>
        </p:spPr>
      </p:sp>
      <p:sp>
        <p:nvSpPr>
          <p:cNvPr id="29" name="Text 25"/>
          <p:cNvSpPr txBox="1"/>
          <p:nvPr/>
        </p:nvSpPr>
        <p:spPr>
          <a:xfrm>
            <a:off x="8732520" y="3749040"/>
            <a:ext cx="365760" cy="274320"/>
          </a:xfrm>
          <a:prstGeom prst="rect">
            <a:avLst/>
          </a:prstGeom>
          <a:noFill/>
          <a:ln/>
        </p:spPr>
        <p:txBody>
          <a:bodyPr wrap="square" lIns="0" tIns="0" rIns="0" bIns="0" rtlCol="0" anchor="ctr"/>
          <a:lstStyle/>
          <a:p>
            <a:pPr indent="0" marL="0">
              <a:buNone/>
            </a:pPr>
            <a:r>
              <a:rPr lang="en-US" sz="1000" b="1" spc="100" kern="0" dirty="0">
                <a:solidFill>
                  <a:srgbClr val="E8431A"/>
                </a:solidFill>
                <a:latin typeface="Courier New" pitchFamily="34" charset="0"/>
                <a:ea typeface="Courier New" pitchFamily="34" charset="-122"/>
                <a:cs typeface="Courier New" pitchFamily="34" charset="-120"/>
              </a:rPr>
              <a:t>05</a:t>
            </a:r>
            <a:endParaRPr lang="en-US" sz="1000" dirty="0"/>
          </a:p>
        </p:txBody>
      </p:sp>
      <p:sp>
        <p:nvSpPr>
          <p:cNvPr id="30" name="Text 26"/>
          <p:cNvSpPr txBox="1"/>
          <p:nvPr/>
        </p:nvSpPr>
        <p:spPr>
          <a:xfrm>
            <a:off x="9098280" y="3712464"/>
            <a:ext cx="1188720" cy="365760"/>
          </a:xfrm>
          <a:prstGeom prst="rect">
            <a:avLst/>
          </a:prstGeom>
          <a:noFill/>
          <a:ln/>
        </p:spPr>
        <p:txBody>
          <a:bodyPr wrap="square" lIns="0" tIns="0" rIns="0" bIns="0" rtlCol="0" anchor="ctr"/>
          <a:lstStyle/>
          <a:p>
            <a:pPr indent="0" marL="0">
              <a:buNone/>
            </a:pPr>
            <a:r>
              <a:rPr lang="en-US" sz="1200" b="1" dirty="0">
                <a:solidFill>
                  <a:srgbClr val="EDEBE6"/>
                </a:solidFill>
                <a:latin typeface="Arial" pitchFamily="34" charset="0"/>
                <a:ea typeface="Arial" pitchFamily="34" charset="-122"/>
                <a:cs typeface="Arial" pitchFamily="34" charset="-120"/>
              </a:rPr>
              <a:t>Turbidity</a:t>
            </a:r>
            <a:endParaRPr lang="en-US" sz="1200" dirty="0"/>
          </a:p>
        </p:txBody>
      </p:sp>
      <p:sp>
        <p:nvSpPr>
          <p:cNvPr id="31" name="Text 27"/>
          <p:cNvSpPr txBox="1"/>
          <p:nvPr/>
        </p:nvSpPr>
        <p:spPr>
          <a:xfrm>
            <a:off x="10149840" y="3712464"/>
            <a:ext cx="1554480" cy="411480"/>
          </a:xfrm>
          <a:prstGeom prst="rect">
            <a:avLst/>
          </a:prstGeom>
          <a:noFill/>
          <a:ln/>
        </p:spPr>
        <p:txBody>
          <a:bodyPr wrap="square" lIns="0" tIns="0" rIns="0" bIns="0" rtlCol="0" anchor="ctr"/>
          <a:lstStyle/>
          <a:p>
            <a:pPr indent="0" marL="0">
              <a:buNone/>
            </a:pPr>
            <a:r>
              <a:rPr lang="en-US" sz="800" spc="100" kern="0" dirty="0">
                <a:solidFill>
                  <a:srgbClr val="A9A59E"/>
                </a:solidFill>
                <a:latin typeface="Courier New" pitchFamily="34" charset="0"/>
                <a:ea typeface="Courier New" pitchFamily="34" charset="-122"/>
                <a:cs typeface="Courier New" pitchFamily="34" charset="-120"/>
              </a:rPr>
              <a:t>baseline 400–450 nm</a:t>
            </a:r>
            <a:endParaRPr lang="en-US" sz="800" dirty="0"/>
          </a:p>
        </p:txBody>
      </p:sp>
      <p:sp>
        <p:nvSpPr>
          <p:cNvPr id="32" name="Shape 28"/>
          <p:cNvSpPr/>
          <p:nvPr/>
        </p:nvSpPr>
        <p:spPr>
          <a:xfrm>
            <a:off x="8732520" y="4206240"/>
            <a:ext cx="2926080" cy="0"/>
          </a:xfrm>
          <a:prstGeom prst="line">
            <a:avLst/>
          </a:prstGeom>
          <a:noFill/>
          <a:ln w="9525">
            <a:solidFill>
              <a:srgbClr val="55524D"/>
            </a:solidFill>
            <a:prstDash val="solid"/>
          </a:ln>
        </p:spPr>
      </p:sp>
      <p:sp>
        <p:nvSpPr>
          <p:cNvPr id="33" name="Text 29"/>
          <p:cNvSpPr txBox="1"/>
          <p:nvPr/>
        </p:nvSpPr>
        <p:spPr>
          <a:xfrm>
            <a:off x="8732520" y="4315968"/>
            <a:ext cx="365760" cy="274320"/>
          </a:xfrm>
          <a:prstGeom prst="rect">
            <a:avLst/>
          </a:prstGeom>
          <a:noFill/>
          <a:ln/>
        </p:spPr>
        <p:txBody>
          <a:bodyPr wrap="square" lIns="0" tIns="0" rIns="0" bIns="0" rtlCol="0" anchor="ctr"/>
          <a:lstStyle/>
          <a:p>
            <a:pPr indent="0" marL="0">
              <a:buNone/>
            </a:pPr>
            <a:r>
              <a:rPr lang="en-US" sz="1000" b="1" spc="100" kern="0" dirty="0">
                <a:solidFill>
                  <a:srgbClr val="E8431A"/>
                </a:solidFill>
                <a:latin typeface="Courier New" pitchFamily="34" charset="0"/>
                <a:ea typeface="Courier New" pitchFamily="34" charset="-122"/>
                <a:cs typeface="Courier New" pitchFamily="34" charset="-120"/>
              </a:rPr>
              <a:t>06</a:t>
            </a:r>
            <a:endParaRPr lang="en-US" sz="1000" dirty="0"/>
          </a:p>
        </p:txBody>
      </p:sp>
      <p:sp>
        <p:nvSpPr>
          <p:cNvPr id="34" name="Text 30"/>
          <p:cNvSpPr txBox="1"/>
          <p:nvPr/>
        </p:nvSpPr>
        <p:spPr>
          <a:xfrm>
            <a:off x="9098280" y="4279392"/>
            <a:ext cx="1188720" cy="365760"/>
          </a:xfrm>
          <a:prstGeom prst="rect">
            <a:avLst/>
          </a:prstGeom>
          <a:noFill/>
          <a:ln/>
        </p:spPr>
        <p:txBody>
          <a:bodyPr wrap="square" lIns="0" tIns="0" rIns="0" bIns="0" rtlCol="0" anchor="ctr"/>
          <a:lstStyle/>
          <a:p>
            <a:pPr indent="0" marL="0">
              <a:buNone/>
            </a:pPr>
            <a:r>
              <a:rPr lang="en-US" sz="1200" b="1" dirty="0">
                <a:solidFill>
                  <a:srgbClr val="EDEBE6"/>
                </a:solidFill>
                <a:latin typeface="Arial" pitchFamily="34" charset="0"/>
                <a:ea typeface="Arial" pitchFamily="34" charset="-122"/>
                <a:cs typeface="Arial" pitchFamily="34" charset="-120"/>
              </a:rPr>
              <a:t>OOD</a:t>
            </a:r>
            <a:endParaRPr lang="en-US" sz="1200" dirty="0"/>
          </a:p>
        </p:txBody>
      </p:sp>
      <p:sp>
        <p:nvSpPr>
          <p:cNvPr id="35" name="Text 31"/>
          <p:cNvSpPr txBox="1"/>
          <p:nvPr/>
        </p:nvSpPr>
        <p:spPr>
          <a:xfrm>
            <a:off x="10149840" y="4279392"/>
            <a:ext cx="1554480" cy="411480"/>
          </a:xfrm>
          <a:prstGeom prst="rect">
            <a:avLst/>
          </a:prstGeom>
          <a:noFill/>
          <a:ln/>
        </p:spPr>
        <p:txBody>
          <a:bodyPr wrap="square" lIns="0" tIns="0" rIns="0" bIns="0" rtlCol="0" anchor="ctr"/>
          <a:lstStyle/>
          <a:p>
            <a:pPr indent="0" marL="0">
              <a:buNone/>
            </a:pPr>
            <a:r>
              <a:rPr lang="en-US" sz="800" spc="100" kern="0" dirty="0">
                <a:solidFill>
                  <a:srgbClr val="A9A59E"/>
                </a:solidFill>
                <a:latin typeface="Courier New" pitchFamily="34" charset="0"/>
                <a:ea typeface="Courier New" pitchFamily="34" charset="-122"/>
                <a:cs typeface="Courier New" pitchFamily="34" charset="-120"/>
              </a:rPr>
              <a:t>Mahalanobis D &gt; threshold</a:t>
            </a:r>
            <a:endParaRPr lang="en-US" sz="800" dirty="0"/>
          </a:p>
        </p:txBody>
      </p:sp>
      <p:sp>
        <p:nvSpPr>
          <p:cNvPr id="36" name="Text 32"/>
          <p:cNvSpPr txBox="1"/>
          <p:nvPr/>
        </p:nvSpPr>
        <p:spPr>
          <a:xfrm>
            <a:off x="8732520" y="4892040"/>
            <a:ext cx="1463040" cy="685800"/>
          </a:xfrm>
          <a:prstGeom prst="rect">
            <a:avLst/>
          </a:prstGeom>
          <a:noFill/>
          <a:ln/>
        </p:spPr>
        <p:txBody>
          <a:bodyPr wrap="square" lIns="0" tIns="0" rIns="0" bIns="0" rtlCol="0" anchor="ctr"/>
          <a:lstStyle/>
          <a:p>
            <a:pPr indent="0" marL="0">
              <a:buNone/>
            </a:pPr>
            <a:r>
              <a:rPr lang="en-US" sz="3600" dirty="0">
                <a:solidFill>
                  <a:srgbClr val="E8431A"/>
                </a:solidFill>
                <a:latin typeface="Arial Black" pitchFamily="34" charset="0"/>
                <a:ea typeface="Arial Black" pitchFamily="34" charset="-122"/>
                <a:cs typeface="Arial Black" pitchFamily="34" charset="-120"/>
              </a:rPr>
              <a:t>7/7</a:t>
            </a:r>
            <a:endParaRPr lang="en-US" sz="3600" dirty="0"/>
          </a:p>
        </p:txBody>
      </p:sp>
      <p:sp>
        <p:nvSpPr>
          <p:cNvPr id="37" name="Text 33"/>
          <p:cNvSpPr txBox="1"/>
          <p:nvPr/>
        </p:nvSpPr>
        <p:spPr>
          <a:xfrm>
            <a:off x="8732520" y="5577840"/>
            <a:ext cx="1463040" cy="457200"/>
          </a:xfrm>
          <a:prstGeom prst="rect">
            <a:avLst/>
          </a:prstGeom>
          <a:noFill/>
          <a:ln/>
        </p:spPr>
        <p:txBody>
          <a:bodyPr wrap="square" lIns="0" tIns="0" rIns="0" bIns="0" rtlCol="0" anchor="ctr"/>
          <a:lstStyle/>
          <a:p>
            <a:pPr indent="0" marL="0">
              <a:buNone/>
            </a:pPr>
            <a:r>
              <a:rPr lang="en-US" sz="850" spc="100" kern="0" dirty="0">
                <a:solidFill>
                  <a:srgbClr val="CFCBC3"/>
                </a:solidFill>
                <a:latin typeface="Courier New" pitchFamily="34" charset="0"/>
                <a:ea typeface="Courier New" pitchFamily="34" charset="-122"/>
                <a:cs typeface="Courier New" pitchFamily="34" charset="-120"/>
              </a:rPr>
              <a:t>failure cases</a:t>
            </a:r>
            <a:endParaRPr lang="en-US" sz="850" dirty="0"/>
          </a:p>
          <a:p>
            <a:pPr indent="0" marL="0">
              <a:buNone/>
            </a:pPr>
            <a:r>
              <a:rPr lang="en-US" sz="850" spc="100" kern="0" dirty="0">
                <a:solidFill>
                  <a:srgbClr val="CFCBC3"/>
                </a:solidFill>
                <a:latin typeface="Courier New" pitchFamily="34" charset="0"/>
                <a:ea typeface="Courier New" pitchFamily="34" charset="-122"/>
                <a:cs typeface="Courier New" pitchFamily="34" charset="-120"/>
              </a:rPr>
              <a:t>intercepted</a:t>
            </a:r>
            <a:endParaRPr lang="en-US" sz="850" dirty="0"/>
          </a:p>
        </p:txBody>
      </p:sp>
      <p:sp>
        <p:nvSpPr>
          <p:cNvPr id="38" name="Text 34"/>
          <p:cNvSpPr txBox="1"/>
          <p:nvPr/>
        </p:nvSpPr>
        <p:spPr>
          <a:xfrm>
            <a:off x="10332720" y="4892040"/>
            <a:ext cx="1371600" cy="685800"/>
          </a:xfrm>
          <a:prstGeom prst="rect">
            <a:avLst/>
          </a:prstGeom>
          <a:noFill/>
          <a:ln/>
        </p:spPr>
        <p:txBody>
          <a:bodyPr wrap="square" lIns="0" tIns="0" rIns="0" bIns="0" rtlCol="0" anchor="ctr"/>
          <a:lstStyle/>
          <a:p>
            <a:pPr indent="0" marL="0">
              <a:buNone/>
            </a:pPr>
            <a:r>
              <a:rPr lang="en-US" sz="3600" dirty="0">
                <a:solidFill>
                  <a:srgbClr val="EDEBE6"/>
                </a:solidFill>
                <a:latin typeface="Arial Black" pitchFamily="34" charset="0"/>
                <a:ea typeface="Arial Black" pitchFamily="34" charset="-122"/>
                <a:cs typeface="Arial Black" pitchFamily="34" charset="-120"/>
              </a:rPr>
              <a:t>0</a:t>
            </a:r>
            <a:endParaRPr lang="en-US" sz="3600" dirty="0"/>
          </a:p>
        </p:txBody>
      </p:sp>
      <p:sp>
        <p:nvSpPr>
          <p:cNvPr id="39" name="Text 35"/>
          <p:cNvSpPr txBox="1"/>
          <p:nvPr/>
        </p:nvSpPr>
        <p:spPr>
          <a:xfrm>
            <a:off x="10332720" y="5577840"/>
            <a:ext cx="1371600" cy="457200"/>
          </a:xfrm>
          <a:prstGeom prst="rect">
            <a:avLst/>
          </a:prstGeom>
          <a:noFill/>
          <a:ln/>
        </p:spPr>
        <p:txBody>
          <a:bodyPr wrap="square" lIns="0" tIns="0" rIns="0" bIns="0" rtlCol="0" anchor="ctr"/>
          <a:lstStyle/>
          <a:p>
            <a:pPr indent="0" marL="0">
              <a:buNone/>
            </a:pPr>
            <a:r>
              <a:rPr lang="en-US" sz="850" spc="100" kern="0" dirty="0">
                <a:solidFill>
                  <a:srgbClr val="CFCBC3"/>
                </a:solidFill>
                <a:latin typeface="Courier New" pitchFamily="34" charset="0"/>
                <a:ea typeface="Courier New" pitchFamily="34" charset="-122"/>
                <a:cs typeface="Courier New" pitchFamily="34" charset="-120"/>
              </a:rPr>
              <a:t>false</a:t>
            </a:r>
            <a:endParaRPr lang="en-US" sz="850" dirty="0"/>
          </a:p>
          <a:p>
            <a:pPr indent="0" marL="0">
              <a:buNone/>
            </a:pPr>
            <a:r>
              <a:rPr lang="en-US" sz="850" spc="100" kern="0" dirty="0">
                <a:solidFill>
                  <a:srgbClr val="CFCBC3"/>
                </a:solidFill>
                <a:latin typeface="Courier New" pitchFamily="34" charset="0"/>
                <a:ea typeface="Courier New" pitchFamily="34" charset="-122"/>
                <a:cs typeface="Courier New" pitchFamily="34" charset="-120"/>
              </a:rPr>
              <a:t>acceptances</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000" b="1" spc="200" kern="0" dirty="0">
                <a:solidFill>
                  <a:srgbClr val="111111"/>
                </a:solidFill>
                <a:latin typeface="Courier New" pitchFamily="34" charset="0"/>
                <a:ea typeface="Courier New" pitchFamily="34" charset="-122"/>
                <a:cs typeface="Courier New" pitchFamily="34" charset="-120"/>
              </a:rPr>
              <a:t>14 — THE PRODUCT</a:t>
            </a:r>
            <a:endParaRPr lang="en-US" sz="1000" dirty="0"/>
          </a:p>
        </p:txBody>
      </p:sp>
      <p:sp>
        <p:nvSpPr>
          <p:cNvPr id="3" name="Text 1"/>
          <p:cNvSpPr txBox="1"/>
          <p:nvPr/>
        </p:nvSpPr>
        <p:spPr>
          <a:xfrm>
            <a:off x="6156655" y="292608"/>
            <a:ext cx="5486400" cy="274320"/>
          </a:xfrm>
          <a:prstGeom prst="rect">
            <a:avLst/>
          </a:prstGeom>
          <a:noFill/>
          <a:ln/>
        </p:spPr>
        <p:txBody>
          <a:bodyPr wrap="square" lIns="0" tIns="0" rIns="0" bIns="0" rtlCol="0" anchor="ctr"/>
          <a:lstStyle/>
          <a:p>
            <a:pPr algn="r" indent="0" marL="0">
              <a:buNone/>
            </a:pPr>
            <a:r>
              <a:rPr lang="en-US" sz="900" spc="200" kern="0" dirty="0">
                <a:solidFill>
                  <a:srgbClr val="6B6862"/>
                </a:solidFill>
                <a:latin typeface="Courier New" pitchFamily="34" charset="0"/>
                <a:ea typeface="Courier New" pitchFamily="34" charset="-122"/>
                <a:cs typeface="Courier New" pitchFamily="34" charset="-120"/>
              </a:rPr>
              <a:t>LISA  /  ASHOKA STARTUP CHALLENGE 2026</a:t>
            </a:r>
            <a:endParaRPr lang="en-US" sz="900" dirty="0"/>
          </a:p>
        </p:txBody>
      </p:sp>
      <p:sp>
        <p:nvSpPr>
          <p:cNvPr id="4"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900" dirty="0">
                <a:solidFill>
                  <a:srgbClr val="6B6862"/>
                </a:solidFill>
                <a:latin typeface="Courier New" pitchFamily="34" charset="0"/>
                <a:ea typeface="Courier New" pitchFamily="34" charset="-122"/>
                <a:cs typeface="Courier New" pitchFamily="34" charset="-120"/>
              </a:rPr>
              <a:t>14 / 24</a:t>
            </a:r>
            <a:endParaRPr lang="en-US" sz="900" dirty="0"/>
          </a:p>
        </p:txBody>
      </p:sp>
      <p:sp>
        <p:nvSpPr>
          <p:cNvPr id="5" name="Shape 3"/>
          <p:cNvSpPr/>
          <p:nvPr/>
        </p:nvSpPr>
        <p:spPr>
          <a:xfrm>
            <a:off x="210312" y="6583680"/>
            <a:ext cx="164592" cy="0"/>
          </a:xfrm>
          <a:prstGeom prst="line">
            <a:avLst/>
          </a:prstGeom>
          <a:noFill/>
          <a:ln w="9525">
            <a:solidFill>
              <a:srgbClr val="111111"/>
            </a:solidFill>
            <a:prstDash val="solid"/>
          </a:ln>
        </p:spPr>
      </p:sp>
      <p:sp>
        <p:nvSpPr>
          <p:cNvPr id="6" name="Shape 4"/>
          <p:cNvSpPr/>
          <p:nvPr/>
        </p:nvSpPr>
        <p:spPr>
          <a:xfrm>
            <a:off x="292608" y="6501384"/>
            <a:ext cx="0" cy="164592"/>
          </a:xfrm>
          <a:prstGeom prst="line">
            <a:avLst/>
          </a:prstGeom>
          <a:noFill/>
          <a:ln w="9525">
            <a:solidFill>
              <a:srgbClr val="111111"/>
            </a:solidFill>
            <a:prstDash val="solid"/>
          </a:ln>
        </p:spPr>
      </p:sp>
      <p:sp>
        <p:nvSpPr>
          <p:cNvPr id="7" name="Text 5"/>
          <p:cNvSpPr txBox="1"/>
          <p:nvPr/>
        </p:nvSpPr>
        <p:spPr>
          <a:xfrm>
            <a:off x="548640" y="685800"/>
            <a:ext cx="10515600" cy="640080"/>
          </a:xfrm>
          <a:prstGeom prst="rect">
            <a:avLst/>
          </a:prstGeom>
          <a:noFill/>
          <a:ln/>
        </p:spPr>
        <p:txBody>
          <a:bodyPr wrap="square" lIns="0" tIns="0" rIns="0" bIns="0" rtlCol="0" anchor="t"/>
          <a:lstStyle/>
          <a:p>
            <a:pPr indent="0" marL="0">
              <a:lnSpc>
                <a:spcPct val="92000"/>
              </a:lnSpc>
              <a:buNone/>
            </a:pPr>
            <a:r>
              <a:rPr lang="en-US" sz="3400" dirty="0">
                <a:solidFill>
                  <a:srgbClr val="111111"/>
                </a:solidFill>
                <a:latin typeface="Arial Black" pitchFamily="34" charset="0"/>
                <a:ea typeface="Arial Black" pitchFamily="34" charset="-122"/>
                <a:cs typeface="Arial Black" pitchFamily="34" charset="-120"/>
              </a:rPr>
              <a:t>Built. Running. </a:t>
            </a:r>
            <a:pPr indent="0" marL="0">
              <a:lnSpc>
                <a:spcPct val="92000"/>
              </a:lnSpc>
              <a:buNone/>
            </a:pPr>
            <a:r>
              <a:rPr lang="en-US" sz="3400" dirty="0">
                <a:solidFill>
                  <a:srgbClr val="1F3AE0"/>
                </a:solidFill>
                <a:latin typeface="Arial Black" pitchFamily="34" charset="0"/>
                <a:ea typeface="Arial Black" pitchFamily="34" charset="-122"/>
                <a:cs typeface="Arial Black" pitchFamily="34" charset="-120"/>
              </a:rPr>
              <a:t>Offline.</a:t>
            </a:r>
            <a:endParaRPr lang="en-US" sz="3400" dirty="0"/>
          </a:p>
        </p:txBody>
      </p:sp>
      <p:sp>
        <p:nvSpPr>
          <p:cNvPr id="8" name="Shape 6"/>
          <p:cNvSpPr/>
          <p:nvPr/>
        </p:nvSpPr>
        <p:spPr>
          <a:xfrm>
            <a:off x="621792" y="1627632"/>
            <a:ext cx="7680960" cy="4800600"/>
          </a:xfrm>
          <a:prstGeom prst="rect">
            <a:avLst/>
          </a:prstGeom>
          <a:solidFill>
            <a:srgbClr val="111111"/>
          </a:solidFill>
          <a:ln/>
        </p:spPr>
      </p:sp>
      <p:pic>
        <p:nvPicPr>
          <p:cNvPr id="9" name="Image 0" descr="assets/app_home.png">    </p:cNvPr>
          <p:cNvPicPr>
            <a:picLocks noChangeAspect="1"/>
          </p:cNvPicPr>
          <p:nvPr/>
        </p:nvPicPr>
        <p:blipFill>
          <a:blip r:embed="rId2"/>
          <a:stretch>
            <a:fillRect/>
          </a:stretch>
        </p:blipFill>
        <p:spPr>
          <a:xfrm>
            <a:off x="548640" y="1554480"/>
            <a:ext cx="7680960" cy="4800600"/>
          </a:xfrm>
          <a:prstGeom prst="rect">
            <a:avLst/>
          </a:prstGeom>
        </p:spPr>
      </p:pic>
      <p:sp>
        <p:nvSpPr>
          <p:cNvPr id="10" name="Shape 7"/>
          <p:cNvSpPr/>
          <p:nvPr/>
        </p:nvSpPr>
        <p:spPr>
          <a:xfrm>
            <a:off x="548640" y="1554480"/>
            <a:ext cx="7680960" cy="4800600"/>
          </a:xfrm>
          <a:prstGeom prst="rect">
            <a:avLst/>
          </a:prstGeom>
          <a:ln w="12700">
            <a:solidFill>
              <a:srgbClr val="111111"/>
            </a:solidFill>
            <a:prstDash val="solid"/>
          </a:ln>
        </p:spPr>
      </p:sp>
      <p:pic>
        <p:nvPicPr>
          <p:cNvPr id="11" name="Image 1" descr="preencoded.png">    </p:cNvPr>
          <p:cNvPicPr>
            <a:picLocks noChangeAspect="1"/>
          </p:cNvPicPr>
          <p:nvPr/>
        </p:nvPicPr>
        <p:blipFill>
          <a:blip r:embed="rId3"/>
          <a:stretch>
            <a:fillRect/>
          </a:stretch>
        </p:blipFill>
        <p:spPr>
          <a:xfrm>
            <a:off x="8595360" y="1600200"/>
            <a:ext cx="329184" cy="329184"/>
          </a:xfrm>
          <a:prstGeom prst="rect">
            <a:avLst/>
          </a:prstGeom>
        </p:spPr>
      </p:pic>
      <p:sp>
        <p:nvSpPr>
          <p:cNvPr id="12" name="Text 8"/>
          <p:cNvSpPr txBox="1"/>
          <p:nvPr/>
        </p:nvSpPr>
        <p:spPr>
          <a:xfrm>
            <a:off x="9052560" y="1554480"/>
            <a:ext cx="2651760" cy="292608"/>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Hindi + English voice</a:t>
            </a:r>
            <a:endParaRPr lang="en-US" sz="1250" dirty="0"/>
          </a:p>
        </p:txBody>
      </p:sp>
      <p:sp>
        <p:nvSpPr>
          <p:cNvPr id="13" name="Text 9"/>
          <p:cNvSpPr txBox="1"/>
          <p:nvPr/>
        </p:nvSpPr>
        <p:spPr>
          <a:xfrm>
            <a:off x="9052560" y="1856232"/>
            <a:ext cx="2651760" cy="457200"/>
          </a:xfrm>
          <a:prstGeom prst="rect">
            <a:avLst/>
          </a:prstGeom>
          <a:noFill/>
          <a:ln/>
        </p:spPr>
        <p:txBody>
          <a:bodyPr wrap="square" lIns="0" tIns="0" rIns="0" bIns="0" rtlCol="0" anchor="t"/>
          <a:lstStyle/>
          <a:p>
            <a:pPr indent="0" marL="0">
              <a:buNone/>
            </a:pPr>
            <a:r>
              <a:rPr lang="en-US" sz="1000" dirty="0">
                <a:solidFill>
                  <a:srgbClr val="6B6862"/>
                </a:solidFill>
                <a:latin typeface="Arial" pitchFamily="34" charset="0"/>
                <a:ea typeface="Arial" pitchFamily="34" charset="-122"/>
                <a:cs typeface="Arial" pitchFamily="34" charset="-120"/>
              </a:rPr>
              <a:t>“फॉस्फेट की मात्रा 0.41 मिलीग्राम प्रति लीटर है”</a:t>
            </a:r>
            <a:endParaRPr lang="en-US" sz="1000" dirty="0"/>
          </a:p>
        </p:txBody>
      </p:sp>
      <p:pic>
        <p:nvPicPr>
          <p:cNvPr id="14" name="Image 2" descr="preencoded.png">    </p:cNvPr>
          <p:cNvPicPr>
            <a:picLocks noChangeAspect="1"/>
          </p:cNvPicPr>
          <p:nvPr/>
        </p:nvPicPr>
        <p:blipFill>
          <a:blip r:embed="rId4"/>
          <a:stretch>
            <a:fillRect/>
          </a:stretch>
        </p:blipFill>
        <p:spPr>
          <a:xfrm>
            <a:off x="8595360" y="2404872"/>
            <a:ext cx="329184" cy="329184"/>
          </a:xfrm>
          <a:prstGeom prst="rect">
            <a:avLst/>
          </a:prstGeom>
        </p:spPr>
      </p:pic>
      <p:sp>
        <p:nvSpPr>
          <p:cNvPr id="15" name="Text 10"/>
          <p:cNvSpPr txBox="1"/>
          <p:nvPr/>
        </p:nvSpPr>
        <p:spPr>
          <a:xfrm>
            <a:off x="9052560" y="2359152"/>
            <a:ext cx="2651760" cy="292608"/>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Offline-first PWA</a:t>
            </a:r>
            <a:endParaRPr lang="en-US" sz="1250" dirty="0"/>
          </a:p>
        </p:txBody>
      </p:sp>
      <p:sp>
        <p:nvSpPr>
          <p:cNvPr id="16" name="Text 11"/>
          <p:cNvSpPr txBox="1"/>
          <p:nvPr/>
        </p:nvSpPr>
        <p:spPr>
          <a:xfrm>
            <a:off x="9052560" y="2660904"/>
            <a:ext cx="2651760" cy="457200"/>
          </a:xfrm>
          <a:prstGeom prst="rect">
            <a:avLst/>
          </a:prstGeom>
          <a:noFill/>
          <a:ln/>
        </p:spPr>
        <p:txBody>
          <a:bodyPr wrap="square" lIns="0" tIns="0" rIns="0" bIns="0" rtlCol="0" anchor="t"/>
          <a:lstStyle/>
          <a:p>
            <a:pPr indent="0" marL="0">
              <a:buNone/>
            </a:pPr>
            <a:r>
              <a:rPr lang="en-US" sz="1000" dirty="0">
                <a:solidFill>
                  <a:srgbClr val="6B6862"/>
                </a:solidFill>
                <a:latin typeface="Arial" pitchFamily="34" charset="0"/>
                <a:ea typeface="Arial" pitchFamily="34" charset="-122"/>
                <a:cs typeface="Arial" pitchFamily="34" charset="-120"/>
              </a:rPr>
              <a:t>Measures and stores with zero signal</a:t>
            </a:r>
            <a:endParaRPr lang="en-US" sz="1000" dirty="0"/>
          </a:p>
        </p:txBody>
      </p:sp>
      <p:pic>
        <p:nvPicPr>
          <p:cNvPr id="17" name="Image 3" descr="preencoded.png">    </p:cNvPr>
          <p:cNvPicPr>
            <a:picLocks noChangeAspect="1"/>
          </p:cNvPicPr>
          <p:nvPr/>
        </p:nvPicPr>
        <p:blipFill>
          <a:blip r:embed="rId5"/>
          <a:stretch>
            <a:fillRect/>
          </a:stretch>
        </p:blipFill>
        <p:spPr>
          <a:xfrm>
            <a:off x="8595360" y="3209544"/>
            <a:ext cx="329184" cy="329184"/>
          </a:xfrm>
          <a:prstGeom prst="rect">
            <a:avLst/>
          </a:prstGeom>
        </p:spPr>
      </p:pic>
      <p:sp>
        <p:nvSpPr>
          <p:cNvPr id="18" name="Text 12"/>
          <p:cNvSpPr txBox="1"/>
          <p:nvPr/>
        </p:nvSpPr>
        <p:spPr>
          <a:xfrm>
            <a:off x="9052560" y="3163824"/>
            <a:ext cx="2651760" cy="292608"/>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Geotagged history</a:t>
            </a:r>
            <a:endParaRPr lang="en-US" sz="1250" dirty="0"/>
          </a:p>
        </p:txBody>
      </p:sp>
      <p:sp>
        <p:nvSpPr>
          <p:cNvPr id="19" name="Text 13"/>
          <p:cNvSpPr txBox="1"/>
          <p:nvPr/>
        </p:nvSpPr>
        <p:spPr>
          <a:xfrm>
            <a:off x="9052560" y="3465576"/>
            <a:ext cx="2651760" cy="457200"/>
          </a:xfrm>
          <a:prstGeom prst="rect">
            <a:avLst/>
          </a:prstGeom>
          <a:noFill/>
          <a:ln/>
        </p:spPr>
        <p:txBody>
          <a:bodyPr wrap="square" lIns="0" tIns="0" rIns="0" bIns="0" rtlCol="0" anchor="t"/>
          <a:lstStyle/>
          <a:p>
            <a:pPr indent="0" marL="0">
              <a:buNone/>
            </a:pPr>
            <a:r>
              <a:rPr lang="en-US" sz="1000" dirty="0">
                <a:solidFill>
                  <a:srgbClr val="6B6862"/>
                </a:solidFill>
                <a:latin typeface="Arial" pitchFamily="34" charset="0"/>
                <a:ea typeface="Arial" pitchFamily="34" charset="-122"/>
                <a:cs typeface="Arial" pitchFamily="34" charset="-120"/>
              </a:rPr>
              <a:t>GPS, time, device fingerprint, raw spectrum</a:t>
            </a:r>
            <a:endParaRPr lang="en-US" sz="1000" dirty="0"/>
          </a:p>
        </p:txBody>
      </p:sp>
      <p:pic>
        <p:nvPicPr>
          <p:cNvPr id="20" name="Image 4" descr="preencoded.png">    </p:cNvPr>
          <p:cNvPicPr>
            <a:picLocks noChangeAspect="1"/>
          </p:cNvPicPr>
          <p:nvPr/>
        </p:nvPicPr>
        <p:blipFill>
          <a:blip r:embed="rId6"/>
          <a:stretch>
            <a:fillRect/>
          </a:stretch>
        </p:blipFill>
        <p:spPr>
          <a:xfrm>
            <a:off x="8595360" y="4014216"/>
            <a:ext cx="329184" cy="329184"/>
          </a:xfrm>
          <a:prstGeom prst="rect">
            <a:avLst/>
          </a:prstGeom>
        </p:spPr>
      </p:pic>
      <p:sp>
        <p:nvSpPr>
          <p:cNvPr id="21" name="Text 14"/>
          <p:cNvSpPr txBox="1"/>
          <p:nvPr/>
        </p:nvSpPr>
        <p:spPr>
          <a:xfrm>
            <a:off x="9052560" y="3968496"/>
            <a:ext cx="2651760" cy="292608"/>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WhatsApp share</a:t>
            </a:r>
            <a:endParaRPr lang="en-US" sz="1250" dirty="0"/>
          </a:p>
        </p:txBody>
      </p:sp>
      <p:sp>
        <p:nvSpPr>
          <p:cNvPr id="22" name="Text 15"/>
          <p:cNvSpPr txBox="1"/>
          <p:nvPr/>
        </p:nvSpPr>
        <p:spPr>
          <a:xfrm>
            <a:off x="9052560" y="4270248"/>
            <a:ext cx="2651760" cy="457200"/>
          </a:xfrm>
          <a:prstGeom prst="rect">
            <a:avLst/>
          </a:prstGeom>
          <a:noFill/>
          <a:ln/>
        </p:spPr>
        <p:txBody>
          <a:bodyPr wrap="square" lIns="0" tIns="0" rIns="0" bIns="0" rtlCol="0" anchor="t"/>
          <a:lstStyle/>
          <a:p>
            <a:pPr indent="0" marL="0">
              <a:buNone/>
            </a:pPr>
            <a:r>
              <a:rPr lang="en-US" sz="1000" dirty="0">
                <a:solidFill>
                  <a:srgbClr val="6B6862"/>
                </a:solidFill>
                <a:latin typeface="Arial" pitchFamily="34" charset="0"/>
                <a:ea typeface="Arial" pitchFamily="34" charset="-122"/>
                <a:cs typeface="Arial" pitchFamily="34" charset="-120"/>
              </a:rPr>
              <a:t>One tap to the panchayat group</a:t>
            </a:r>
            <a:endParaRPr lang="en-US" sz="1000" dirty="0"/>
          </a:p>
        </p:txBody>
      </p:sp>
      <p:pic>
        <p:nvPicPr>
          <p:cNvPr id="23" name="Image 5" descr="preencoded.png">    </p:cNvPr>
          <p:cNvPicPr>
            <a:picLocks noChangeAspect="1"/>
          </p:cNvPicPr>
          <p:nvPr/>
        </p:nvPicPr>
        <p:blipFill>
          <a:blip r:embed="rId7"/>
          <a:stretch>
            <a:fillRect/>
          </a:stretch>
        </p:blipFill>
        <p:spPr>
          <a:xfrm>
            <a:off x="8595360" y="4818888"/>
            <a:ext cx="329184" cy="329184"/>
          </a:xfrm>
          <a:prstGeom prst="rect">
            <a:avLst/>
          </a:prstGeom>
        </p:spPr>
      </p:pic>
      <p:sp>
        <p:nvSpPr>
          <p:cNvPr id="24" name="Text 16"/>
          <p:cNvSpPr txBox="1"/>
          <p:nvPr/>
        </p:nvSpPr>
        <p:spPr>
          <a:xfrm>
            <a:off x="9052560" y="4773168"/>
            <a:ext cx="2651760" cy="292608"/>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3D digital twin</a:t>
            </a:r>
            <a:endParaRPr lang="en-US" sz="1250" dirty="0"/>
          </a:p>
        </p:txBody>
      </p:sp>
      <p:sp>
        <p:nvSpPr>
          <p:cNvPr id="25" name="Text 17"/>
          <p:cNvSpPr txBox="1"/>
          <p:nvPr/>
        </p:nvSpPr>
        <p:spPr>
          <a:xfrm>
            <a:off x="9052560" y="5074920"/>
            <a:ext cx="2651760" cy="457200"/>
          </a:xfrm>
          <a:prstGeom prst="rect">
            <a:avLst/>
          </a:prstGeom>
          <a:noFill/>
          <a:ln/>
        </p:spPr>
        <p:txBody>
          <a:bodyPr wrap="square" lIns="0" tIns="0" rIns="0" bIns="0" rtlCol="0" anchor="t"/>
          <a:lstStyle/>
          <a:p>
            <a:pPr indent="0" marL="0">
              <a:buNone/>
            </a:pPr>
            <a:r>
              <a:rPr lang="en-US" sz="1000" dirty="0">
                <a:solidFill>
                  <a:srgbClr val="6B6862"/>
                </a:solidFill>
                <a:latin typeface="Arial" pitchFamily="34" charset="0"/>
                <a:ea typeface="Arial" pitchFamily="34" charset="-122"/>
                <a:cs typeface="Arial" pitchFamily="34" charset="-120"/>
              </a:rPr>
              <a:t>Optics, faults and chemistry, live</a:t>
            </a:r>
            <a:endParaRPr lang="en-US" sz="1000" dirty="0"/>
          </a:p>
        </p:txBody>
      </p:sp>
      <p:pic>
        <p:nvPicPr>
          <p:cNvPr id="26" name="Image 6" descr="preencoded.png">    </p:cNvPr>
          <p:cNvPicPr>
            <a:picLocks noChangeAspect="1"/>
          </p:cNvPicPr>
          <p:nvPr/>
        </p:nvPicPr>
        <p:blipFill>
          <a:blip r:embed="rId8"/>
          <a:stretch>
            <a:fillRect/>
          </a:stretch>
        </p:blipFill>
        <p:spPr>
          <a:xfrm>
            <a:off x="8595360" y="5623560"/>
            <a:ext cx="329184" cy="329184"/>
          </a:xfrm>
          <a:prstGeom prst="rect">
            <a:avLst/>
          </a:prstGeom>
        </p:spPr>
      </p:pic>
      <p:sp>
        <p:nvSpPr>
          <p:cNvPr id="27" name="Text 18"/>
          <p:cNvSpPr txBox="1"/>
          <p:nvPr/>
        </p:nvSpPr>
        <p:spPr>
          <a:xfrm>
            <a:off x="9052560" y="5577840"/>
            <a:ext cx="2651760" cy="292608"/>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20-sample library</a:t>
            </a:r>
            <a:endParaRPr lang="en-US" sz="1250" dirty="0"/>
          </a:p>
        </p:txBody>
      </p:sp>
      <p:sp>
        <p:nvSpPr>
          <p:cNvPr id="28" name="Text 19"/>
          <p:cNvSpPr txBox="1"/>
          <p:nvPr/>
        </p:nvSpPr>
        <p:spPr>
          <a:xfrm>
            <a:off x="9052560" y="5879592"/>
            <a:ext cx="2651760" cy="457200"/>
          </a:xfrm>
          <a:prstGeom prst="rect">
            <a:avLst/>
          </a:prstGeom>
          <a:noFill/>
          <a:ln/>
        </p:spPr>
        <p:txBody>
          <a:bodyPr wrap="square" lIns="0" tIns="0" rIns="0" bIns="0" rtlCol="0" anchor="t"/>
          <a:lstStyle/>
          <a:p>
            <a:pPr indent="0" marL="0">
              <a:buNone/>
            </a:pPr>
            <a:r>
              <a:rPr lang="en-US" sz="1000" dirty="0">
                <a:solidFill>
                  <a:srgbClr val="6B6862"/>
                </a:solidFill>
                <a:latin typeface="Arial" pitchFamily="34" charset="0"/>
                <a:ea typeface="Arial" pitchFamily="34" charset="-122"/>
                <a:cs typeface="Arial" pitchFamily="34" charset="-120"/>
              </a:rPr>
              <a:t>Tap water to industrial effluent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000" b="1" spc="200" kern="0" dirty="0">
                <a:solidFill>
                  <a:srgbClr val="D8D4CC"/>
                </a:solidFill>
                <a:latin typeface="Courier New" pitchFamily="34" charset="0"/>
                <a:ea typeface="Courier New" pitchFamily="34" charset="-122"/>
                <a:cs typeface="Courier New" pitchFamily="34" charset="-120"/>
              </a:rPr>
              <a:t>15 — VALIDATION</a:t>
            </a:r>
            <a:endParaRPr lang="en-US" sz="1000" dirty="0"/>
          </a:p>
        </p:txBody>
      </p:sp>
      <p:sp>
        <p:nvSpPr>
          <p:cNvPr id="3" name="Text 1"/>
          <p:cNvSpPr txBox="1"/>
          <p:nvPr/>
        </p:nvSpPr>
        <p:spPr>
          <a:xfrm>
            <a:off x="6156655" y="292608"/>
            <a:ext cx="5486400" cy="274320"/>
          </a:xfrm>
          <a:prstGeom prst="rect">
            <a:avLst/>
          </a:prstGeom>
          <a:noFill/>
          <a:ln/>
        </p:spPr>
        <p:txBody>
          <a:bodyPr wrap="square" lIns="0" tIns="0" rIns="0" bIns="0" rtlCol="0" anchor="ctr"/>
          <a:lstStyle/>
          <a:p>
            <a:pPr algn="r" indent="0" marL="0">
              <a:buNone/>
            </a:pPr>
            <a:r>
              <a:rPr lang="en-US" sz="900" spc="200" kern="0" dirty="0">
                <a:solidFill>
                  <a:srgbClr val="A9A59E"/>
                </a:solidFill>
                <a:latin typeface="Courier New" pitchFamily="34" charset="0"/>
                <a:ea typeface="Courier New" pitchFamily="34" charset="-122"/>
                <a:cs typeface="Courier New" pitchFamily="34" charset="-120"/>
              </a:rPr>
              <a:t>LISA  /  ASHOKA STARTUP CHALLENGE 2026</a:t>
            </a:r>
            <a:endParaRPr lang="en-US" sz="900" dirty="0"/>
          </a:p>
        </p:txBody>
      </p:sp>
      <p:sp>
        <p:nvSpPr>
          <p:cNvPr id="4"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900" dirty="0">
                <a:solidFill>
                  <a:srgbClr val="A9A59E"/>
                </a:solidFill>
                <a:latin typeface="Courier New" pitchFamily="34" charset="0"/>
                <a:ea typeface="Courier New" pitchFamily="34" charset="-122"/>
                <a:cs typeface="Courier New" pitchFamily="34" charset="-120"/>
              </a:rPr>
              <a:t>15 / 24</a:t>
            </a:r>
            <a:endParaRPr lang="en-US" sz="900" dirty="0"/>
          </a:p>
        </p:txBody>
      </p:sp>
      <p:sp>
        <p:nvSpPr>
          <p:cNvPr id="5" name="Shape 3"/>
          <p:cNvSpPr/>
          <p:nvPr/>
        </p:nvSpPr>
        <p:spPr>
          <a:xfrm>
            <a:off x="210312" y="6583680"/>
            <a:ext cx="164592" cy="0"/>
          </a:xfrm>
          <a:prstGeom prst="line">
            <a:avLst/>
          </a:prstGeom>
          <a:noFill/>
          <a:ln w="9525">
            <a:solidFill>
              <a:srgbClr val="D8D4CC"/>
            </a:solidFill>
            <a:prstDash val="solid"/>
          </a:ln>
        </p:spPr>
      </p:sp>
      <p:sp>
        <p:nvSpPr>
          <p:cNvPr id="6" name="Shape 4"/>
          <p:cNvSpPr/>
          <p:nvPr/>
        </p:nvSpPr>
        <p:spPr>
          <a:xfrm>
            <a:off x="292608" y="6501384"/>
            <a:ext cx="0" cy="164592"/>
          </a:xfrm>
          <a:prstGeom prst="line">
            <a:avLst/>
          </a:prstGeom>
          <a:noFill/>
          <a:ln w="9525">
            <a:solidFill>
              <a:srgbClr val="D8D4CC"/>
            </a:solidFill>
            <a:prstDash val="solid"/>
          </a:ln>
        </p:spPr>
      </p:sp>
      <p:sp>
        <p:nvSpPr>
          <p:cNvPr id="7" name="Text 5"/>
          <p:cNvSpPr txBox="1"/>
          <p:nvPr/>
        </p:nvSpPr>
        <p:spPr>
          <a:xfrm>
            <a:off x="548640" y="731520"/>
            <a:ext cx="5943600" cy="1188720"/>
          </a:xfrm>
          <a:prstGeom prst="rect">
            <a:avLst/>
          </a:prstGeom>
          <a:noFill/>
          <a:ln/>
        </p:spPr>
        <p:txBody>
          <a:bodyPr wrap="square" lIns="0" tIns="0" rIns="0" bIns="0" rtlCol="0" anchor="t"/>
          <a:lstStyle/>
          <a:p>
            <a:pPr indent="0" marL="0">
              <a:buNone/>
            </a:pPr>
            <a:r>
              <a:rPr lang="en-US" sz="3000" dirty="0">
                <a:solidFill>
                  <a:srgbClr val="EDEBE6"/>
                </a:solidFill>
                <a:latin typeface="Arial Black" pitchFamily="34" charset="0"/>
                <a:ea typeface="Arial Black" pitchFamily="34" charset="-122"/>
                <a:cs typeface="Arial Black" pitchFamily="34" charset="-120"/>
              </a:rPr>
              <a:t>Tested like an instrument,
</a:t>
            </a:r>
            <a:pPr indent="0" marL="0">
              <a:buNone/>
            </a:pPr>
            <a:r>
              <a:rPr lang="en-US" sz="3000" dirty="0">
                <a:solidFill>
                  <a:srgbClr val="8FA1FF"/>
                </a:solidFill>
                <a:latin typeface="Arial Black" pitchFamily="34" charset="0"/>
                <a:ea typeface="Arial Black" pitchFamily="34" charset="-122"/>
                <a:cs typeface="Arial Black" pitchFamily="34" charset="-120"/>
              </a:rPr>
              <a:t>not a demo.</a:t>
            </a:r>
            <a:endParaRPr lang="en-US" sz="3000" dirty="0"/>
          </a:p>
        </p:txBody>
      </p:sp>
      <p:sp>
        <p:nvSpPr>
          <p:cNvPr id="8" name="Shape 6"/>
          <p:cNvSpPr/>
          <p:nvPr/>
        </p:nvSpPr>
        <p:spPr>
          <a:xfrm>
            <a:off x="548640" y="2148840"/>
            <a:ext cx="2697480" cy="1143000"/>
          </a:xfrm>
          <a:prstGeom prst="rect">
            <a:avLst/>
          </a:prstGeom>
          <a:ln w="9525">
            <a:solidFill>
              <a:srgbClr val="55524D"/>
            </a:solidFill>
            <a:prstDash val="solid"/>
          </a:ln>
        </p:spPr>
      </p:sp>
      <p:sp>
        <p:nvSpPr>
          <p:cNvPr id="9" name="Text 7"/>
          <p:cNvSpPr txBox="1"/>
          <p:nvPr/>
        </p:nvSpPr>
        <p:spPr>
          <a:xfrm>
            <a:off x="731520" y="2258568"/>
            <a:ext cx="2377440" cy="548640"/>
          </a:xfrm>
          <a:prstGeom prst="rect">
            <a:avLst/>
          </a:prstGeom>
          <a:noFill/>
          <a:ln/>
        </p:spPr>
        <p:txBody>
          <a:bodyPr wrap="square" lIns="0" tIns="0" rIns="0" bIns="0" rtlCol="0" anchor="ctr"/>
          <a:lstStyle/>
          <a:p>
            <a:pPr indent="0" marL="0">
              <a:buNone/>
            </a:pPr>
            <a:r>
              <a:rPr lang="en-US" sz="2400" dirty="0">
                <a:solidFill>
                  <a:srgbClr val="EDEBE6"/>
                </a:solidFill>
                <a:latin typeface="Arial Black" pitchFamily="34" charset="0"/>
                <a:ea typeface="Arial Black" pitchFamily="34" charset="-122"/>
                <a:cs typeface="Arial Black" pitchFamily="34" charset="-120"/>
              </a:rPr>
              <a:t>50/50</a:t>
            </a:r>
            <a:endParaRPr lang="en-US" sz="2400" dirty="0"/>
          </a:p>
        </p:txBody>
      </p:sp>
      <p:sp>
        <p:nvSpPr>
          <p:cNvPr id="10" name="Text 8"/>
          <p:cNvSpPr txBox="1"/>
          <p:nvPr/>
        </p:nvSpPr>
        <p:spPr>
          <a:xfrm>
            <a:off x="731520" y="2834640"/>
            <a:ext cx="2423160" cy="365760"/>
          </a:xfrm>
          <a:prstGeom prst="rect">
            <a:avLst/>
          </a:prstGeom>
          <a:noFill/>
          <a:ln/>
        </p:spPr>
        <p:txBody>
          <a:bodyPr wrap="square" lIns="0" tIns="0" rIns="0" bIns="0" rtlCol="0" anchor="ctr"/>
          <a:lstStyle/>
          <a:p>
            <a:pPr indent="0" marL="0">
              <a:buNone/>
            </a:pPr>
            <a:r>
              <a:rPr lang="en-US" sz="850" spc="100" kern="0" dirty="0">
                <a:solidFill>
                  <a:srgbClr val="A9A59E"/>
                </a:solidFill>
                <a:latin typeface="Courier New" pitchFamily="34" charset="0"/>
                <a:ea typeface="Courier New" pitchFamily="34" charset="-122"/>
                <a:cs typeface="Courier New" pitchFamily="34" charset="-120"/>
              </a:rPr>
              <a:t>verification tests passed</a:t>
            </a:r>
            <a:endParaRPr lang="en-US" sz="850" dirty="0"/>
          </a:p>
        </p:txBody>
      </p:sp>
      <p:sp>
        <p:nvSpPr>
          <p:cNvPr id="11" name="Shape 9"/>
          <p:cNvSpPr/>
          <p:nvPr/>
        </p:nvSpPr>
        <p:spPr>
          <a:xfrm>
            <a:off x="3429000" y="2148840"/>
            <a:ext cx="2697480" cy="1143000"/>
          </a:xfrm>
          <a:prstGeom prst="rect">
            <a:avLst/>
          </a:prstGeom>
          <a:ln w="9525">
            <a:solidFill>
              <a:srgbClr val="55524D"/>
            </a:solidFill>
            <a:prstDash val="solid"/>
          </a:ln>
        </p:spPr>
      </p:sp>
      <p:sp>
        <p:nvSpPr>
          <p:cNvPr id="12" name="Text 10"/>
          <p:cNvSpPr txBox="1"/>
          <p:nvPr/>
        </p:nvSpPr>
        <p:spPr>
          <a:xfrm>
            <a:off x="3611880" y="2258568"/>
            <a:ext cx="2377440" cy="548640"/>
          </a:xfrm>
          <a:prstGeom prst="rect">
            <a:avLst/>
          </a:prstGeom>
          <a:noFill/>
          <a:ln/>
        </p:spPr>
        <p:txBody>
          <a:bodyPr wrap="square" lIns="0" tIns="0" rIns="0" bIns="0" rtlCol="0" anchor="ctr"/>
          <a:lstStyle/>
          <a:p>
            <a:pPr indent="0" marL="0">
              <a:buNone/>
            </a:pPr>
            <a:r>
              <a:rPr lang="en-US" sz="2400" dirty="0">
                <a:solidFill>
                  <a:srgbClr val="EDEBE6"/>
                </a:solidFill>
                <a:latin typeface="Arial Black" pitchFamily="34" charset="0"/>
                <a:ea typeface="Arial Black" pitchFamily="34" charset="-122"/>
                <a:cs typeface="Arial Black" pitchFamily="34" charset="-120"/>
              </a:rPr>
              <a:t>0.034</a:t>
            </a:r>
            <a:endParaRPr lang="en-US" sz="2400" dirty="0"/>
          </a:p>
        </p:txBody>
      </p:sp>
      <p:sp>
        <p:nvSpPr>
          <p:cNvPr id="13" name="Text 11"/>
          <p:cNvSpPr txBox="1"/>
          <p:nvPr/>
        </p:nvSpPr>
        <p:spPr>
          <a:xfrm>
            <a:off x="3611880" y="2834640"/>
            <a:ext cx="2423160" cy="365760"/>
          </a:xfrm>
          <a:prstGeom prst="rect">
            <a:avLst/>
          </a:prstGeom>
          <a:noFill/>
          <a:ln/>
        </p:spPr>
        <p:txBody>
          <a:bodyPr wrap="square" lIns="0" tIns="0" rIns="0" bIns="0" rtlCol="0" anchor="ctr"/>
          <a:lstStyle/>
          <a:p>
            <a:pPr indent="0" marL="0">
              <a:buNone/>
            </a:pPr>
            <a:r>
              <a:rPr lang="en-US" sz="850" spc="100" kern="0" dirty="0">
                <a:solidFill>
                  <a:srgbClr val="A9A59E"/>
                </a:solidFill>
                <a:latin typeface="Courier New" pitchFamily="34" charset="0"/>
                <a:ea typeface="Courier New" pitchFamily="34" charset="-122"/>
                <a:cs typeface="Courier New" pitchFamily="34" charset="-120"/>
              </a:rPr>
              <a:t>MAE, mg/L, 20 scenarios</a:t>
            </a:r>
            <a:endParaRPr lang="en-US" sz="850" dirty="0"/>
          </a:p>
        </p:txBody>
      </p:sp>
      <p:sp>
        <p:nvSpPr>
          <p:cNvPr id="14" name="Shape 12"/>
          <p:cNvSpPr/>
          <p:nvPr/>
        </p:nvSpPr>
        <p:spPr>
          <a:xfrm>
            <a:off x="548640" y="3474720"/>
            <a:ext cx="2697480" cy="1143000"/>
          </a:xfrm>
          <a:prstGeom prst="rect">
            <a:avLst/>
          </a:prstGeom>
          <a:ln w="9525">
            <a:solidFill>
              <a:srgbClr val="55524D"/>
            </a:solidFill>
            <a:prstDash val="solid"/>
          </a:ln>
        </p:spPr>
      </p:sp>
      <p:sp>
        <p:nvSpPr>
          <p:cNvPr id="15" name="Text 13"/>
          <p:cNvSpPr txBox="1"/>
          <p:nvPr/>
        </p:nvSpPr>
        <p:spPr>
          <a:xfrm>
            <a:off x="731520" y="3584448"/>
            <a:ext cx="2377440" cy="548640"/>
          </a:xfrm>
          <a:prstGeom prst="rect">
            <a:avLst/>
          </a:prstGeom>
          <a:noFill/>
          <a:ln/>
        </p:spPr>
        <p:txBody>
          <a:bodyPr wrap="square" lIns="0" tIns="0" rIns="0" bIns="0" rtlCol="0" anchor="ctr"/>
          <a:lstStyle/>
          <a:p>
            <a:pPr indent="0" marL="0">
              <a:buNone/>
            </a:pPr>
            <a:r>
              <a:rPr lang="en-US" sz="2400" dirty="0">
                <a:solidFill>
                  <a:srgbClr val="EDEBE6"/>
                </a:solidFill>
                <a:latin typeface="Arial Black" pitchFamily="34" charset="0"/>
                <a:ea typeface="Arial Black" pitchFamily="34" charset="-122"/>
                <a:cs typeface="Arial Black" pitchFamily="34" charset="-120"/>
              </a:rPr>
              <a:t>−0.012</a:t>
            </a:r>
            <a:endParaRPr lang="en-US" sz="2400" dirty="0"/>
          </a:p>
        </p:txBody>
      </p:sp>
      <p:sp>
        <p:nvSpPr>
          <p:cNvPr id="16" name="Text 14"/>
          <p:cNvSpPr txBox="1"/>
          <p:nvPr/>
        </p:nvSpPr>
        <p:spPr>
          <a:xfrm>
            <a:off x="731520" y="4160520"/>
            <a:ext cx="2423160" cy="365760"/>
          </a:xfrm>
          <a:prstGeom prst="rect">
            <a:avLst/>
          </a:prstGeom>
          <a:noFill/>
          <a:ln/>
        </p:spPr>
        <p:txBody>
          <a:bodyPr wrap="square" lIns="0" tIns="0" rIns="0" bIns="0" rtlCol="0" anchor="ctr"/>
          <a:lstStyle/>
          <a:p>
            <a:pPr indent="0" marL="0">
              <a:buNone/>
            </a:pPr>
            <a:r>
              <a:rPr lang="en-US" sz="850" spc="100" kern="0" dirty="0">
                <a:solidFill>
                  <a:srgbClr val="A9A59E"/>
                </a:solidFill>
                <a:latin typeface="Courier New" pitchFamily="34" charset="0"/>
                <a:ea typeface="Courier New" pitchFamily="34" charset="-122"/>
                <a:cs typeface="Courier New" pitchFamily="34" charset="-120"/>
              </a:rPr>
              <a:t>mean bias, mg/L</a:t>
            </a:r>
            <a:endParaRPr lang="en-US" sz="850" dirty="0"/>
          </a:p>
        </p:txBody>
      </p:sp>
      <p:sp>
        <p:nvSpPr>
          <p:cNvPr id="17" name="Shape 15"/>
          <p:cNvSpPr/>
          <p:nvPr/>
        </p:nvSpPr>
        <p:spPr>
          <a:xfrm>
            <a:off x="3429000" y="3474720"/>
            <a:ext cx="2697480" cy="1143000"/>
          </a:xfrm>
          <a:prstGeom prst="rect">
            <a:avLst/>
          </a:prstGeom>
          <a:ln w="9525">
            <a:solidFill>
              <a:srgbClr val="55524D"/>
            </a:solidFill>
            <a:prstDash val="solid"/>
          </a:ln>
        </p:spPr>
      </p:sp>
      <p:sp>
        <p:nvSpPr>
          <p:cNvPr id="18" name="Text 16"/>
          <p:cNvSpPr txBox="1"/>
          <p:nvPr/>
        </p:nvSpPr>
        <p:spPr>
          <a:xfrm>
            <a:off x="3611880" y="3584448"/>
            <a:ext cx="2377440" cy="548640"/>
          </a:xfrm>
          <a:prstGeom prst="rect">
            <a:avLst/>
          </a:prstGeom>
          <a:noFill/>
          <a:ln/>
        </p:spPr>
        <p:txBody>
          <a:bodyPr wrap="square" lIns="0" tIns="0" rIns="0" bIns="0" rtlCol="0" anchor="ctr"/>
          <a:lstStyle/>
          <a:p>
            <a:pPr indent="0" marL="0">
              <a:buNone/>
            </a:pPr>
            <a:r>
              <a:rPr lang="en-US" sz="2400" dirty="0">
                <a:solidFill>
                  <a:srgbClr val="8FA1FF"/>
                </a:solidFill>
                <a:latin typeface="Arial Black" pitchFamily="34" charset="0"/>
                <a:ea typeface="Arial Black" pitchFamily="34" charset="-122"/>
                <a:cs typeface="Arial Black" pitchFamily="34" charset="-120"/>
              </a:rPr>
              <a:t>0 · 0</a:t>
            </a:r>
            <a:endParaRPr lang="en-US" sz="2400" dirty="0"/>
          </a:p>
        </p:txBody>
      </p:sp>
      <p:sp>
        <p:nvSpPr>
          <p:cNvPr id="19" name="Text 17"/>
          <p:cNvSpPr txBox="1"/>
          <p:nvPr/>
        </p:nvSpPr>
        <p:spPr>
          <a:xfrm>
            <a:off x="3611880" y="4160520"/>
            <a:ext cx="2423160" cy="365760"/>
          </a:xfrm>
          <a:prstGeom prst="rect">
            <a:avLst/>
          </a:prstGeom>
          <a:noFill/>
          <a:ln/>
        </p:spPr>
        <p:txBody>
          <a:bodyPr wrap="square" lIns="0" tIns="0" rIns="0" bIns="0" rtlCol="0" anchor="ctr"/>
          <a:lstStyle/>
          <a:p>
            <a:pPr indent="0" marL="0">
              <a:buNone/>
            </a:pPr>
            <a:r>
              <a:rPr lang="en-US" sz="850" spc="100" kern="0" dirty="0">
                <a:solidFill>
                  <a:srgbClr val="A9A59E"/>
                </a:solidFill>
                <a:latin typeface="Courier New" pitchFamily="34" charset="0"/>
                <a:ea typeface="Courier New" pitchFamily="34" charset="-122"/>
                <a:cs typeface="Courier New" pitchFamily="34" charset="-120"/>
              </a:rPr>
              <a:t>false accepts · false rejects</a:t>
            </a:r>
            <a:endParaRPr lang="en-US" sz="850" dirty="0"/>
          </a:p>
        </p:txBody>
      </p:sp>
      <p:sp>
        <p:nvSpPr>
          <p:cNvPr id="20" name="Shape 18"/>
          <p:cNvSpPr/>
          <p:nvPr/>
        </p:nvSpPr>
        <p:spPr>
          <a:xfrm>
            <a:off x="548640" y="4800600"/>
            <a:ext cx="2697480" cy="1143000"/>
          </a:xfrm>
          <a:prstGeom prst="rect">
            <a:avLst/>
          </a:prstGeom>
          <a:ln w="9525">
            <a:solidFill>
              <a:srgbClr val="55524D"/>
            </a:solidFill>
            <a:prstDash val="solid"/>
          </a:ln>
        </p:spPr>
      </p:sp>
      <p:sp>
        <p:nvSpPr>
          <p:cNvPr id="21" name="Text 19"/>
          <p:cNvSpPr txBox="1"/>
          <p:nvPr/>
        </p:nvSpPr>
        <p:spPr>
          <a:xfrm>
            <a:off x="731520" y="4910328"/>
            <a:ext cx="2377440" cy="548640"/>
          </a:xfrm>
          <a:prstGeom prst="rect">
            <a:avLst/>
          </a:prstGeom>
          <a:noFill/>
          <a:ln/>
        </p:spPr>
        <p:txBody>
          <a:bodyPr wrap="square" lIns="0" tIns="0" rIns="0" bIns="0" rtlCol="0" anchor="ctr"/>
          <a:lstStyle/>
          <a:p>
            <a:pPr indent="0" marL="0">
              <a:buNone/>
            </a:pPr>
            <a:r>
              <a:rPr lang="en-US" sz="2400" dirty="0">
                <a:solidFill>
                  <a:srgbClr val="EDEBE6"/>
                </a:solidFill>
                <a:latin typeface="Arial Black" pitchFamily="34" charset="0"/>
                <a:ea typeface="Arial Black" pitchFamily="34" charset="-122"/>
                <a:cs typeface="Arial Black" pitchFamily="34" charset="-120"/>
              </a:rPr>
              <a:t>144</a:t>
            </a:r>
            <a:endParaRPr lang="en-US" sz="2400" dirty="0"/>
          </a:p>
        </p:txBody>
      </p:sp>
      <p:sp>
        <p:nvSpPr>
          <p:cNvPr id="22" name="Text 20"/>
          <p:cNvSpPr txBox="1"/>
          <p:nvPr/>
        </p:nvSpPr>
        <p:spPr>
          <a:xfrm>
            <a:off x="731520" y="5486400"/>
            <a:ext cx="2423160" cy="365760"/>
          </a:xfrm>
          <a:prstGeom prst="rect">
            <a:avLst/>
          </a:prstGeom>
          <a:noFill/>
          <a:ln/>
        </p:spPr>
        <p:txBody>
          <a:bodyPr wrap="square" lIns="0" tIns="0" rIns="0" bIns="0" rtlCol="0" anchor="ctr"/>
          <a:lstStyle/>
          <a:p>
            <a:pPr indent="0" marL="0">
              <a:buNone/>
            </a:pPr>
            <a:r>
              <a:rPr lang="en-US" sz="850" spc="100" kern="0" dirty="0">
                <a:solidFill>
                  <a:srgbClr val="A9A59E"/>
                </a:solidFill>
                <a:latin typeface="Courier New" pitchFamily="34" charset="0"/>
                <a:ea typeface="Courier New" pitchFamily="34" charset="-122"/>
                <a:cs typeface="Courier New" pitchFamily="34" charset="-120"/>
              </a:rPr>
              <a:t>field-stress combinations</a:t>
            </a:r>
            <a:endParaRPr lang="en-US" sz="850" dirty="0"/>
          </a:p>
        </p:txBody>
      </p:sp>
      <p:sp>
        <p:nvSpPr>
          <p:cNvPr id="23" name="Shape 21"/>
          <p:cNvSpPr/>
          <p:nvPr/>
        </p:nvSpPr>
        <p:spPr>
          <a:xfrm>
            <a:off x="3429000" y="4800600"/>
            <a:ext cx="2697480" cy="1143000"/>
          </a:xfrm>
          <a:prstGeom prst="rect">
            <a:avLst/>
          </a:prstGeom>
          <a:ln w="9525">
            <a:solidFill>
              <a:srgbClr val="55524D"/>
            </a:solidFill>
            <a:prstDash val="solid"/>
          </a:ln>
        </p:spPr>
      </p:sp>
      <p:sp>
        <p:nvSpPr>
          <p:cNvPr id="24" name="Text 22"/>
          <p:cNvSpPr txBox="1"/>
          <p:nvPr/>
        </p:nvSpPr>
        <p:spPr>
          <a:xfrm>
            <a:off x="3611880" y="4910328"/>
            <a:ext cx="2377440" cy="548640"/>
          </a:xfrm>
          <a:prstGeom prst="rect">
            <a:avLst/>
          </a:prstGeom>
          <a:noFill/>
          <a:ln/>
        </p:spPr>
        <p:txBody>
          <a:bodyPr wrap="square" lIns="0" tIns="0" rIns="0" bIns="0" rtlCol="0" anchor="ctr"/>
          <a:lstStyle/>
          <a:p>
            <a:pPr indent="0" marL="0">
              <a:buNone/>
            </a:pPr>
            <a:r>
              <a:rPr lang="en-US" sz="2400" dirty="0">
                <a:solidFill>
                  <a:srgbClr val="EDEBE6"/>
                </a:solidFill>
                <a:latin typeface="Arial Black" pitchFamily="34" charset="0"/>
                <a:ea typeface="Arial Black" pitchFamily="34" charset="-122"/>
                <a:cs typeface="Arial Black" pitchFamily="34" charset="-120"/>
              </a:rPr>
              <a:t>1e-9</a:t>
            </a:r>
            <a:endParaRPr lang="en-US" sz="2400" dirty="0"/>
          </a:p>
        </p:txBody>
      </p:sp>
      <p:sp>
        <p:nvSpPr>
          <p:cNvPr id="25" name="Text 23"/>
          <p:cNvSpPr txBox="1"/>
          <p:nvPr/>
        </p:nvSpPr>
        <p:spPr>
          <a:xfrm>
            <a:off x="3611880" y="5486400"/>
            <a:ext cx="2423160" cy="365760"/>
          </a:xfrm>
          <a:prstGeom prst="rect">
            <a:avLst/>
          </a:prstGeom>
          <a:noFill/>
          <a:ln/>
        </p:spPr>
        <p:txBody>
          <a:bodyPr wrap="square" lIns="0" tIns="0" rIns="0" bIns="0" rtlCol="0" anchor="ctr"/>
          <a:lstStyle/>
          <a:p>
            <a:pPr indent="0" marL="0">
              <a:buNone/>
            </a:pPr>
            <a:r>
              <a:rPr lang="en-US" sz="850" spc="100" kern="0" dirty="0">
                <a:solidFill>
                  <a:srgbClr val="A9A59E"/>
                </a:solidFill>
                <a:latin typeface="Courier New" pitchFamily="34" charset="0"/>
                <a:ea typeface="Courier New" pitchFamily="34" charset="-122"/>
                <a:cs typeface="Courier New" pitchFamily="34" charset="-120"/>
              </a:rPr>
              <a:t>run-to-run reproducibility</a:t>
            </a:r>
            <a:endParaRPr lang="en-US" sz="850" dirty="0"/>
          </a:p>
        </p:txBody>
      </p:sp>
      <p:sp>
        <p:nvSpPr>
          <p:cNvPr id="26" name="Shape 24"/>
          <p:cNvSpPr/>
          <p:nvPr/>
        </p:nvSpPr>
        <p:spPr>
          <a:xfrm>
            <a:off x="6400800" y="868680"/>
            <a:ext cx="5257800" cy="5257800"/>
          </a:xfrm>
          <a:prstGeom prst="rect">
            <a:avLst/>
          </a:prstGeom>
          <a:solidFill>
            <a:srgbClr val="F2F0EB"/>
          </a:solidFill>
          <a:ln/>
        </p:spPr>
      </p:sp>
      <p:sp>
        <p:nvSpPr>
          <p:cNvPr id="27" name="Text 25"/>
          <p:cNvSpPr txBox="1"/>
          <p:nvPr/>
        </p:nvSpPr>
        <p:spPr>
          <a:xfrm>
            <a:off x="6629400" y="1024128"/>
            <a:ext cx="4846320" cy="457200"/>
          </a:xfrm>
          <a:prstGeom prst="rect">
            <a:avLst/>
          </a:prstGeom>
          <a:noFill/>
          <a:ln/>
        </p:spPr>
        <p:txBody>
          <a:bodyPr wrap="square" lIns="0" tIns="0" rIns="0" bIns="0" rtlCol="0" anchor="ctr"/>
          <a:lstStyle/>
          <a:p>
            <a:pPr indent="0" marL="0">
              <a:buNone/>
            </a:pPr>
            <a:r>
              <a:rPr lang="en-US" sz="900" b="1" spc="100" kern="0" dirty="0">
                <a:solidFill>
                  <a:srgbClr val="111111"/>
                </a:solidFill>
                <a:latin typeface="Courier New" pitchFamily="34" charset="0"/>
                <a:ea typeface="Courier New" pitchFamily="34" charset="-122"/>
                <a:cs typeface="Courier New" pitchFamily="34" charset="-120"/>
              </a:rPr>
              <a:t>FIG. 15 — LISA vs BENCHTOP UV-Vis, SPLIT-SAMPLE PROTOCOL</a:t>
            </a:r>
            <a:endParaRPr lang="en-US" sz="900" dirty="0"/>
          </a:p>
          <a:p>
            <a:pPr indent="0" marL="0">
              <a:buNone/>
            </a:pPr>
            <a:r>
              <a:rPr lang="en-US" sz="900" b="1" spc="100" kern="0" dirty="0">
                <a:solidFill>
                  <a:srgbClr val="111111"/>
                </a:solidFill>
                <a:latin typeface="Courier New" pitchFamily="34" charset="0"/>
                <a:ea typeface="Courier New" pitchFamily="34" charset="-122"/>
                <a:cs typeface="Courier New" pitchFamily="34" charset="-120"/>
              </a:rPr>
              <a:t>SIMULATED · 7 STANDARDS · mg P/L</a:t>
            </a:r>
            <a:endParaRPr lang="en-US" sz="900" dirty="0"/>
          </a:p>
        </p:txBody>
      </p:sp>
      <p:graphicFrame>
        <p:nvGraphicFramePr>
          <p:cNvPr id="28" name="Chart 0" descr=""/>
          <p:cNvGraphicFramePr/>
          <p:nvPr/>
        </p:nvGraphicFramePr>
        <p:xfrm>
          <a:off x="6492240" y="1554480"/>
          <a:ext cx="5074920" cy="3931920"/>
        </p:xfrm>
        <a:graphic xmlns:a="http://schemas.openxmlformats.org/drawingml/2006/main">
          <a:graphicData uri="http://schemas.openxmlformats.org/drawingml/2006/chart">
            <c:chart xmlns:c="http://schemas.openxmlformats.org/drawingml/2006/chart" r:id="rId2"/>
          </a:graphicData>
        </a:graphic>
      </p:graphicFrame>
      <p:sp>
        <p:nvSpPr>
          <p:cNvPr id="29" name="Text 26"/>
          <p:cNvSpPr txBox="1"/>
          <p:nvPr/>
        </p:nvSpPr>
        <p:spPr>
          <a:xfrm>
            <a:off x="6629400" y="5577840"/>
            <a:ext cx="4846320" cy="36576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1.3–3.9% relative error across 0.1–1.0 mg/L</a:t>
            </a:r>
            <a:endParaRPr lang="en-US" sz="1200" dirty="0"/>
          </a:p>
        </p:txBody>
      </p:sp>
      <p:sp>
        <p:nvSpPr>
          <p:cNvPr id="30" name="Text 27"/>
          <p:cNvSpPr txBox="1"/>
          <p:nvPr/>
        </p:nvSpPr>
        <p:spPr>
          <a:xfrm>
            <a:off x="548640" y="6419088"/>
            <a:ext cx="9326880" cy="292608"/>
          </a:xfrm>
          <a:prstGeom prst="rect">
            <a:avLst/>
          </a:prstGeom>
          <a:noFill/>
          <a:ln/>
        </p:spPr>
        <p:txBody>
          <a:bodyPr wrap="square" lIns="0" tIns="0" rIns="0" bIns="0" rtlCol="0" anchor="b"/>
          <a:lstStyle/>
          <a:p>
            <a:pPr indent="0" marL="0">
              <a:buNone/>
            </a:pPr>
            <a:r>
              <a:rPr lang="en-US" sz="800" dirty="0">
                <a:solidFill>
                  <a:srgbClr val="A9A59E"/>
                </a:solidFill>
                <a:latin typeface="Courier New" pitchFamily="34" charset="0"/>
                <a:ea typeface="Courier New" pitchFamily="34" charset="-122"/>
                <a:cs typeface="Courier New" pitchFamily="34" charset="-120"/>
              </a:rPr>
              <a:t>All figures from LISA’s automated test suite and simulated split-sample protocol (LISA_SAMPLE_TEST_REPORT, labBenchmark). Physical NABL split-samples are Month 1.</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000" b="1" spc="200" kern="0" dirty="0">
                <a:solidFill>
                  <a:srgbClr val="111111"/>
                </a:solidFill>
                <a:latin typeface="Courier New" pitchFamily="34" charset="0"/>
                <a:ea typeface="Courier New" pitchFamily="34" charset="-122"/>
                <a:cs typeface="Courier New" pitchFamily="34" charset="-120"/>
              </a:rPr>
              <a:t>16 — BLIND TEST</a:t>
            </a:r>
            <a:endParaRPr lang="en-US" sz="1000" dirty="0"/>
          </a:p>
        </p:txBody>
      </p:sp>
      <p:sp>
        <p:nvSpPr>
          <p:cNvPr id="3" name="Text 1"/>
          <p:cNvSpPr txBox="1"/>
          <p:nvPr/>
        </p:nvSpPr>
        <p:spPr>
          <a:xfrm>
            <a:off x="6156655" y="292608"/>
            <a:ext cx="5486400" cy="274320"/>
          </a:xfrm>
          <a:prstGeom prst="rect">
            <a:avLst/>
          </a:prstGeom>
          <a:noFill/>
          <a:ln/>
        </p:spPr>
        <p:txBody>
          <a:bodyPr wrap="square" lIns="0" tIns="0" rIns="0" bIns="0" rtlCol="0" anchor="ctr"/>
          <a:lstStyle/>
          <a:p>
            <a:pPr algn="r" indent="0" marL="0">
              <a:buNone/>
            </a:pPr>
            <a:r>
              <a:rPr lang="en-US" sz="900" spc="200" kern="0" dirty="0">
                <a:solidFill>
                  <a:srgbClr val="6B6862"/>
                </a:solidFill>
                <a:latin typeface="Courier New" pitchFamily="34" charset="0"/>
                <a:ea typeface="Courier New" pitchFamily="34" charset="-122"/>
                <a:cs typeface="Courier New" pitchFamily="34" charset="-120"/>
              </a:rPr>
              <a:t>LISA  /  ASHOKA STARTUP CHALLENGE 2026</a:t>
            </a:r>
            <a:endParaRPr lang="en-US" sz="900" dirty="0"/>
          </a:p>
        </p:txBody>
      </p:sp>
      <p:sp>
        <p:nvSpPr>
          <p:cNvPr id="4"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900" dirty="0">
                <a:solidFill>
                  <a:srgbClr val="6B6862"/>
                </a:solidFill>
                <a:latin typeface="Courier New" pitchFamily="34" charset="0"/>
                <a:ea typeface="Courier New" pitchFamily="34" charset="-122"/>
                <a:cs typeface="Courier New" pitchFamily="34" charset="-120"/>
              </a:rPr>
              <a:t>16 / 24</a:t>
            </a:r>
            <a:endParaRPr lang="en-US" sz="900" dirty="0"/>
          </a:p>
        </p:txBody>
      </p:sp>
      <p:sp>
        <p:nvSpPr>
          <p:cNvPr id="5" name="Shape 3"/>
          <p:cNvSpPr/>
          <p:nvPr/>
        </p:nvSpPr>
        <p:spPr>
          <a:xfrm>
            <a:off x="210312" y="6583680"/>
            <a:ext cx="164592" cy="0"/>
          </a:xfrm>
          <a:prstGeom prst="line">
            <a:avLst/>
          </a:prstGeom>
          <a:noFill/>
          <a:ln w="9525">
            <a:solidFill>
              <a:srgbClr val="111111"/>
            </a:solidFill>
            <a:prstDash val="solid"/>
          </a:ln>
        </p:spPr>
      </p:sp>
      <p:sp>
        <p:nvSpPr>
          <p:cNvPr id="6" name="Shape 4"/>
          <p:cNvSpPr/>
          <p:nvPr/>
        </p:nvSpPr>
        <p:spPr>
          <a:xfrm>
            <a:off x="292608" y="6501384"/>
            <a:ext cx="0" cy="164592"/>
          </a:xfrm>
          <a:prstGeom prst="line">
            <a:avLst/>
          </a:prstGeom>
          <a:noFill/>
          <a:ln w="9525">
            <a:solidFill>
              <a:srgbClr val="111111"/>
            </a:solidFill>
            <a:prstDash val="solid"/>
          </a:ln>
        </p:spPr>
      </p:sp>
      <p:sp>
        <p:nvSpPr>
          <p:cNvPr id="7" name="Text 5"/>
          <p:cNvSpPr txBox="1"/>
          <p:nvPr/>
        </p:nvSpPr>
        <p:spPr>
          <a:xfrm>
            <a:off x="548640" y="685800"/>
            <a:ext cx="6400800" cy="1280160"/>
          </a:xfrm>
          <a:prstGeom prst="rect">
            <a:avLst/>
          </a:prstGeom>
          <a:noFill/>
          <a:ln/>
        </p:spPr>
        <p:txBody>
          <a:bodyPr wrap="square" lIns="0" tIns="0" rIns="0" bIns="0" rtlCol="0" anchor="t"/>
          <a:lstStyle/>
          <a:p>
            <a:pPr indent="0" marL="0">
              <a:lnSpc>
                <a:spcPct val="92000"/>
              </a:lnSpc>
              <a:buNone/>
            </a:pPr>
            <a:r>
              <a:rPr lang="en-US" sz="3400" dirty="0">
                <a:solidFill>
                  <a:srgbClr val="111111"/>
                </a:solidFill>
                <a:latin typeface="Arial Black" pitchFamily="34" charset="0"/>
                <a:ea typeface="Arial Black" pitchFamily="34" charset="-122"/>
                <a:cs typeface="Arial Black" pitchFamily="34" charset="-120"/>
              </a:rPr>
              <a:t>Judge picks the vial.</a:t>
            </a:r>
            <a:pPr indent="0" marL="0">
              <a:lnSpc>
                <a:spcPct val="92000"/>
              </a:lnSpc>
              <a:buNone/>
            </a:pPr>
            <a:endParaRPr lang="en-US" sz="3400" dirty="0"/>
          </a:p>
          <a:p>
            <a:pPr indent="0" marL="0">
              <a:lnSpc>
                <a:spcPct val="92000"/>
              </a:lnSpc>
              <a:buNone/>
            </a:pPr>
            <a:r>
              <a:rPr lang="en-US" sz="3400" dirty="0">
                <a:solidFill>
                  <a:srgbClr val="1F3AE0"/>
                </a:solidFill>
                <a:latin typeface="Arial Black" pitchFamily="34" charset="0"/>
                <a:ea typeface="Arial Black" pitchFamily="34" charset="-122"/>
                <a:cs typeface="Arial Black" pitchFamily="34" charset="-120"/>
              </a:rPr>
              <a:t>The truth stays sealed.</a:t>
            </a:r>
            <a:endParaRPr lang="en-US" sz="3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6675120" cy="914400"/>
        </p:xfrm>
        <a:graphic>
          <a:graphicData uri="http://schemas.openxmlformats.org/drawingml/2006/table">
            <a:tbl>
              <a:tblPr/>
              <a:tblGrid>
                <a:gridCol w="731520"/>
                <a:gridCol w="1737360"/>
                <a:gridCol w="914400"/>
                <a:gridCol w="1051560"/>
                <a:gridCol w="2240280"/>
              </a:tblGrid>
              <a:tr h="429768">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VIAL</a:t>
                      </a:r>
                      <a:endParaRPr lang="en-US" sz="9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SAMPLE</a:t>
                      </a:r>
                      <a:endParaRPr lang="en-US" sz="9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TRUTH</a:t>
                      </a:r>
                      <a:endParaRPr lang="en-US" sz="9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LISA</a:t>
                      </a:r>
                      <a:endParaRPr lang="en-US" sz="9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OUTCOME</a:t>
                      </a:r>
                      <a:endParaRPr lang="en-US" sz="9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r>
              <a:tr h="429768">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B-01</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Tap water</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Courier New" pitchFamily="34" charset="0"/>
                          <a:ea typeface="Courier New" pitchFamily="34" charset="-122"/>
                          <a:cs typeface="Courier New" pitchFamily="34" charset="-120"/>
                        </a:rPr>
                        <a:t>0.03</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b="1" dirty="0">
                          <a:solidFill>
                            <a:srgbClr val="1F3AE0"/>
                          </a:solidFill>
                          <a:latin typeface="Courier New" pitchFamily="34" charset="0"/>
                          <a:ea typeface="Courier New" pitchFamily="34" charset="-122"/>
                          <a:cs typeface="Courier New" pitchFamily="34" charset="-120"/>
                        </a:rPr>
                        <a:t>0.03</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Accurate</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429768">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B-02</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Borewell</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Courier New" pitchFamily="34" charset="0"/>
                          <a:ea typeface="Courier New" pitchFamily="34" charset="-122"/>
                          <a:cs typeface="Courier New" pitchFamily="34" charset="-120"/>
                        </a:rPr>
                        <a:t>0.08</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b="1" dirty="0">
                          <a:solidFill>
                            <a:srgbClr val="1F3AE0"/>
                          </a:solidFill>
                          <a:latin typeface="Courier New" pitchFamily="34" charset="0"/>
                          <a:ea typeface="Courier New" pitchFamily="34" charset="-122"/>
                          <a:cs typeface="Courier New" pitchFamily="34" charset="-120"/>
                        </a:rPr>
                        <a:t>0.07</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Accurate</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429768">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B-03</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DAP runoff</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Courier New" pitchFamily="34" charset="0"/>
                          <a:ea typeface="Courier New" pitchFamily="34" charset="-122"/>
                          <a:cs typeface="Courier New" pitchFamily="34" charset="-120"/>
                        </a:rPr>
                        <a:t>0.40</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b="1" dirty="0">
                          <a:solidFill>
                            <a:srgbClr val="1F3AE0"/>
                          </a:solidFill>
                          <a:latin typeface="Courier New" pitchFamily="34" charset="0"/>
                          <a:ea typeface="Courier New" pitchFamily="34" charset="-122"/>
                          <a:cs typeface="Courier New" pitchFamily="34" charset="-120"/>
                        </a:rPr>
                        <a:t>0.39</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2.5% err</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429768">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B-04</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Village pond</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Courier New" pitchFamily="34" charset="0"/>
                          <a:ea typeface="Courier New" pitchFamily="34" charset="-122"/>
                          <a:cs typeface="Courier New" pitchFamily="34" charset="-120"/>
                        </a:rPr>
                        <a:t>0.45</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b="1" dirty="0">
                          <a:solidFill>
                            <a:srgbClr val="1F3AE0"/>
                          </a:solidFill>
                          <a:latin typeface="Courier New" pitchFamily="34" charset="0"/>
                          <a:ea typeface="Courier New" pitchFamily="34" charset="-122"/>
                          <a:cs typeface="Courier New" pitchFamily="34" charset="-120"/>
                        </a:rPr>
                        <a:t>0.42</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6.4% err</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429768">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B-05</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Stormwater drain</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Courier New" pitchFamily="34" charset="0"/>
                          <a:ea typeface="Courier New" pitchFamily="34" charset="-122"/>
                          <a:cs typeface="Courier New" pitchFamily="34" charset="-120"/>
                        </a:rPr>
                        <a:t>0.65</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b="1" dirty="0">
                          <a:solidFill>
                            <a:srgbClr val="1F3AE0"/>
                          </a:solidFill>
                          <a:latin typeface="Courier New" pitchFamily="34" charset="0"/>
                          <a:ea typeface="Courier New" pitchFamily="34" charset="-122"/>
                          <a:cs typeface="Courier New" pitchFamily="34" charset="-120"/>
                        </a:rPr>
                        <a:t>0.62</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4.9% err</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429768">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B-06</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RO permeate</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Courier New" pitchFamily="34" charset="0"/>
                          <a:ea typeface="Courier New" pitchFamily="34" charset="-122"/>
                          <a:cs typeface="Courier New" pitchFamily="34" charset="-120"/>
                        </a:rPr>
                        <a:t>0.005</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b="1" dirty="0">
                          <a:solidFill>
                            <a:srgbClr val="1F3AE0"/>
                          </a:solidFill>
                          <a:latin typeface="Courier New" pitchFamily="34" charset="0"/>
                          <a:ea typeface="Courier New" pitchFamily="34" charset="-122"/>
                          <a:cs typeface="Courier New" pitchFamily="34" charset="-120"/>
                        </a:rPr>
                        <a:t>0.00</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Below LOD</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429768">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B-07</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Turbid river</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Courier New" pitchFamily="34" charset="0"/>
                          <a:ea typeface="Courier New" pitchFamily="34" charset="-122"/>
                          <a:cs typeface="Courier New" pitchFamily="34" charset="-120"/>
                        </a:rPr>
                        <a:t>0.35</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b="1" dirty="0">
                          <a:solidFill>
                            <a:srgbClr val="E8431A"/>
                          </a:solidFill>
                          <a:latin typeface="Courier New" pitchFamily="34" charset="0"/>
                          <a:ea typeface="Courier New" pitchFamily="34" charset="-122"/>
                          <a:cs typeface="Courier New" pitchFamily="34" charset="-120"/>
                        </a:rPr>
                        <a:t>0.16</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l" indent="0" marL="0">
                        <a:buNone/>
                      </a:pPr>
                      <a:r>
                        <a:rPr lang="en-US" sz="1100" dirty="0">
                          <a:solidFill>
                            <a:srgbClr val="E8431A"/>
                          </a:solidFill>
                          <a:latin typeface="Arial" pitchFamily="34" charset="0"/>
                          <a:ea typeface="Arial" pitchFamily="34" charset="-122"/>
                          <a:cs typeface="Arial" pitchFamily="34" charset="-120"/>
                        </a:rPr>
                        <a:t>QC warned → sample blank</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429768">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B-08</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l" indent="0" marL="0">
                        <a:buNone/>
                      </a:pPr>
                      <a:r>
                        <a:rPr lang="en-US" sz="1100" dirty="0">
                          <a:solidFill>
                            <a:srgbClr val="111111"/>
                          </a:solidFill>
                          <a:latin typeface="Arial" pitchFamily="34" charset="0"/>
                          <a:ea typeface="Arial" pitchFamily="34" charset="-122"/>
                          <a:cs typeface="Arial" pitchFamily="34" charset="-120"/>
                        </a:rPr>
                        <a:t>Unknown dye</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Courier New" pitchFamily="34" charset="0"/>
                          <a:ea typeface="Courier New" pitchFamily="34" charset="-122"/>
                          <a:cs typeface="Courier New" pitchFamily="34" charset="-120"/>
                        </a:rPr>
                        <a:t>—</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b="1" dirty="0">
                          <a:solidFill>
                            <a:srgbClr val="E8431A"/>
                          </a:solidFill>
                          <a:latin typeface="Courier New" pitchFamily="34" charset="0"/>
                          <a:ea typeface="Courier New" pitchFamily="34" charset="-122"/>
                          <a:cs typeface="Courier New" pitchFamily="34" charset="-120"/>
                        </a:rPr>
                        <a:t>REFUSED</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l" indent="0" marL="0">
                        <a:buNone/>
                      </a:pPr>
                      <a:r>
                        <a:rPr lang="en-US" sz="1100" dirty="0">
                          <a:solidFill>
                            <a:srgbClr val="E8431A"/>
                          </a:solidFill>
                          <a:latin typeface="Arial" pitchFamily="34" charset="0"/>
                          <a:ea typeface="Arial" pitchFamily="34" charset="-122"/>
                          <a:cs typeface="Arial" pitchFamily="34" charset="-120"/>
                        </a:rPr>
                        <a:t>No number</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bl>
          </a:graphicData>
        </a:graphic>
      </p:graphicFrame>
      <p:sp>
        <p:nvSpPr>
          <p:cNvPr id="9" name="Text 6"/>
          <p:cNvSpPr txBox="1"/>
          <p:nvPr/>
        </p:nvSpPr>
        <p:spPr>
          <a:xfrm>
            <a:off x="548640" y="6217920"/>
            <a:ext cx="6400800" cy="228600"/>
          </a:xfrm>
          <a:prstGeom prst="rect">
            <a:avLst/>
          </a:prstGeom>
          <a:noFill/>
          <a:ln/>
        </p:spPr>
        <p:txBody>
          <a:bodyPr wrap="square" lIns="0" tIns="0" rIns="0" bIns="0" rtlCol="0" anchor="ctr"/>
          <a:lstStyle/>
          <a:p>
            <a:pPr indent="0" marL="0">
              <a:buNone/>
            </a:pPr>
            <a:r>
              <a:rPr lang="en-US" sz="800" spc="100" kern="0" dirty="0">
                <a:solidFill>
                  <a:srgbClr val="6B6862"/>
                </a:solidFill>
                <a:latin typeface="Courier New" pitchFamily="34" charset="0"/>
                <a:ea typeface="Courier New" pitchFamily="34" charset="-122"/>
                <a:cs typeface="Courier New" pitchFamily="34" charset="-120"/>
              </a:rPr>
              <a:t>mg P/L · 8 HIDDEN VIALS · SIMULATED FIELD LIBRARY</a:t>
            </a:r>
            <a:endParaRPr lang="en-US" sz="800" dirty="0"/>
          </a:p>
        </p:txBody>
      </p:sp>
      <p:sp>
        <p:nvSpPr>
          <p:cNvPr id="10" name="Shape 7"/>
          <p:cNvSpPr/>
          <p:nvPr/>
        </p:nvSpPr>
        <p:spPr>
          <a:xfrm>
            <a:off x="7589520" y="868680"/>
            <a:ext cx="4069080" cy="5257800"/>
          </a:xfrm>
          <a:prstGeom prst="rect">
            <a:avLst/>
          </a:prstGeom>
          <a:solidFill>
            <a:srgbClr val="111111"/>
          </a:solidFill>
          <a:ln/>
        </p:spPr>
      </p:sp>
      <p:sp>
        <p:nvSpPr>
          <p:cNvPr id="11" name="Text 8"/>
          <p:cNvSpPr txBox="1"/>
          <p:nvPr/>
        </p:nvSpPr>
        <p:spPr>
          <a:xfrm>
            <a:off x="7818120" y="1097280"/>
            <a:ext cx="3657600" cy="274320"/>
          </a:xfrm>
          <a:prstGeom prst="rect">
            <a:avLst/>
          </a:prstGeom>
          <a:noFill/>
          <a:ln/>
        </p:spPr>
        <p:txBody>
          <a:bodyPr wrap="square" lIns="0" tIns="0" rIns="0" bIns="0" rtlCol="0" anchor="ctr"/>
          <a:lstStyle/>
          <a:p>
            <a:pPr indent="0" marL="0">
              <a:buNone/>
            </a:pPr>
            <a:r>
              <a:rPr lang="en-US" sz="1000" b="1" spc="100" kern="0" dirty="0">
                <a:solidFill>
                  <a:srgbClr val="8FA1FF"/>
                </a:solidFill>
                <a:latin typeface="Courier New" pitchFamily="34" charset="0"/>
                <a:ea typeface="Courier New" pitchFamily="34" charset="-122"/>
                <a:cs typeface="Courier New" pitchFamily="34" charset="-120"/>
              </a:rPr>
              <a:t>VIRTUAL FIELD STRESS MATRIX</a:t>
            </a:r>
            <a:endParaRPr lang="en-US" sz="1000" dirty="0"/>
          </a:p>
        </p:txBody>
      </p:sp>
      <p:sp>
        <p:nvSpPr>
          <p:cNvPr id="12" name="Text 9"/>
          <p:cNvSpPr txBox="1"/>
          <p:nvPr/>
        </p:nvSpPr>
        <p:spPr>
          <a:xfrm>
            <a:off x="7818120" y="1417320"/>
            <a:ext cx="3657600" cy="54864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3 × 3 × 4 × 4</a:t>
            </a:r>
            <a:endParaRPr lang="en-US" sz="2800" dirty="0"/>
          </a:p>
        </p:txBody>
      </p:sp>
      <p:sp>
        <p:nvSpPr>
          <p:cNvPr id="13" name="Text 10"/>
          <p:cNvSpPr txBox="1"/>
          <p:nvPr/>
        </p:nvSpPr>
        <p:spPr>
          <a:xfrm>
            <a:off x="7818120" y="2011680"/>
            <a:ext cx="3611880" cy="640080"/>
          </a:xfrm>
          <a:prstGeom prst="rect">
            <a:avLst/>
          </a:prstGeom>
          <a:noFill/>
          <a:ln/>
        </p:spPr>
        <p:txBody>
          <a:bodyPr wrap="square" lIns="0" tIns="0" rIns="0" bIns="0" rtlCol="0" anchor="t"/>
          <a:lstStyle/>
          <a:p>
            <a:pPr indent="0" marL="0">
              <a:buNone/>
            </a:pPr>
            <a:r>
              <a:rPr lang="en-US" sz="1150" dirty="0">
                <a:solidFill>
                  <a:srgbClr val="D0CCC4"/>
                </a:solidFill>
                <a:latin typeface="Arial" pitchFamily="34" charset="0"/>
                <a:ea typeface="Arial" pitchFamily="34" charset="-122"/>
                <a:cs typeface="Arial" pitchFamily="34" charset="-120"/>
              </a:rPr>
              <a:t>noise × turbidity × slit shift × phone profile = 144 runs on a 0.40 mg/L sample</a:t>
            </a:r>
            <a:endParaRPr lang="en-US" sz="1150" dirty="0"/>
          </a:p>
        </p:txBody>
      </p:sp>
      <p:sp>
        <p:nvSpPr>
          <p:cNvPr id="14" name="Shape 11"/>
          <p:cNvSpPr/>
          <p:nvPr/>
        </p:nvSpPr>
        <p:spPr>
          <a:xfrm>
            <a:off x="7818120" y="2880360"/>
            <a:ext cx="3611880" cy="0"/>
          </a:xfrm>
          <a:prstGeom prst="line">
            <a:avLst/>
          </a:prstGeom>
          <a:noFill/>
          <a:ln w="9525">
            <a:solidFill>
              <a:srgbClr val="55524D"/>
            </a:solidFill>
            <a:prstDash val="solid"/>
          </a:ln>
        </p:spPr>
      </p:sp>
      <p:sp>
        <p:nvSpPr>
          <p:cNvPr id="15" name="Text 12"/>
          <p:cNvSpPr txBox="1"/>
          <p:nvPr/>
        </p:nvSpPr>
        <p:spPr>
          <a:xfrm>
            <a:off x="7818120" y="2990088"/>
            <a:ext cx="1645920" cy="502920"/>
          </a:xfrm>
          <a:prstGeom prst="rect">
            <a:avLst/>
          </a:prstGeom>
          <a:noFill/>
          <a:ln/>
        </p:spPr>
        <p:txBody>
          <a:bodyPr wrap="square" lIns="0" tIns="0" rIns="0" bIns="0" rtlCol="0" anchor="ctr"/>
          <a:lstStyle/>
          <a:p>
            <a:pPr indent="0" marL="0">
              <a:buNone/>
            </a:pPr>
            <a:r>
              <a:rPr lang="en-US" sz="2200" dirty="0">
                <a:solidFill>
                  <a:srgbClr val="FFFFFF"/>
                </a:solidFill>
                <a:latin typeface="Arial Black" pitchFamily="34" charset="0"/>
                <a:ea typeface="Arial Black" pitchFamily="34" charset="-122"/>
                <a:cs typeface="Arial Black" pitchFamily="34" charset="-120"/>
              </a:rPr>
              <a:t>0.053</a:t>
            </a:r>
            <a:endParaRPr lang="en-US" sz="2200" dirty="0"/>
          </a:p>
        </p:txBody>
      </p:sp>
      <p:sp>
        <p:nvSpPr>
          <p:cNvPr id="16" name="Text 13"/>
          <p:cNvSpPr txBox="1"/>
          <p:nvPr/>
        </p:nvSpPr>
        <p:spPr>
          <a:xfrm>
            <a:off x="9509760" y="3017520"/>
            <a:ext cx="2011680" cy="548640"/>
          </a:xfrm>
          <a:prstGeom prst="rect">
            <a:avLst/>
          </a:prstGeom>
          <a:noFill/>
          <a:ln/>
        </p:spPr>
        <p:txBody>
          <a:bodyPr wrap="square" lIns="0" tIns="0" rIns="0" bIns="0" rtlCol="0" anchor="ctr"/>
          <a:lstStyle/>
          <a:p>
            <a:pPr indent="0" marL="0">
              <a:buNone/>
            </a:pPr>
            <a:r>
              <a:rPr lang="en-US" sz="900" spc="100" kern="0" dirty="0">
                <a:solidFill>
                  <a:srgbClr val="A9A59E"/>
                </a:solidFill>
                <a:latin typeface="Courier New" pitchFamily="34" charset="0"/>
                <a:ea typeface="Courier New" pitchFamily="34" charset="-122"/>
                <a:cs typeface="Courier New" pitchFamily="34" charset="-120"/>
              </a:rPr>
              <a:t>mg/L mean absolute error</a:t>
            </a:r>
            <a:endParaRPr lang="en-US" sz="900" dirty="0"/>
          </a:p>
        </p:txBody>
      </p:sp>
      <p:sp>
        <p:nvSpPr>
          <p:cNvPr id="17" name="Shape 14"/>
          <p:cNvSpPr/>
          <p:nvPr/>
        </p:nvSpPr>
        <p:spPr>
          <a:xfrm>
            <a:off x="7818120" y="3904488"/>
            <a:ext cx="3611880" cy="0"/>
          </a:xfrm>
          <a:prstGeom prst="line">
            <a:avLst/>
          </a:prstGeom>
          <a:noFill/>
          <a:ln w="9525">
            <a:solidFill>
              <a:srgbClr val="55524D"/>
            </a:solidFill>
            <a:prstDash val="solid"/>
          </a:ln>
        </p:spPr>
      </p:sp>
      <p:sp>
        <p:nvSpPr>
          <p:cNvPr id="18" name="Text 15"/>
          <p:cNvSpPr txBox="1"/>
          <p:nvPr/>
        </p:nvSpPr>
        <p:spPr>
          <a:xfrm>
            <a:off x="7818120" y="4014216"/>
            <a:ext cx="1645920" cy="502920"/>
          </a:xfrm>
          <a:prstGeom prst="rect">
            <a:avLst/>
          </a:prstGeom>
          <a:noFill/>
          <a:ln/>
        </p:spPr>
        <p:txBody>
          <a:bodyPr wrap="square" lIns="0" tIns="0" rIns="0" bIns="0" rtlCol="0" anchor="ctr"/>
          <a:lstStyle/>
          <a:p>
            <a:pPr indent="0" marL="0">
              <a:buNone/>
            </a:pPr>
            <a:r>
              <a:rPr lang="en-US" sz="2200" dirty="0">
                <a:solidFill>
                  <a:srgbClr val="FFFFFF"/>
                </a:solidFill>
                <a:latin typeface="Arial Black" pitchFamily="34" charset="0"/>
                <a:ea typeface="Arial Black" pitchFamily="34" charset="-122"/>
                <a:cs typeface="Arial Black" pitchFamily="34" charset="-120"/>
              </a:rPr>
              <a:t>51.4%</a:t>
            </a:r>
            <a:endParaRPr lang="en-US" sz="2200" dirty="0"/>
          </a:p>
        </p:txBody>
      </p:sp>
      <p:sp>
        <p:nvSpPr>
          <p:cNvPr id="19" name="Text 16"/>
          <p:cNvSpPr txBox="1"/>
          <p:nvPr/>
        </p:nvSpPr>
        <p:spPr>
          <a:xfrm>
            <a:off x="9509760" y="4041648"/>
            <a:ext cx="2011680" cy="548640"/>
          </a:xfrm>
          <a:prstGeom prst="rect">
            <a:avLst/>
          </a:prstGeom>
          <a:noFill/>
          <a:ln/>
        </p:spPr>
        <p:txBody>
          <a:bodyPr wrap="square" lIns="0" tIns="0" rIns="0" bIns="0" rtlCol="0" anchor="ctr"/>
          <a:lstStyle/>
          <a:p>
            <a:pPr indent="0" marL="0">
              <a:buNone/>
            </a:pPr>
            <a:r>
              <a:rPr lang="en-US" sz="900" spc="100" kern="0" dirty="0">
                <a:solidFill>
                  <a:srgbClr val="A9A59E"/>
                </a:solidFill>
                <a:latin typeface="Courier New" pitchFamily="34" charset="0"/>
                <a:ea typeface="Courier New" pitchFamily="34" charset="-122"/>
                <a:cs typeface="Courier New" pitchFamily="34" charset="-120"/>
              </a:rPr>
              <a:t>rejected: every shift &gt; 6 px caught</a:t>
            </a:r>
            <a:endParaRPr lang="en-US" sz="900" dirty="0"/>
          </a:p>
        </p:txBody>
      </p:sp>
      <p:sp>
        <p:nvSpPr>
          <p:cNvPr id="20" name="Shape 17"/>
          <p:cNvSpPr/>
          <p:nvPr/>
        </p:nvSpPr>
        <p:spPr>
          <a:xfrm>
            <a:off x="7818120" y="4928616"/>
            <a:ext cx="3611880" cy="0"/>
          </a:xfrm>
          <a:prstGeom prst="line">
            <a:avLst/>
          </a:prstGeom>
          <a:noFill/>
          <a:ln w="9525">
            <a:solidFill>
              <a:srgbClr val="55524D"/>
            </a:solidFill>
            <a:prstDash val="solid"/>
          </a:ln>
        </p:spPr>
      </p:sp>
      <p:sp>
        <p:nvSpPr>
          <p:cNvPr id="21" name="Text 18"/>
          <p:cNvSpPr txBox="1"/>
          <p:nvPr/>
        </p:nvSpPr>
        <p:spPr>
          <a:xfrm>
            <a:off x="7818120" y="5038344"/>
            <a:ext cx="1645920" cy="502920"/>
          </a:xfrm>
          <a:prstGeom prst="rect">
            <a:avLst/>
          </a:prstGeom>
          <a:noFill/>
          <a:ln/>
        </p:spPr>
        <p:txBody>
          <a:bodyPr wrap="square" lIns="0" tIns="0" rIns="0" bIns="0" rtlCol="0" anchor="ctr"/>
          <a:lstStyle/>
          <a:p>
            <a:pPr indent="0" marL="0">
              <a:buNone/>
            </a:pPr>
            <a:r>
              <a:rPr lang="en-US" sz="2200" dirty="0">
                <a:solidFill>
                  <a:srgbClr val="FFFFFF"/>
                </a:solidFill>
                <a:latin typeface="Arial Black" pitchFamily="34" charset="0"/>
                <a:ea typeface="Arial Black" pitchFamily="34" charset="-122"/>
                <a:cs typeface="Arial Black" pitchFamily="34" charset="-120"/>
              </a:rPr>
              <a:t>0.181</a:t>
            </a:r>
            <a:endParaRPr lang="en-US" sz="2200" dirty="0"/>
          </a:p>
        </p:txBody>
      </p:sp>
      <p:sp>
        <p:nvSpPr>
          <p:cNvPr id="22" name="Text 19"/>
          <p:cNvSpPr txBox="1"/>
          <p:nvPr/>
        </p:nvSpPr>
        <p:spPr>
          <a:xfrm>
            <a:off x="9509760" y="5065776"/>
            <a:ext cx="2011680" cy="548640"/>
          </a:xfrm>
          <a:prstGeom prst="rect">
            <a:avLst/>
          </a:prstGeom>
          <a:noFill/>
          <a:ln/>
        </p:spPr>
        <p:txBody>
          <a:bodyPr wrap="square" lIns="0" tIns="0" rIns="0" bIns="0" rtlCol="0" anchor="ctr"/>
          <a:lstStyle/>
          <a:p>
            <a:pPr indent="0" marL="0">
              <a:buNone/>
            </a:pPr>
            <a:r>
              <a:rPr lang="en-US" sz="900" spc="100" kern="0" dirty="0">
                <a:solidFill>
                  <a:srgbClr val="A9A59E"/>
                </a:solidFill>
                <a:latin typeface="Courier New" pitchFamily="34" charset="0"/>
                <a:ea typeface="Courier New" pitchFamily="34" charset="-122"/>
                <a:cs typeface="Courier New" pitchFamily="34" charset="-120"/>
              </a:rPr>
              <a:t>mg/L worst accepted error</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000" b="1" spc="200" kern="0" dirty="0">
                <a:solidFill>
                  <a:srgbClr val="111111"/>
                </a:solidFill>
                <a:latin typeface="Courier New" pitchFamily="34" charset="0"/>
                <a:ea typeface="Courier New" pitchFamily="34" charset="-122"/>
                <a:cs typeface="Courier New" pitchFamily="34" charset="-120"/>
              </a:rPr>
              <a:t>17 — COMPETITION</a:t>
            </a:r>
            <a:endParaRPr lang="en-US" sz="1000" dirty="0"/>
          </a:p>
        </p:txBody>
      </p:sp>
      <p:sp>
        <p:nvSpPr>
          <p:cNvPr id="3" name="Text 1"/>
          <p:cNvSpPr txBox="1"/>
          <p:nvPr/>
        </p:nvSpPr>
        <p:spPr>
          <a:xfrm>
            <a:off x="6156655" y="292608"/>
            <a:ext cx="5486400" cy="274320"/>
          </a:xfrm>
          <a:prstGeom prst="rect">
            <a:avLst/>
          </a:prstGeom>
          <a:noFill/>
          <a:ln/>
        </p:spPr>
        <p:txBody>
          <a:bodyPr wrap="square" lIns="0" tIns="0" rIns="0" bIns="0" rtlCol="0" anchor="ctr"/>
          <a:lstStyle/>
          <a:p>
            <a:pPr algn="r" indent="0" marL="0">
              <a:buNone/>
            </a:pPr>
            <a:r>
              <a:rPr lang="en-US" sz="900" spc="200" kern="0" dirty="0">
                <a:solidFill>
                  <a:srgbClr val="6B6862"/>
                </a:solidFill>
                <a:latin typeface="Courier New" pitchFamily="34" charset="0"/>
                <a:ea typeface="Courier New" pitchFamily="34" charset="-122"/>
                <a:cs typeface="Courier New" pitchFamily="34" charset="-120"/>
              </a:rPr>
              <a:t>LISA  /  ASHOKA STARTUP CHALLENGE 2026</a:t>
            </a:r>
            <a:endParaRPr lang="en-US" sz="900" dirty="0"/>
          </a:p>
        </p:txBody>
      </p:sp>
      <p:sp>
        <p:nvSpPr>
          <p:cNvPr id="4"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900" dirty="0">
                <a:solidFill>
                  <a:srgbClr val="6B6862"/>
                </a:solidFill>
                <a:latin typeface="Courier New" pitchFamily="34" charset="0"/>
                <a:ea typeface="Courier New" pitchFamily="34" charset="-122"/>
                <a:cs typeface="Courier New" pitchFamily="34" charset="-120"/>
              </a:rPr>
              <a:t>17 / 24</a:t>
            </a:r>
            <a:endParaRPr lang="en-US" sz="900" dirty="0"/>
          </a:p>
        </p:txBody>
      </p:sp>
      <p:sp>
        <p:nvSpPr>
          <p:cNvPr id="5" name="Shape 3"/>
          <p:cNvSpPr/>
          <p:nvPr/>
        </p:nvSpPr>
        <p:spPr>
          <a:xfrm>
            <a:off x="210312" y="6583680"/>
            <a:ext cx="164592" cy="0"/>
          </a:xfrm>
          <a:prstGeom prst="line">
            <a:avLst/>
          </a:prstGeom>
          <a:noFill/>
          <a:ln w="9525">
            <a:solidFill>
              <a:srgbClr val="111111"/>
            </a:solidFill>
            <a:prstDash val="solid"/>
          </a:ln>
        </p:spPr>
      </p:sp>
      <p:sp>
        <p:nvSpPr>
          <p:cNvPr id="6" name="Shape 4"/>
          <p:cNvSpPr/>
          <p:nvPr/>
        </p:nvSpPr>
        <p:spPr>
          <a:xfrm>
            <a:off x="292608" y="6501384"/>
            <a:ext cx="0" cy="164592"/>
          </a:xfrm>
          <a:prstGeom prst="line">
            <a:avLst/>
          </a:prstGeom>
          <a:noFill/>
          <a:ln w="9525">
            <a:solidFill>
              <a:srgbClr val="111111"/>
            </a:solidFill>
            <a:prstDash val="solid"/>
          </a:ln>
        </p:spPr>
      </p:sp>
      <p:sp>
        <p:nvSpPr>
          <p:cNvPr id="7" name="Text 5"/>
          <p:cNvSpPr txBox="1"/>
          <p:nvPr/>
        </p:nvSpPr>
        <p:spPr>
          <a:xfrm>
            <a:off x="548640" y="685800"/>
            <a:ext cx="10515600" cy="1280160"/>
          </a:xfrm>
          <a:prstGeom prst="rect">
            <a:avLst/>
          </a:prstGeom>
          <a:noFill/>
          <a:ln/>
        </p:spPr>
        <p:txBody>
          <a:bodyPr wrap="square" lIns="0" tIns="0" rIns="0" bIns="0" rtlCol="0" anchor="t"/>
          <a:lstStyle/>
          <a:p>
            <a:pPr indent="0" marL="0">
              <a:lnSpc>
                <a:spcPct val="92000"/>
              </a:lnSpc>
              <a:buNone/>
            </a:pPr>
            <a:r>
              <a:rPr lang="en-US" sz="3400" dirty="0">
                <a:solidFill>
                  <a:srgbClr val="111111"/>
                </a:solidFill>
                <a:latin typeface="Arial Black" pitchFamily="34" charset="0"/>
                <a:ea typeface="Arial Black" pitchFamily="34" charset="-122"/>
                <a:cs typeface="Arial Black" pitchFamily="34" charset="-120"/>
              </a:rPr>
              <a:t>Nothing else sits in</a:t>
            </a:r>
            <a:pPr indent="0" marL="0">
              <a:lnSpc>
                <a:spcPct val="92000"/>
              </a:lnSpc>
              <a:buNone/>
            </a:pPr>
            <a:endParaRPr lang="en-US" sz="3400" dirty="0"/>
          </a:p>
          <a:p>
            <a:pPr indent="0" marL="0">
              <a:lnSpc>
                <a:spcPct val="92000"/>
              </a:lnSpc>
              <a:buNone/>
            </a:pPr>
            <a:r>
              <a:rPr lang="en-US" sz="3400" dirty="0">
                <a:solidFill>
                  <a:srgbClr val="1F3AE0"/>
                </a:solidFill>
                <a:latin typeface="Arial Black" pitchFamily="34" charset="0"/>
                <a:ea typeface="Arial Black" pitchFamily="34" charset="-122"/>
                <a:cs typeface="Arial Black" pitchFamily="34" charset="-120"/>
              </a:rPr>
              <a:t>this column.</a:t>
            </a:r>
            <a:endParaRPr lang="en-US" sz="3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91672" cy="914400"/>
        </p:xfrm>
        <a:graphic>
          <a:graphicData uri="http://schemas.openxmlformats.org/drawingml/2006/table">
            <a:tbl>
              <a:tblPr/>
              <a:tblGrid>
                <a:gridCol w="1947672"/>
                <a:gridCol w="1463040"/>
                <a:gridCol w="1463040"/>
                <a:gridCol w="1554480"/>
                <a:gridCol w="1463040"/>
                <a:gridCol w="1554480"/>
                <a:gridCol w="1645920"/>
              </a:tblGrid>
              <a:tr h="566928">
                <a:tc>
                  <a:txBody>
                    <a:bodyPr/>
                    <a:lstStyle/>
                    <a:p>
                      <a:pPr algn="ctr" indent="0" marL="0">
                        <a:buNone/>
                      </a:pPr>
                      <a:endParaRPr lang="en-US" sz="9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c>
                  <a:txBody>
                    <a:bodyP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NABL LAB</a:t>
                      </a:r>
                      <a:endParaRPr lang="en-US" sz="9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c>
                  <a:txBody>
                    <a:bodyP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FTK CHART</a:t>
                      </a:r>
                      <a:endParaRPr lang="en-US" sz="9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c>
                  <a:txBody>
                    <a:bodyP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HANDHELD</a:t>
                      </a:r>
                      <a:endParaRPr lang="en-US" sz="900" dirty="0">
                        <a:latin typeface="Courier New" charset="0"/>
                        <a:ea typeface="Courier New" charset="0"/>
                        <a:cs typeface="Courier New" charset="0"/>
                      </a:endParaRPr>
                    </a:p>
                    <a:p>
                      <a:pPr algn="ctr" indent="0" marL="0">
                        <a:buNone/>
                      </a:pPr>
                      <a:r>
                        <a:rPr lang="en-US" sz="900" b="1" dirty="0">
                          <a:solidFill>
                            <a:srgbClr val="FFFFFF"/>
                          </a:solidFill>
                          <a:latin typeface="Courier New" pitchFamily="34" charset="0"/>
                          <a:ea typeface="Courier New" pitchFamily="34" charset="-122"/>
                          <a:cs typeface="Courier New" pitchFamily="34" charset="-120"/>
                        </a:rPr>
                        <a:t>PHOTOMETER</a:t>
                      </a:r>
                      <a:endParaRPr lang="en-US" sz="9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c>
                  <a:txBody>
                    <a:bodyP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RGB PHONE</a:t>
                      </a:r>
                      <a:endParaRPr lang="en-US" sz="900" dirty="0">
                        <a:latin typeface="Courier New" charset="0"/>
                        <a:ea typeface="Courier New" charset="0"/>
                        <a:cs typeface="Courier New" charset="0"/>
                      </a:endParaRPr>
                    </a:p>
                    <a:p>
                      <a:pPr algn="ctr" indent="0" marL="0">
                        <a:buNone/>
                      </a:pPr>
                      <a:r>
                        <a:rPr lang="en-US" sz="900" b="1" dirty="0">
                          <a:solidFill>
                            <a:srgbClr val="FFFFFF"/>
                          </a:solidFill>
                          <a:latin typeface="Courier New" pitchFamily="34" charset="0"/>
                          <a:ea typeface="Courier New" pitchFamily="34" charset="-122"/>
                          <a:cs typeface="Courier New" pitchFamily="34" charset="-120"/>
                        </a:rPr>
                        <a:t>APPS</a:t>
                      </a:r>
                      <a:endParaRPr lang="en-US" sz="9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c>
                  <a:txBody>
                    <a:bodyP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FENG 2026</a:t>
                      </a:r>
                      <a:endParaRPr lang="en-US" sz="900" dirty="0">
                        <a:latin typeface="Courier New" charset="0"/>
                        <a:ea typeface="Courier New" charset="0"/>
                        <a:cs typeface="Courier New" charset="0"/>
                      </a:endParaRPr>
                    </a:p>
                    <a:p>
                      <a:pPr algn="ctr" indent="0" marL="0">
                        <a:buNone/>
                      </a:pPr>
                      <a:r>
                        <a:rPr lang="en-US" sz="900" b="1" dirty="0">
                          <a:solidFill>
                            <a:srgbClr val="FFFFFF"/>
                          </a:solidFill>
                          <a:latin typeface="Courier New" pitchFamily="34" charset="0"/>
                          <a:ea typeface="Courier New" pitchFamily="34" charset="-122"/>
                          <a:cs typeface="Courier New" pitchFamily="34" charset="-120"/>
                        </a:rPr>
                        <a:t>DEVICE</a:t>
                      </a:r>
                      <a:endParaRPr lang="en-US" sz="9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c>
                  <a:txBody>
                    <a:bodyP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LISA</a:t>
                      </a:r>
                      <a:endParaRPr lang="en-US" sz="9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F3AE0"/>
                    </a:solidFill>
                  </a:tcPr>
                </a:tc>
              </a:tr>
              <a:tr h="457200">
                <a:tc>
                  <a:txBody>
                    <a:bodyPr/>
                    <a:lstStyle/>
                    <a:p>
                      <a:pPr algn="l" indent="0" marL="0">
                        <a:buNone/>
                      </a:pPr>
                      <a:r>
                        <a:rPr lang="en-US" sz="950" b="1" dirty="0">
                          <a:solidFill>
                            <a:srgbClr val="111111"/>
                          </a:solidFill>
                          <a:latin typeface="Courier New" pitchFamily="34" charset="0"/>
                          <a:ea typeface="Courier New" pitchFamily="34" charset="-122"/>
                          <a:cs typeface="Courier New" pitchFamily="34" charset="-120"/>
                        </a:rPr>
                        <a:t>Accuracy</a:t>
                      </a:r>
                      <a:endParaRPr lang="en-US" sz="9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Highest</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Low–med, by eye</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High</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Low–med (RGB)</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High, &lt;10% err</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High, validating</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F3AE0"/>
                    </a:solidFill>
                  </a:tcPr>
                </a:tc>
              </a:tr>
              <a:tr h="457200">
                <a:tc>
                  <a:txBody>
                    <a:bodyPr/>
                    <a:lstStyle/>
                    <a:p>
                      <a:pPr algn="l" indent="0" marL="0">
                        <a:buNone/>
                      </a:pPr>
                      <a:r>
                        <a:rPr lang="en-US" sz="950" b="1" dirty="0">
                          <a:solidFill>
                            <a:srgbClr val="111111"/>
                          </a:solidFill>
                          <a:latin typeface="Courier New" pitchFamily="34" charset="0"/>
                          <a:ea typeface="Courier New" pitchFamily="34" charset="-122"/>
                          <a:cs typeface="Courier New" pitchFamily="34" charset="-120"/>
                        </a:rPr>
                        <a:t>Time to result</a:t>
                      </a:r>
                      <a:endParaRPr lang="en-US" sz="9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Days–weeks</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Minutes</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Minutes</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Minutes</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&lt; 5 min</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~5–10 min</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F3AE0"/>
                    </a:solidFill>
                  </a:tcPr>
                </a:tc>
              </a:tr>
              <a:tr h="457200">
                <a:tc>
                  <a:txBody>
                    <a:bodyPr/>
                    <a:lstStyle/>
                    <a:p>
                      <a:pPr algn="l" indent="0" marL="0">
                        <a:buNone/>
                      </a:pPr>
                      <a:r>
                        <a:rPr lang="en-US" sz="950" b="1" dirty="0">
                          <a:solidFill>
                            <a:srgbClr val="111111"/>
                          </a:solidFill>
                          <a:latin typeface="Courier New" pitchFamily="34" charset="0"/>
                          <a:ea typeface="Courier New" pitchFamily="34" charset="-122"/>
                          <a:cs typeface="Courier New" pitchFamily="34" charset="-120"/>
                        </a:rPr>
                        <a:t>Device cost</a:t>
                      </a:r>
                      <a:endParaRPr lang="en-US" sz="9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Lab + ₹10L gear</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Low</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~₹45,000</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&lt; $700</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₹1,500–2,500</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F3AE0"/>
                    </a:solidFill>
                  </a:tcPr>
                </a:tc>
              </a:tr>
              <a:tr h="457200">
                <a:tc>
                  <a:txBody>
                    <a:bodyPr/>
                    <a:lstStyle/>
                    <a:p>
                      <a:pPr algn="l" indent="0" marL="0">
                        <a:buNone/>
                      </a:pPr>
                      <a:r>
                        <a:rPr lang="en-US" sz="950" b="1" dirty="0">
                          <a:solidFill>
                            <a:srgbClr val="111111"/>
                          </a:solidFill>
                          <a:latin typeface="Courier New" pitchFamily="34" charset="0"/>
                          <a:ea typeface="Courier New" pitchFamily="34" charset="-122"/>
                          <a:cs typeface="Courier New" pitchFamily="34" charset="-120"/>
                        </a:rPr>
                        <a:t>Multi-analyte</a:t>
                      </a:r>
                      <a:endParaRPr lang="en-US" sz="9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Yes</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One per meter</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Partial</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TP only</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Swappable packs</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F3AE0"/>
                    </a:solidFill>
                  </a:tcPr>
                </a:tc>
              </a:tr>
              <a:tr h="457200">
                <a:tc>
                  <a:txBody>
                    <a:bodyPr/>
                    <a:lstStyle/>
                    <a:p>
                      <a:pPr algn="l" indent="0" marL="0">
                        <a:buNone/>
                      </a:pPr>
                      <a:r>
                        <a:rPr lang="en-US" sz="950" b="1" dirty="0">
                          <a:solidFill>
                            <a:srgbClr val="111111"/>
                          </a:solidFill>
                          <a:latin typeface="Courier New" pitchFamily="34" charset="0"/>
                          <a:ea typeface="Courier New" pitchFamily="34" charset="-122"/>
                          <a:cs typeface="Courier New" pitchFamily="34" charset="-120"/>
                        </a:rPr>
                        <a:t>Digital + GPS record</a:t>
                      </a:r>
                      <a:endParaRPr lang="en-US" sz="9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Paper report</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None</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Some</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Some</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Cloud</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Offline + GPS</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F3AE0"/>
                    </a:solidFill>
                  </a:tcPr>
                </a:tc>
              </a:tr>
              <a:tr h="457200">
                <a:tc>
                  <a:txBody>
                    <a:bodyPr/>
                    <a:lstStyle/>
                    <a:p>
                      <a:pPr algn="l" indent="0" marL="0">
                        <a:buNone/>
                      </a:pPr>
                      <a:r>
                        <a:rPr lang="en-US" sz="950" b="1" dirty="0">
                          <a:solidFill>
                            <a:srgbClr val="111111"/>
                          </a:solidFill>
                          <a:latin typeface="Courier New" pitchFamily="34" charset="0"/>
                          <a:ea typeface="Courier New" pitchFamily="34" charset="-122"/>
                          <a:cs typeface="Courier New" pitchFamily="34" charset="-120"/>
                        </a:rPr>
                        <a:t>Refuses bad samples</a:t>
                      </a:r>
                      <a:endParaRPr lang="en-US" sz="9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Analyst</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Not reported</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Yes (OOD + QC)</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F3AE0"/>
                    </a:solidFill>
                  </a:tcPr>
                </a:tc>
              </a:tr>
              <a:tr h="457200">
                <a:tc>
                  <a:txBody>
                    <a:bodyPr/>
                    <a:lstStyle/>
                    <a:p>
                      <a:pPr algn="l" indent="0" marL="0">
                        <a:buNone/>
                      </a:pPr>
                      <a:r>
                        <a:rPr lang="en-US" sz="950" b="1" dirty="0">
                          <a:solidFill>
                            <a:srgbClr val="111111"/>
                          </a:solidFill>
                          <a:latin typeface="Courier New" pitchFamily="34" charset="0"/>
                          <a:ea typeface="Courier New" pitchFamily="34" charset="-122"/>
                          <a:cs typeface="Courier New" pitchFamily="34" charset="-120"/>
                        </a:rPr>
                        <a:t>Local-language voice</a:t>
                      </a:r>
                      <a:endParaRPr lang="en-US" sz="9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dirty="0">
                          <a:solidFill>
                            <a:srgbClr val="111111"/>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Hindi + English</a:t>
                      </a:r>
                      <a:endParaRPr lang="en-US" sz="110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F3AE0"/>
                    </a:solidFill>
                  </a:tcPr>
                </a:tc>
              </a:tr>
            </a:tbl>
          </a:graphicData>
        </a:graphic>
      </p:graphicFrame>
      <p:sp>
        <p:nvSpPr>
          <p:cNvPr id="9" name="Text 6"/>
          <p:cNvSpPr txBox="1"/>
          <p:nvPr/>
        </p:nvSpPr>
        <p:spPr>
          <a:xfrm>
            <a:off x="548640" y="6419088"/>
            <a:ext cx="9326880" cy="292608"/>
          </a:xfrm>
          <a:prstGeom prst="rect">
            <a:avLst/>
          </a:prstGeom>
          <a:noFill/>
          <a:ln/>
        </p:spPr>
        <p:txBody>
          <a:bodyPr wrap="square" lIns="0" tIns="0" rIns="0" bIns="0" rtlCol="0" anchor="b"/>
          <a:lstStyle/>
          <a:p>
            <a:pPr indent="0" marL="0">
              <a:buNone/>
            </a:pPr>
            <a:r>
              <a:rPr lang="en-US" sz="800" dirty="0">
                <a:solidFill>
                  <a:srgbClr val="6B6862"/>
                </a:solidFill>
                <a:latin typeface="Courier New" pitchFamily="34" charset="0"/>
                <a:ea typeface="Courier New" pitchFamily="34" charset="-122"/>
                <a:cs typeface="Courier New" pitchFamily="34" charset="-120"/>
              </a:rPr>
              <a:t>Handheld photometer price is indicative for single-parameter field colorimeters. LISA device cost is target retail. FTK = JJM colour-chart field test kit.</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000" b="1" spc="200" kern="0" dirty="0">
                <a:solidFill>
                  <a:srgbClr val="111111"/>
                </a:solidFill>
                <a:latin typeface="Courier New" pitchFamily="34" charset="0"/>
                <a:ea typeface="Courier New" pitchFamily="34" charset="-122"/>
                <a:cs typeface="Courier New" pitchFamily="34" charset="-120"/>
              </a:rPr>
              <a:t>18 — MARKET</a:t>
            </a:r>
            <a:endParaRPr lang="en-US" sz="1000" dirty="0"/>
          </a:p>
        </p:txBody>
      </p:sp>
      <p:sp>
        <p:nvSpPr>
          <p:cNvPr id="3" name="Text 1"/>
          <p:cNvSpPr txBox="1"/>
          <p:nvPr/>
        </p:nvSpPr>
        <p:spPr>
          <a:xfrm>
            <a:off x="6156655" y="292608"/>
            <a:ext cx="5486400" cy="274320"/>
          </a:xfrm>
          <a:prstGeom prst="rect">
            <a:avLst/>
          </a:prstGeom>
          <a:noFill/>
          <a:ln/>
        </p:spPr>
        <p:txBody>
          <a:bodyPr wrap="square" lIns="0" tIns="0" rIns="0" bIns="0" rtlCol="0" anchor="ctr"/>
          <a:lstStyle/>
          <a:p>
            <a:pPr algn="r" indent="0" marL="0">
              <a:buNone/>
            </a:pPr>
            <a:r>
              <a:rPr lang="en-US" sz="900" spc="200" kern="0" dirty="0">
                <a:solidFill>
                  <a:srgbClr val="6B6862"/>
                </a:solidFill>
                <a:latin typeface="Courier New" pitchFamily="34" charset="0"/>
                <a:ea typeface="Courier New" pitchFamily="34" charset="-122"/>
                <a:cs typeface="Courier New" pitchFamily="34" charset="-120"/>
              </a:rPr>
              <a:t>LISA  /  ASHOKA STARTUP CHALLENGE 2026</a:t>
            </a:r>
            <a:endParaRPr lang="en-US" sz="900" dirty="0"/>
          </a:p>
        </p:txBody>
      </p:sp>
      <p:sp>
        <p:nvSpPr>
          <p:cNvPr id="4"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900" dirty="0">
                <a:solidFill>
                  <a:srgbClr val="6B6862"/>
                </a:solidFill>
                <a:latin typeface="Courier New" pitchFamily="34" charset="0"/>
                <a:ea typeface="Courier New" pitchFamily="34" charset="-122"/>
                <a:cs typeface="Courier New" pitchFamily="34" charset="-120"/>
              </a:rPr>
              <a:t>18 / 24</a:t>
            </a:r>
            <a:endParaRPr lang="en-US" sz="900" dirty="0"/>
          </a:p>
        </p:txBody>
      </p:sp>
      <p:sp>
        <p:nvSpPr>
          <p:cNvPr id="5" name="Shape 3"/>
          <p:cNvSpPr/>
          <p:nvPr/>
        </p:nvSpPr>
        <p:spPr>
          <a:xfrm>
            <a:off x="210312" y="6583680"/>
            <a:ext cx="164592" cy="0"/>
          </a:xfrm>
          <a:prstGeom prst="line">
            <a:avLst/>
          </a:prstGeom>
          <a:noFill/>
          <a:ln w="9525">
            <a:solidFill>
              <a:srgbClr val="111111"/>
            </a:solidFill>
            <a:prstDash val="solid"/>
          </a:ln>
        </p:spPr>
      </p:sp>
      <p:sp>
        <p:nvSpPr>
          <p:cNvPr id="6" name="Shape 4"/>
          <p:cNvSpPr/>
          <p:nvPr/>
        </p:nvSpPr>
        <p:spPr>
          <a:xfrm>
            <a:off x="292608" y="6501384"/>
            <a:ext cx="0" cy="164592"/>
          </a:xfrm>
          <a:prstGeom prst="line">
            <a:avLst/>
          </a:prstGeom>
          <a:noFill/>
          <a:ln w="9525">
            <a:solidFill>
              <a:srgbClr val="111111"/>
            </a:solidFill>
            <a:prstDash val="solid"/>
          </a:ln>
        </p:spPr>
      </p:sp>
      <p:sp>
        <p:nvSpPr>
          <p:cNvPr id="7" name="Text 5"/>
          <p:cNvSpPr txBox="1"/>
          <p:nvPr/>
        </p:nvSpPr>
        <p:spPr>
          <a:xfrm>
            <a:off x="548640" y="685800"/>
            <a:ext cx="10515600" cy="1280160"/>
          </a:xfrm>
          <a:prstGeom prst="rect">
            <a:avLst/>
          </a:prstGeom>
          <a:noFill/>
          <a:ln/>
        </p:spPr>
        <p:txBody>
          <a:bodyPr wrap="square" lIns="0" tIns="0" rIns="0" bIns="0" rtlCol="0" anchor="t"/>
          <a:lstStyle/>
          <a:p>
            <a:pPr indent="0" marL="0">
              <a:lnSpc>
                <a:spcPct val="92000"/>
              </a:lnSpc>
              <a:buNone/>
            </a:pPr>
            <a:r>
              <a:rPr lang="en-US" sz="3400" dirty="0">
                <a:solidFill>
                  <a:srgbClr val="111111"/>
                </a:solidFill>
                <a:latin typeface="Arial Black" pitchFamily="34" charset="0"/>
                <a:ea typeface="Arial Black" pitchFamily="34" charset="-122"/>
                <a:cs typeface="Arial Black" pitchFamily="34" charset="-120"/>
              </a:rPr>
              <a:t>A government wedge.</a:t>
            </a:r>
            <a:pPr indent="0" marL="0">
              <a:lnSpc>
                <a:spcPct val="92000"/>
              </a:lnSpc>
              <a:buNone/>
            </a:pPr>
            <a:endParaRPr lang="en-US" sz="3400" dirty="0"/>
          </a:p>
          <a:p>
            <a:pPr indent="0" marL="0">
              <a:lnSpc>
                <a:spcPct val="92000"/>
              </a:lnSpc>
              <a:buNone/>
            </a:pPr>
            <a:r>
              <a:rPr lang="en-US" sz="3400" dirty="0">
                <a:solidFill>
                  <a:srgbClr val="6B6862"/>
                </a:solidFill>
                <a:latin typeface="Arial Black" pitchFamily="34" charset="0"/>
                <a:ea typeface="Arial Black" pitchFamily="34" charset="-122"/>
                <a:cs typeface="Arial Black" pitchFamily="34" charset="-120"/>
              </a:rPr>
              <a:t>Three markets behind it.</a:t>
            </a:r>
            <a:endParaRPr lang="en-US" sz="3400" dirty="0"/>
          </a:p>
        </p:txBody>
      </p:sp>
      <p:sp>
        <p:nvSpPr>
          <p:cNvPr id="8" name="Shape 6"/>
          <p:cNvSpPr/>
          <p:nvPr/>
        </p:nvSpPr>
        <p:spPr>
          <a:xfrm>
            <a:off x="548640" y="2240280"/>
            <a:ext cx="2606040" cy="2926080"/>
          </a:xfrm>
          <a:prstGeom prst="rect">
            <a:avLst/>
          </a:prstGeom>
          <a:solidFill>
            <a:srgbClr val="1F3AE0"/>
          </a:solidFill>
          <a:ln/>
        </p:spPr>
      </p:sp>
      <p:sp>
        <p:nvSpPr>
          <p:cNvPr id="9" name="Text 7"/>
          <p:cNvSpPr txBox="1"/>
          <p:nvPr/>
        </p:nvSpPr>
        <p:spPr>
          <a:xfrm>
            <a:off x="749808" y="2441448"/>
            <a:ext cx="2194560" cy="274320"/>
          </a:xfrm>
          <a:prstGeom prst="rect">
            <a:avLst/>
          </a:prstGeom>
          <a:noFill/>
          <a:ln/>
        </p:spPr>
        <p:txBody>
          <a:bodyPr wrap="square" lIns="0" tIns="0" rIns="0" bIns="0" rtlCol="0" anchor="ctr"/>
          <a:lstStyle/>
          <a:p>
            <a:pPr indent="0" marL="0">
              <a:buNone/>
            </a:pPr>
            <a:r>
              <a:rPr lang="en-US" sz="950" b="1" spc="100" kern="0" dirty="0">
                <a:solidFill>
                  <a:srgbClr val="E3E7FF"/>
                </a:solidFill>
                <a:latin typeface="Courier New" pitchFamily="34" charset="0"/>
                <a:ea typeface="Courier New" pitchFamily="34" charset="-122"/>
                <a:cs typeface="Courier New" pitchFamily="34" charset="-120"/>
              </a:rPr>
              <a:t>TIER 1 · B2G</a:t>
            </a:r>
            <a:endParaRPr lang="en-US" sz="950" dirty="0"/>
          </a:p>
        </p:txBody>
      </p:sp>
      <p:sp>
        <p:nvSpPr>
          <p:cNvPr id="10" name="Text 8"/>
          <p:cNvSpPr txBox="1"/>
          <p:nvPr/>
        </p:nvSpPr>
        <p:spPr>
          <a:xfrm>
            <a:off x="749808" y="2743200"/>
            <a:ext cx="2240280" cy="685800"/>
          </a:xfrm>
          <a:prstGeom prst="rect">
            <a:avLst/>
          </a:prstGeom>
          <a:noFill/>
          <a:ln/>
        </p:spPr>
        <p:txBody>
          <a:bodyPr wrap="square" lIns="0" tIns="0" rIns="0" bIns="0" rtlCol="0" anchor="t"/>
          <a:lstStyle/>
          <a:p>
            <a:pPr indent="0" marL="0">
              <a:buNone/>
            </a:pPr>
            <a:r>
              <a:rPr lang="en-US" sz="1600" dirty="0">
                <a:solidFill>
                  <a:srgbClr val="FFFFFF"/>
                </a:solidFill>
                <a:latin typeface="Arial Black" pitchFamily="34" charset="0"/>
                <a:ea typeface="Arial Black" pitchFamily="34" charset="-122"/>
                <a:cs typeface="Arial Black" pitchFamily="34" charset="-120"/>
              </a:rPr>
              <a:t>Jal Jeevan Mission</a:t>
            </a:r>
            <a:endParaRPr lang="en-US" sz="1600" dirty="0"/>
          </a:p>
        </p:txBody>
      </p:sp>
      <p:sp>
        <p:nvSpPr>
          <p:cNvPr id="11" name="Text 9"/>
          <p:cNvSpPr txBox="1"/>
          <p:nvPr/>
        </p:nvSpPr>
        <p:spPr>
          <a:xfrm>
            <a:off x="749808" y="3474720"/>
            <a:ext cx="2240280" cy="914400"/>
          </a:xfrm>
          <a:prstGeom prst="rect">
            <a:avLst/>
          </a:prstGeom>
          <a:noFill/>
          <a:ln/>
        </p:spPr>
        <p:txBody>
          <a:bodyPr wrap="square" lIns="0" tIns="0" rIns="0" bIns="0" rtlCol="0" anchor="t"/>
          <a:lstStyle/>
          <a:p>
            <a:pPr indent="0" marL="0">
              <a:buNone/>
            </a:pPr>
            <a:r>
              <a:rPr lang="en-US" sz="1100" dirty="0">
                <a:solidFill>
                  <a:srgbClr val="E3E7FF"/>
                </a:solidFill>
                <a:latin typeface="Arial" pitchFamily="34" charset="0"/>
                <a:ea typeface="Arial" pitchFamily="34" charset="-122"/>
                <a:cs typeface="Arial" pitchFamily="34" charset="-120"/>
              </a:rPr>
              <a:t>24.8 lakh trained testers and 93.8 lakh samples a year, all read by eye today.</a:t>
            </a:r>
            <a:endParaRPr lang="en-US" sz="1100" dirty="0"/>
          </a:p>
        </p:txBody>
      </p:sp>
      <p:sp>
        <p:nvSpPr>
          <p:cNvPr id="12" name="Text 10"/>
          <p:cNvSpPr txBox="1"/>
          <p:nvPr/>
        </p:nvSpPr>
        <p:spPr>
          <a:xfrm>
            <a:off x="749808" y="4434840"/>
            <a:ext cx="2240280" cy="6400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Objective, geotagged, audit-ready FTK readings</a:t>
            </a:r>
            <a:endParaRPr lang="en-US" sz="1100" dirty="0"/>
          </a:p>
        </p:txBody>
      </p:sp>
      <p:sp>
        <p:nvSpPr>
          <p:cNvPr id="13" name="Shape 11"/>
          <p:cNvSpPr/>
          <p:nvPr/>
        </p:nvSpPr>
        <p:spPr>
          <a:xfrm>
            <a:off x="3364992" y="2240280"/>
            <a:ext cx="2606040" cy="2926080"/>
          </a:xfrm>
          <a:prstGeom prst="rect">
            <a:avLst/>
          </a:prstGeom>
          <a:ln w="12700">
            <a:solidFill>
              <a:srgbClr val="111111"/>
            </a:solidFill>
            <a:prstDash val="solid"/>
          </a:ln>
        </p:spPr>
      </p:sp>
      <p:sp>
        <p:nvSpPr>
          <p:cNvPr id="14" name="Text 12"/>
          <p:cNvSpPr txBox="1"/>
          <p:nvPr/>
        </p:nvSpPr>
        <p:spPr>
          <a:xfrm>
            <a:off x="3566160" y="2441448"/>
            <a:ext cx="2194560" cy="274320"/>
          </a:xfrm>
          <a:prstGeom prst="rect">
            <a:avLst/>
          </a:prstGeom>
          <a:noFill/>
          <a:ln/>
        </p:spPr>
        <p:txBody>
          <a:bodyPr wrap="square" lIns="0" tIns="0" rIns="0" bIns="0" rtlCol="0" anchor="ctr"/>
          <a:lstStyle/>
          <a:p>
            <a:pPr indent="0" marL="0">
              <a:buNone/>
            </a:pPr>
            <a:r>
              <a:rPr lang="en-US" sz="950" b="1" spc="100" kern="0" dirty="0">
                <a:solidFill>
                  <a:srgbClr val="1F3AE0"/>
                </a:solidFill>
                <a:latin typeface="Courier New" pitchFamily="34" charset="0"/>
                <a:ea typeface="Courier New" pitchFamily="34" charset="-122"/>
                <a:cs typeface="Courier New" pitchFamily="34" charset="-120"/>
              </a:rPr>
              <a:t>TIER 2 · B2B</a:t>
            </a:r>
            <a:endParaRPr lang="en-US" sz="950" dirty="0"/>
          </a:p>
        </p:txBody>
      </p:sp>
      <p:sp>
        <p:nvSpPr>
          <p:cNvPr id="15" name="Text 13"/>
          <p:cNvSpPr txBox="1"/>
          <p:nvPr/>
        </p:nvSpPr>
        <p:spPr>
          <a:xfrm>
            <a:off x="3566160" y="2743200"/>
            <a:ext cx="2240280" cy="685800"/>
          </a:xfrm>
          <a:prstGeom prst="rect">
            <a:avLst/>
          </a:prstGeom>
          <a:noFill/>
          <a:ln/>
        </p:spPr>
        <p:txBody>
          <a:bodyPr wrap="square" lIns="0" tIns="0" rIns="0" bIns="0" rtlCol="0" anchor="t"/>
          <a:lstStyle/>
          <a:p>
            <a:pPr indent="0" marL="0">
              <a:buNone/>
            </a:pPr>
            <a:r>
              <a:rPr lang="en-US" sz="1600" dirty="0">
                <a:solidFill>
                  <a:srgbClr val="111111"/>
                </a:solidFill>
                <a:latin typeface="Arial Black" pitchFamily="34" charset="0"/>
                <a:ea typeface="Arial Black" pitchFamily="34" charset="-122"/>
                <a:cs typeface="Arial Black" pitchFamily="34" charset="-120"/>
              </a:rPr>
              <a:t>Aquaculture + agri</a:t>
            </a:r>
            <a:endParaRPr lang="en-US" sz="1600" dirty="0"/>
          </a:p>
        </p:txBody>
      </p:sp>
      <p:sp>
        <p:nvSpPr>
          <p:cNvPr id="16" name="Text 14"/>
          <p:cNvSpPr txBox="1"/>
          <p:nvPr/>
        </p:nvSpPr>
        <p:spPr>
          <a:xfrm>
            <a:off x="3566160" y="3474720"/>
            <a:ext cx="2240280" cy="914400"/>
          </a:xfrm>
          <a:prstGeom prst="rect">
            <a:avLst/>
          </a:prstGeom>
          <a:noFill/>
          <a:ln/>
        </p:spPr>
        <p:txBody>
          <a:bodyPr wrap="square" lIns="0" tIns="0" rIns="0" bIns="0" rtlCol="0" anchor="t"/>
          <a:lstStyle/>
          <a:p>
            <a:pPr indent="0" marL="0">
              <a:buNone/>
            </a:pPr>
            <a:r>
              <a:rPr lang="en-US" sz="1100" dirty="0">
                <a:solidFill>
                  <a:srgbClr val="6B6862"/>
                </a:solidFill>
                <a:latin typeface="Arial" pitchFamily="34" charset="0"/>
                <a:ea typeface="Arial" pitchFamily="34" charset="-122"/>
                <a:cs typeface="Arial" pitchFamily="34" charset="-120"/>
              </a:rPr>
              <a:t>Ammonia and phosphate spikes can kill a shrimp pond in hours.</a:t>
            </a:r>
            <a:endParaRPr lang="en-US" sz="1100" dirty="0"/>
          </a:p>
        </p:txBody>
      </p:sp>
      <p:sp>
        <p:nvSpPr>
          <p:cNvPr id="17" name="Text 15"/>
          <p:cNvSpPr txBox="1"/>
          <p:nvPr/>
        </p:nvSpPr>
        <p:spPr>
          <a:xfrm>
            <a:off x="3566160" y="4434840"/>
            <a:ext cx="2240280" cy="640080"/>
          </a:xfrm>
          <a:prstGeom prst="rect">
            <a:avLst/>
          </a:prstGeom>
          <a:noFill/>
          <a:ln/>
        </p:spPr>
        <p:txBody>
          <a:bodyPr wrap="square" lIns="0" tIns="0" rIns="0" bIns="0" rtlCol="0" anchor="t"/>
          <a:lstStyle/>
          <a:p>
            <a:pPr indent="0" marL="0">
              <a:buNone/>
            </a:pPr>
            <a:r>
              <a:rPr lang="en-US" sz="1100" b="1" dirty="0">
                <a:solidFill>
                  <a:srgbClr val="111111"/>
                </a:solidFill>
                <a:latin typeface="Arial" pitchFamily="34" charset="0"/>
                <a:ea typeface="Arial" pitchFamily="34" charset="-122"/>
                <a:cs typeface="Arial" pitchFamily="34" charset="-120"/>
              </a:rPr>
              <a:t>Pond-side checks without a ₹45k meter</a:t>
            </a:r>
            <a:endParaRPr lang="en-US" sz="1100" dirty="0"/>
          </a:p>
        </p:txBody>
      </p:sp>
      <p:sp>
        <p:nvSpPr>
          <p:cNvPr id="18" name="Shape 16"/>
          <p:cNvSpPr/>
          <p:nvPr/>
        </p:nvSpPr>
        <p:spPr>
          <a:xfrm>
            <a:off x="6181344" y="2240280"/>
            <a:ext cx="2606040" cy="2926080"/>
          </a:xfrm>
          <a:prstGeom prst="rect">
            <a:avLst/>
          </a:prstGeom>
          <a:ln w="12700">
            <a:solidFill>
              <a:srgbClr val="111111"/>
            </a:solidFill>
            <a:prstDash val="solid"/>
          </a:ln>
        </p:spPr>
      </p:sp>
      <p:sp>
        <p:nvSpPr>
          <p:cNvPr id="19" name="Text 17"/>
          <p:cNvSpPr txBox="1"/>
          <p:nvPr/>
        </p:nvSpPr>
        <p:spPr>
          <a:xfrm>
            <a:off x="6382512" y="2441448"/>
            <a:ext cx="2194560" cy="274320"/>
          </a:xfrm>
          <a:prstGeom prst="rect">
            <a:avLst/>
          </a:prstGeom>
          <a:noFill/>
          <a:ln/>
        </p:spPr>
        <p:txBody>
          <a:bodyPr wrap="square" lIns="0" tIns="0" rIns="0" bIns="0" rtlCol="0" anchor="ctr"/>
          <a:lstStyle/>
          <a:p>
            <a:pPr indent="0" marL="0">
              <a:buNone/>
            </a:pPr>
            <a:r>
              <a:rPr lang="en-US" sz="950" b="1" spc="100" kern="0" dirty="0">
                <a:solidFill>
                  <a:srgbClr val="1F3AE0"/>
                </a:solidFill>
                <a:latin typeface="Courier New" pitchFamily="34" charset="0"/>
                <a:ea typeface="Courier New" pitchFamily="34" charset="-122"/>
                <a:cs typeface="Courier New" pitchFamily="34" charset="-120"/>
              </a:rPr>
              <a:t>TIER 3 · STEM</a:t>
            </a:r>
            <a:endParaRPr lang="en-US" sz="950" dirty="0"/>
          </a:p>
        </p:txBody>
      </p:sp>
      <p:sp>
        <p:nvSpPr>
          <p:cNvPr id="20" name="Text 18"/>
          <p:cNvSpPr txBox="1"/>
          <p:nvPr/>
        </p:nvSpPr>
        <p:spPr>
          <a:xfrm>
            <a:off x="6382512" y="2743200"/>
            <a:ext cx="2240280" cy="685800"/>
          </a:xfrm>
          <a:prstGeom prst="rect">
            <a:avLst/>
          </a:prstGeom>
          <a:noFill/>
          <a:ln/>
        </p:spPr>
        <p:txBody>
          <a:bodyPr wrap="square" lIns="0" tIns="0" rIns="0" bIns="0" rtlCol="0" anchor="t"/>
          <a:lstStyle/>
          <a:p>
            <a:pPr indent="0" marL="0">
              <a:buNone/>
            </a:pPr>
            <a:r>
              <a:rPr lang="en-US" sz="1600" dirty="0">
                <a:solidFill>
                  <a:srgbClr val="111111"/>
                </a:solidFill>
                <a:latin typeface="Arial Black" pitchFamily="34" charset="0"/>
                <a:ea typeface="Arial Black" pitchFamily="34" charset="-122"/>
                <a:cs typeface="Arial Black" pitchFamily="34" charset="-120"/>
              </a:rPr>
              <a:t>Schools + colleges</a:t>
            </a:r>
            <a:endParaRPr lang="en-US" sz="1600" dirty="0"/>
          </a:p>
        </p:txBody>
      </p:sp>
      <p:sp>
        <p:nvSpPr>
          <p:cNvPr id="21" name="Text 19"/>
          <p:cNvSpPr txBox="1"/>
          <p:nvPr/>
        </p:nvSpPr>
        <p:spPr>
          <a:xfrm>
            <a:off x="6382512" y="3474720"/>
            <a:ext cx="2240280" cy="914400"/>
          </a:xfrm>
          <a:prstGeom prst="rect">
            <a:avLst/>
          </a:prstGeom>
          <a:noFill/>
          <a:ln/>
        </p:spPr>
        <p:txBody>
          <a:bodyPr wrap="square" lIns="0" tIns="0" rIns="0" bIns="0" rtlCol="0" anchor="t"/>
          <a:lstStyle/>
          <a:p>
            <a:pPr indent="0" marL="0">
              <a:buNone/>
            </a:pPr>
            <a:r>
              <a:rPr lang="en-US" sz="1100" dirty="0">
                <a:solidFill>
                  <a:srgbClr val="6B6862"/>
                </a:solidFill>
                <a:latin typeface="Arial" pitchFamily="34" charset="0"/>
                <a:ea typeface="Arial" pitchFamily="34" charset="-122"/>
                <a:cs typeface="Arial" pitchFamily="34" charset="-120"/>
              </a:rPr>
              <a:t>60 students sharing one broken colorimeter.</a:t>
            </a:r>
            <a:endParaRPr lang="en-US" sz="1100" dirty="0"/>
          </a:p>
        </p:txBody>
      </p:sp>
      <p:sp>
        <p:nvSpPr>
          <p:cNvPr id="22" name="Text 20"/>
          <p:cNvSpPr txBox="1"/>
          <p:nvPr/>
        </p:nvSpPr>
        <p:spPr>
          <a:xfrm>
            <a:off x="6382512" y="4434840"/>
            <a:ext cx="2240280" cy="640080"/>
          </a:xfrm>
          <a:prstGeom prst="rect">
            <a:avLst/>
          </a:prstGeom>
          <a:noFill/>
          <a:ln/>
        </p:spPr>
        <p:txBody>
          <a:bodyPr wrap="square" lIns="0" tIns="0" rIns="0" bIns="0" rtlCol="0" anchor="t"/>
          <a:lstStyle/>
          <a:p>
            <a:pPr indent="0" marL="0">
              <a:buNone/>
            </a:pPr>
            <a:r>
              <a:rPr lang="en-US" sz="1100" b="1" dirty="0">
                <a:solidFill>
                  <a:srgbClr val="111111"/>
                </a:solidFill>
                <a:latin typeface="Arial" pitchFamily="34" charset="0"/>
                <a:ea typeface="Arial" pitchFamily="34" charset="-122"/>
                <a:cs typeface="Arial" pitchFamily="34" charset="-120"/>
              </a:rPr>
              <a:t>A flat-pack spectrometer per student, on the DBT–Foldscope path</a:t>
            </a:r>
            <a:endParaRPr lang="en-US" sz="1100" dirty="0"/>
          </a:p>
        </p:txBody>
      </p:sp>
      <p:sp>
        <p:nvSpPr>
          <p:cNvPr id="23" name="Shape 21"/>
          <p:cNvSpPr/>
          <p:nvPr/>
        </p:nvSpPr>
        <p:spPr>
          <a:xfrm>
            <a:off x="8997696" y="2240280"/>
            <a:ext cx="2606040" cy="2926080"/>
          </a:xfrm>
          <a:prstGeom prst="rect">
            <a:avLst/>
          </a:prstGeom>
          <a:ln w="12700">
            <a:solidFill>
              <a:srgbClr val="111111"/>
            </a:solidFill>
            <a:prstDash val="solid"/>
          </a:ln>
        </p:spPr>
      </p:sp>
      <p:sp>
        <p:nvSpPr>
          <p:cNvPr id="24" name="Text 22"/>
          <p:cNvSpPr txBox="1"/>
          <p:nvPr/>
        </p:nvSpPr>
        <p:spPr>
          <a:xfrm>
            <a:off x="9198864" y="2441448"/>
            <a:ext cx="2194560" cy="274320"/>
          </a:xfrm>
          <a:prstGeom prst="rect">
            <a:avLst/>
          </a:prstGeom>
          <a:noFill/>
          <a:ln/>
        </p:spPr>
        <p:txBody>
          <a:bodyPr wrap="square" lIns="0" tIns="0" rIns="0" bIns="0" rtlCol="0" anchor="ctr"/>
          <a:lstStyle/>
          <a:p>
            <a:pPr indent="0" marL="0">
              <a:buNone/>
            </a:pPr>
            <a:r>
              <a:rPr lang="en-US" sz="950" b="1" spc="100" kern="0" dirty="0">
                <a:solidFill>
                  <a:srgbClr val="1F3AE0"/>
                </a:solidFill>
                <a:latin typeface="Courier New" pitchFamily="34" charset="0"/>
                <a:ea typeface="Courier New" pitchFamily="34" charset="-122"/>
                <a:cs typeface="Courier New" pitchFamily="34" charset="-120"/>
              </a:rPr>
              <a:t>TIER 4 · B2C</a:t>
            </a:r>
            <a:endParaRPr lang="en-US" sz="950" dirty="0"/>
          </a:p>
        </p:txBody>
      </p:sp>
      <p:sp>
        <p:nvSpPr>
          <p:cNvPr id="25" name="Text 23"/>
          <p:cNvSpPr txBox="1"/>
          <p:nvPr/>
        </p:nvSpPr>
        <p:spPr>
          <a:xfrm>
            <a:off x="9198864" y="2743200"/>
            <a:ext cx="2240280" cy="685800"/>
          </a:xfrm>
          <a:prstGeom prst="rect">
            <a:avLst/>
          </a:prstGeom>
          <a:noFill/>
          <a:ln/>
        </p:spPr>
        <p:txBody>
          <a:bodyPr wrap="square" lIns="0" tIns="0" rIns="0" bIns="0" rtlCol="0" anchor="t"/>
          <a:lstStyle/>
          <a:p>
            <a:pPr indent="0" marL="0">
              <a:buNone/>
            </a:pPr>
            <a:r>
              <a:rPr lang="en-US" sz="1600" dirty="0">
                <a:solidFill>
                  <a:srgbClr val="111111"/>
                </a:solidFill>
                <a:latin typeface="Arial Black" pitchFamily="34" charset="0"/>
                <a:ea typeface="Arial Black" pitchFamily="34" charset="-122"/>
                <a:cs typeface="Arial Black" pitchFamily="34" charset="-120"/>
              </a:rPr>
              <a:t>RWAs + NGOs</a:t>
            </a:r>
            <a:endParaRPr lang="en-US" sz="1600" dirty="0"/>
          </a:p>
        </p:txBody>
      </p:sp>
      <p:sp>
        <p:nvSpPr>
          <p:cNvPr id="26" name="Text 24"/>
          <p:cNvSpPr txBox="1"/>
          <p:nvPr/>
        </p:nvSpPr>
        <p:spPr>
          <a:xfrm>
            <a:off x="9198864" y="3474720"/>
            <a:ext cx="2240280" cy="914400"/>
          </a:xfrm>
          <a:prstGeom prst="rect">
            <a:avLst/>
          </a:prstGeom>
          <a:noFill/>
          <a:ln/>
        </p:spPr>
        <p:txBody>
          <a:bodyPr wrap="square" lIns="0" tIns="0" rIns="0" bIns="0" rtlCol="0" anchor="t"/>
          <a:lstStyle/>
          <a:p>
            <a:pPr indent="0" marL="0">
              <a:buNone/>
            </a:pPr>
            <a:r>
              <a:rPr lang="en-US" sz="1100" dirty="0">
                <a:solidFill>
                  <a:srgbClr val="6B6862"/>
                </a:solidFill>
                <a:latin typeface="Arial" pitchFamily="34" charset="0"/>
                <a:ea typeface="Arial" pitchFamily="34" charset="-122"/>
                <a:cs typeface="Arial" pitchFamily="34" charset="-120"/>
              </a:rPr>
              <a:t>“Is my borewell or RO water okay?”</a:t>
            </a:r>
            <a:endParaRPr lang="en-US" sz="1100" dirty="0"/>
          </a:p>
        </p:txBody>
      </p:sp>
      <p:sp>
        <p:nvSpPr>
          <p:cNvPr id="27" name="Text 25"/>
          <p:cNvSpPr txBox="1"/>
          <p:nvPr/>
        </p:nvSpPr>
        <p:spPr>
          <a:xfrm>
            <a:off x="9198864" y="4434840"/>
            <a:ext cx="2240280" cy="640080"/>
          </a:xfrm>
          <a:prstGeom prst="rect">
            <a:avLst/>
          </a:prstGeom>
          <a:noFill/>
          <a:ln/>
        </p:spPr>
        <p:txBody>
          <a:bodyPr wrap="square" lIns="0" tIns="0" rIns="0" bIns="0" rtlCol="0" anchor="t"/>
          <a:lstStyle/>
          <a:p>
            <a:pPr indent="0" marL="0">
              <a:buNone/>
            </a:pPr>
            <a:r>
              <a:rPr lang="en-US" sz="1100" b="1" dirty="0">
                <a:solidFill>
                  <a:srgbClr val="111111"/>
                </a:solidFill>
                <a:latin typeface="Arial" pitchFamily="34" charset="0"/>
                <a:ea typeface="Arial" pitchFamily="34" charset="-122"/>
                <a:cs typeface="Arial" pitchFamily="34" charset="-120"/>
              </a:rPr>
              <a:t>Screening before paying for a lab</a:t>
            </a:r>
            <a:endParaRPr lang="en-US" sz="1100" dirty="0"/>
          </a:p>
        </p:txBody>
      </p:sp>
      <p:sp>
        <p:nvSpPr>
          <p:cNvPr id="28" name="Shape 26"/>
          <p:cNvSpPr/>
          <p:nvPr/>
        </p:nvSpPr>
        <p:spPr>
          <a:xfrm>
            <a:off x="548640" y="5394960"/>
            <a:ext cx="11091672" cy="868680"/>
          </a:xfrm>
          <a:prstGeom prst="rect">
            <a:avLst/>
          </a:prstGeom>
          <a:solidFill>
            <a:srgbClr val="111111"/>
          </a:solidFill>
          <a:ln/>
        </p:spPr>
      </p:sp>
      <p:sp>
        <p:nvSpPr>
          <p:cNvPr id="29" name="Text 27"/>
          <p:cNvSpPr txBox="1"/>
          <p:nvPr/>
        </p:nvSpPr>
        <p:spPr>
          <a:xfrm>
            <a:off x="822960" y="5394960"/>
            <a:ext cx="10607040" cy="868680"/>
          </a:xfrm>
          <a:prstGeom prst="rect">
            <a:avLst/>
          </a:prstGeom>
          <a:noFill/>
          <a:ln/>
        </p:spPr>
        <p:txBody>
          <a:bodyPr wrap="square" lIns="0" tIns="0" rIns="0" bIns="0" rtlCol="0" anchor="ctr"/>
          <a:lstStyle/>
          <a:p>
            <a:pPr indent="0" marL="0">
              <a:buNone/>
            </a:pPr>
            <a:r>
              <a:rPr lang="en-US" sz="2000" dirty="0">
                <a:solidFill>
                  <a:srgbClr val="FFFFFF"/>
                </a:solidFill>
                <a:latin typeface="Arial Black" pitchFamily="34" charset="0"/>
                <a:ea typeface="Arial Black" pitchFamily="34" charset="-122"/>
                <a:cs typeface="Arial Black" pitchFamily="34" charset="-120"/>
              </a:rPr>
              <a:t>12.9 crore tests / year  </a:t>
            </a:r>
            <a:pPr indent="0" marL="0">
              <a:buNone/>
            </a:pPr>
            <a:r>
              <a:rPr lang="en-US" sz="1300" dirty="0">
                <a:solidFill>
                  <a:srgbClr val="D0CCC4"/>
                </a:solidFill>
                <a:latin typeface="Arial" pitchFamily="34" charset="0"/>
                <a:ea typeface="Arial" pitchFamily="34" charset="-122"/>
                <a:cs typeface="Arial" pitchFamily="34" charset="-120"/>
              </a:rPr>
              <a:t>if each JJM tester runs one LISA test a week · about ₹129 crore/yr in refills at ₹10 a test</a:t>
            </a:r>
            <a:endParaRPr lang="en-US" sz="2000" dirty="0"/>
          </a:p>
        </p:txBody>
      </p:sp>
      <p:sp>
        <p:nvSpPr>
          <p:cNvPr id="30" name="Text 28"/>
          <p:cNvSpPr txBox="1"/>
          <p:nvPr/>
        </p:nvSpPr>
        <p:spPr>
          <a:xfrm>
            <a:off x="548640" y="6419088"/>
            <a:ext cx="9326880" cy="292608"/>
          </a:xfrm>
          <a:prstGeom prst="rect">
            <a:avLst/>
          </a:prstGeom>
          <a:noFill/>
          <a:ln/>
        </p:spPr>
        <p:txBody>
          <a:bodyPr wrap="square" lIns="0" tIns="0" rIns="0" bIns="0" rtlCol="0" anchor="b"/>
          <a:lstStyle/>
          <a:p>
            <a:pPr indent="0" marL="0">
              <a:buNone/>
            </a:pPr>
            <a:r>
              <a:rPr lang="en-US" sz="800" dirty="0">
                <a:solidFill>
                  <a:srgbClr val="6B6862"/>
                </a:solidFill>
                <a:latin typeface="Courier New" pitchFamily="34" charset="0"/>
                <a:ea typeface="Courier New" pitchFamily="34" charset="-122"/>
                <a:cs typeface="Courier New" pitchFamily="34" charset="-120"/>
              </a:rPr>
              <a:t>Illustrative arithmetic: 24.8 lakh × 52 weeks. JJM figures: PIB, March 2026.</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000" b="1" spc="200" kern="0" dirty="0">
                <a:solidFill>
                  <a:srgbClr val="111111"/>
                </a:solidFill>
                <a:latin typeface="Courier New" pitchFamily="34" charset="0"/>
                <a:ea typeface="Courier New" pitchFamily="34" charset="-122"/>
                <a:cs typeface="Courier New" pitchFamily="34" charset="-120"/>
              </a:rPr>
              <a:t>19 — BUSINESS MODEL</a:t>
            </a:r>
            <a:endParaRPr lang="en-US" sz="1000" dirty="0"/>
          </a:p>
        </p:txBody>
      </p:sp>
      <p:sp>
        <p:nvSpPr>
          <p:cNvPr id="3" name="Text 1"/>
          <p:cNvSpPr txBox="1"/>
          <p:nvPr/>
        </p:nvSpPr>
        <p:spPr>
          <a:xfrm>
            <a:off x="6156655" y="292608"/>
            <a:ext cx="5486400" cy="274320"/>
          </a:xfrm>
          <a:prstGeom prst="rect">
            <a:avLst/>
          </a:prstGeom>
          <a:noFill/>
          <a:ln/>
        </p:spPr>
        <p:txBody>
          <a:bodyPr wrap="square" lIns="0" tIns="0" rIns="0" bIns="0" rtlCol="0" anchor="ctr"/>
          <a:lstStyle/>
          <a:p>
            <a:pPr algn="r" indent="0" marL="0">
              <a:buNone/>
            </a:pPr>
            <a:r>
              <a:rPr lang="en-US" sz="900" spc="200" kern="0" dirty="0">
                <a:solidFill>
                  <a:srgbClr val="6B6862"/>
                </a:solidFill>
                <a:latin typeface="Courier New" pitchFamily="34" charset="0"/>
                <a:ea typeface="Courier New" pitchFamily="34" charset="-122"/>
                <a:cs typeface="Courier New" pitchFamily="34" charset="-120"/>
              </a:rPr>
              <a:t>LISA  /  ASHOKA STARTUP CHALLENGE 2026</a:t>
            </a:r>
            <a:endParaRPr lang="en-US" sz="900" dirty="0"/>
          </a:p>
        </p:txBody>
      </p:sp>
      <p:sp>
        <p:nvSpPr>
          <p:cNvPr id="4"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900" dirty="0">
                <a:solidFill>
                  <a:srgbClr val="6B6862"/>
                </a:solidFill>
                <a:latin typeface="Courier New" pitchFamily="34" charset="0"/>
                <a:ea typeface="Courier New" pitchFamily="34" charset="-122"/>
                <a:cs typeface="Courier New" pitchFamily="34" charset="-120"/>
              </a:rPr>
              <a:t>19 / 24</a:t>
            </a:r>
            <a:endParaRPr lang="en-US" sz="900" dirty="0"/>
          </a:p>
        </p:txBody>
      </p:sp>
      <p:sp>
        <p:nvSpPr>
          <p:cNvPr id="5" name="Shape 3"/>
          <p:cNvSpPr/>
          <p:nvPr/>
        </p:nvSpPr>
        <p:spPr>
          <a:xfrm>
            <a:off x="210312" y="6583680"/>
            <a:ext cx="164592" cy="0"/>
          </a:xfrm>
          <a:prstGeom prst="line">
            <a:avLst/>
          </a:prstGeom>
          <a:noFill/>
          <a:ln w="9525">
            <a:solidFill>
              <a:srgbClr val="111111"/>
            </a:solidFill>
            <a:prstDash val="solid"/>
          </a:ln>
        </p:spPr>
      </p:sp>
      <p:sp>
        <p:nvSpPr>
          <p:cNvPr id="6" name="Shape 4"/>
          <p:cNvSpPr/>
          <p:nvPr/>
        </p:nvSpPr>
        <p:spPr>
          <a:xfrm>
            <a:off x="292608" y="6501384"/>
            <a:ext cx="0" cy="164592"/>
          </a:xfrm>
          <a:prstGeom prst="line">
            <a:avLst/>
          </a:prstGeom>
          <a:noFill/>
          <a:ln w="9525">
            <a:solidFill>
              <a:srgbClr val="111111"/>
            </a:solidFill>
            <a:prstDash val="solid"/>
          </a:ln>
        </p:spPr>
      </p:sp>
      <p:sp>
        <p:nvSpPr>
          <p:cNvPr id="7" name="Text 5"/>
          <p:cNvSpPr txBox="1"/>
          <p:nvPr/>
        </p:nvSpPr>
        <p:spPr>
          <a:xfrm>
            <a:off x="548640" y="685800"/>
            <a:ext cx="5486400" cy="1280160"/>
          </a:xfrm>
          <a:prstGeom prst="rect">
            <a:avLst/>
          </a:prstGeom>
          <a:noFill/>
          <a:ln/>
        </p:spPr>
        <p:txBody>
          <a:bodyPr wrap="square" lIns="0" tIns="0" rIns="0" bIns="0" rtlCol="0" anchor="t"/>
          <a:lstStyle/>
          <a:p>
            <a:pPr indent="0" marL="0">
              <a:lnSpc>
                <a:spcPct val="92000"/>
              </a:lnSpc>
              <a:buNone/>
            </a:pPr>
            <a:r>
              <a:rPr lang="en-US" sz="3400" dirty="0">
                <a:solidFill>
                  <a:srgbClr val="111111"/>
                </a:solidFill>
                <a:latin typeface="Arial Black" pitchFamily="34" charset="0"/>
                <a:ea typeface="Arial Black" pitchFamily="34" charset="-122"/>
                <a:cs typeface="Arial Black" pitchFamily="34" charset="-120"/>
              </a:rPr>
              <a:t>Razor at cost.</a:t>
            </a:r>
            <a:pPr indent="0" marL="0">
              <a:lnSpc>
                <a:spcPct val="92000"/>
              </a:lnSpc>
              <a:buNone/>
            </a:pPr>
            <a:endParaRPr lang="en-US" sz="3400" dirty="0"/>
          </a:p>
          <a:p>
            <a:pPr indent="0" marL="0">
              <a:lnSpc>
                <a:spcPct val="92000"/>
              </a:lnSpc>
              <a:buNone/>
            </a:pPr>
            <a:r>
              <a:rPr lang="en-US" sz="3400" dirty="0">
                <a:solidFill>
                  <a:srgbClr val="1F3AE0"/>
                </a:solidFill>
                <a:latin typeface="Arial Black" pitchFamily="34" charset="0"/>
                <a:ea typeface="Arial Black" pitchFamily="34" charset="-122"/>
                <a:cs typeface="Arial Black" pitchFamily="34" charset="-120"/>
              </a:rPr>
              <a:t>Blades at 80%+.</a:t>
            </a:r>
            <a:endParaRPr lang="en-US" sz="3400" dirty="0"/>
          </a:p>
        </p:txBody>
      </p:sp>
      <p:sp>
        <p:nvSpPr>
          <p:cNvPr id="8" name="Shape 6"/>
          <p:cNvSpPr/>
          <p:nvPr/>
        </p:nvSpPr>
        <p:spPr>
          <a:xfrm>
            <a:off x="548640" y="2240280"/>
            <a:ext cx="5120640" cy="3886200"/>
          </a:xfrm>
          <a:prstGeom prst="rect">
            <a:avLst/>
          </a:prstGeom>
          <a:solidFill>
            <a:srgbClr val="F7F6F3"/>
          </a:solidFill>
          <a:ln w="9525">
            <a:solidFill>
              <a:srgbClr val="111111"/>
            </a:solidFill>
            <a:prstDash val="solid"/>
          </a:ln>
        </p:spPr>
      </p:sp>
      <p:sp>
        <p:nvSpPr>
          <p:cNvPr id="9" name="Text 7"/>
          <p:cNvSpPr txBox="1"/>
          <p:nvPr/>
        </p:nvSpPr>
        <p:spPr>
          <a:xfrm>
            <a:off x="777240" y="2395728"/>
            <a:ext cx="4572000" cy="274320"/>
          </a:xfrm>
          <a:prstGeom prst="rect">
            <a:avLst/>
          </a:prstGeom>
          <a:noFill/>
          <a:ln/>
        </p:spPr>
        <p:txBody>
          <a:bodyPr wrap="square" lIns="0" tIns="0" rIns="0" bIns="0" rtlCol="0" anchor="ctr"/>
          <a:lstStyle/>
          <a:p>
            <a:pPr indent="0" marL="0">
              <a:buNone/>
            </a:pPr>
            <a:r>
              <a:rPr lang="en-US" sz="900" b="1" spc="100" kern="0" dirty="0">
                <a:solidFill>
                  <a:srgbClr val="111111"/>
                </a:solidFill>
                <a:latin typeface="Courier New" pitchFamily="34" charset="0"/>
                <a:ea typeface="Courier New" pitchFamily="34" charset="-122"/>
                <a:cs typeface="Courier New" pitchFamily="34" charset="-120"/>
              </a:rPr>
              <a:t>FIG. 19 — COST AT SCALE vs RETAIL (₹)</a:t>
            </a:r>
            <a:endParaRPr lang="en-US" sz="900" dirty="0"/>
          </a:p>
        </p:txBody>
      </p:sp>
      <p:graphicFrame>
        <p:nvGraphicFramePr>
          <p:cNvPr id="10" name="Chart 0" descr=""/>
          <p:cNvGraphicFramePr/>
          <p:nvPr/>
        </p:nvGraphicFramePr>
        <p:xfrm>
          <a:off x="640080" y="2697480"/>
          <a:ext cx="4937760" cy="3337560"/>
        </p:xfrm>
        <a:graphic xmlns:a="http://schemas.openxmlformats.org/drawingml/2006/main">
          <a:graphicData uri="http://schemas.openxmlformats.org/drawingml/2006/chart">
            <c:chart xmlns:c="http://schemas.openxmlformats.org/drawingml/2006/chart" r:id="rId2"/>
          </a:graphicData>
        </a:graphic>
      </p:graphicFrame>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035040" y="2240280"/>
          <a:ext cx="5623560" cy="914400"/>
        </p:xfrm>
        <a:graphic>
          <a:graphicData uri="http://schemas.openxmlformats.org/drawingml/2006/table">
            <a:tbl>
              <a:tblPr/>
              <a:tblGrid>
                <a:gridCol w="1828800"/>
                <a:gridCol w="1325880"/>
                <a:gridCol w="1417320"/>
                <a:gridCol w="1051560"/>
              </a:tblGrid>
              <a:tr h="457200">
                <a:tc>
                  <a:txBody>
                    <a:bodyPr/>
                    <a:lstStyle/>
                    <a:p>
                      <a:pPr indent="0" marL="0">
                        <a:buNone/>
                      </a:pPr>
                      <a:r>
                        <a:rPr lang="en-US" sz="900" b="1" dirty="0">
                          <a:solidFill>
                            <a:srgbClr val="FFFFFF"/>
                          </a:solidFill>
                          <a:latin typeface="Courier New" pitchFamily="34" charset="0"/>
                          <a:ea typeface="Courier New" pitchFamily="34" charset="-122"/>
                          <a:cs typeface="Courier New" pitchFamily="34" charset="-120"/>
                        </a:rPr>
                        <a:t>STREAM</a:t>
                      </a:r>
                      <a:endParaRPr lang="en-US" sz="9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c>
                  <a:txBody>
                    <a:bodyPr/>
                    <a:lstStyle/>
                    <a:p>
                      <a:pPr indent="0" marL="0">
                        <a:buNone/>
                      </a:pPr>
                      <a:r>
                        <a:rPr lang="en-US" sz="900" b="1" dirty="0">
                          <a:solidFill>
                            <a:srgbClr val="FFFFFF"/>
                          </a:solidFill>
                          <a:latin typeface="Courier New" pitchFamily="34" charset="0"/>
                          <a:ea typeface="Courier New" pitchFamily="34" charset="-122"/>
                          <a:cs typeface="Courier New" pitchFamily="34" charset="-120"/>
                        </a:rPr>
                        <a:t>COST</a:t>
                      </a:r>
                      <a:endParaRPr lang="en-US" sz="9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c>
                  <a:txBody>
                    <a:bodyPr/>
                    <a:lstStyle/>
                    <a:p>
                      <a:pPr indent="0" marL="0">
                        <a:buNone/>
                      </a:pPr>
                      <a:r>
                        <a:rPr lang="en-US" sz="900" b="1" dirty="0">
                          <a:solidFill>
                            <a:srgbClr val="FFFFFF"/>
                          </a:solidFill>
                          <a:latin typeface="Courier New" pitchFamily="34" charset="0"/>
                          <a:ea typeface="Courier New" pitchFamily="34" charset="-122"/>
                          <a:cs typeface="Courier New" pitchFamily="34" charset="-120"/>
                        </a:rPr>
                        <a:t>PRICE</a:t>
                      </a:r>
                      <a:endParaRPr lang="en-US" sz="9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c>
                  <a:txBody>
                    <a:bodyPr/>
                    <a:lstStyle/>
                    <a:p>
                      <a:pPr indent="0" marL="0">
                        <a:buNone/>
                      </a:pPr>
                      <a:r>
                        <a:rPr lang="en-US" sz="900" b="1" dirty="0">
                          <a:solidFill>
                            <a:srgbClr val="FFFFFF"/>
                          </a:solidFill>
                          <a:latin typeface="Courier New" pitchFamily="34" charset="0"/>
                          <a:ea typeface="Courier New" pitchFamily="34" charset="-122"/>
                          <a:cs typeface="Courier New" pitchFamily="34" charset="-120"/>
                        </a:rPr>
                        <a:t>MARGIN</a:t>
                      </a:r>
                      <a:endParaRPr lang="en-US" sz="90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111111"/>
                    </a:solidFill>
                  </a:tcPr>
                </a:tc>
              </a:tr>
              <a:tr h="457200">
                <a:tc>
                  <a:txBody>
                    <a:bodyPr/>
                    <a:lstStyle/>
                    <a:p>
                      <a:pPr indent="0" marL="0">
                        <a:buNone/>
                      </a:pPr>
                      <a:r>
                        <a:rPr lang="en-US" sz="1050" dirty="0">
                          <a:solidFill>
                            <a:srgbClr val="111111"/>
                          </a:solidFill>
                          <a:latin typeface="Arial" pitchFamily="34" charset="0"/>
                          <a:ea typeface="Arial" pitchFamily="34" charset="-122"/>
                          <a:cs typeface="Arial" pitchFamily="34" charset="-120"/>
                        </a:rPr>
                        <a:t>Hardware kit</a:t>
                      </a:r>
                      <a:endParaRPr lang="en-US" sz="105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050" dirty="0">
                          <a:solidFill>
                            <a:srgbClr val="111111"/>
                          </a:solidFill>
                          <a:latin typeface="Courier New" pitchFamily="34" charset="0"/>
                          <a:ea typeface="Courier New" pitchFamily="34" charset="-122"/>
                          <a:cs typeface="Courier New" pitchFamily="34" charset="-120"/>
                        </a:rPr>
                        <a:t>₹250–320</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050" dirty="0">
                          <a:solidFill>
                            <a:srgbClr val="111111"/>
                          </a:solidFill>
                          <a:latin typeface="Courier New" pitchFamily="34" charset="0"/>
                          <a:ea typeface="Courier New" pitchFamily="34" charset="-122"/>
                          <a:cs typeface="Courier New" pitchFamily="34" charset="-120"/>
                        </a:rPr>
                        <a:t>₹1,499–2,499</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050" b="1" dirty="0">
                          <a:solidFill>
                            <a:srgbClr val="1F3AE0"/>
                          </a:solidFill>
                          <a:latin typeface="Courier New" pitchFamily="34" charset="0"/>
                          <a:ea typeface="Courier New" pitchFamily="34" charset="-122"/>
                          <a:cs typeface="Courier New" pitchFamily="34" charset="-120"/>
                        </a:rPr>
                        <a:t>78–84%</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457200">
                <a:tc>
                  <a:txBody>
                    <a:bodyPr/>
                    <a:lstStyle/>
                    <a:p>
                      <a:pPr indent="0" marL="0">
                        <a:buNone/>
                      </a:pPr>
                      <a:r>
                        <a:rPr lang="en-US" sz="1050" dirty="0">
                          <a:solidFill>
                            <a:srgbClr val="111111"/>
                          </a:solidFill>
                          <a:latin typeface="Arial" pitchFamily="34" charset="0"/>
                          <a:ea typeface="Arial" pitchFamily="34" charset="-122"/>
                          <a:cs typeface="Arial" pitchFamily="34" charset="-120"/>
                        </a:rPr>
                        <a:t>Refill (50 tests)</a:t>
                      </a:r>
                      <a:endParaRPr lang="en-US" sz="105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050" dirty="0">
                          <a:solidFill>
                            <a:srgbClr val="111111"/>
                          </a:solidFill>
                          <a:latin typeface="Courier New" pitchFamily="34" charset="0"/>
                          <a:ea typeface="Courier New" pitchFamily="34" charset="-122"/>
                          <a:cs typeface="Courier New" pitchFamily="34" charset="-120"/>
                        </a:rPr>
                        <a:t>₹50–70</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050" dirty="0">
                          <a:solidFill>
                            <a:srgbClr val="111111"/>
                          </a:solidFill>
                          <a:latin typeface="Courier New" pitchFamily="34" charset="0"/>
                          <a:ea typeface="Courier New" pitchFamily="34" charset="-122"/>
                          <a:cs typeface="Courier New" pitchFamily="34" charset="-120"/>
                        </a:rPr>
                        <a:t>₹399–599</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050" b="1" dirty="0">
                          <a:solidFill>
                            <a:srgbClr val="1F3AE0"/>
                          </a:solidFill>
                          <a:latin typeface="Courier New" pitchFamily="34" charset="0"/>
                          <a:ea typeface="Courier New" pitchFamily="34" charset="-122"/>
                          <a:cs typeface="Courier New" pitchFamily="34" charset="-120"/>
                        </a:rPr>
                        <a:t>82–88%</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r h="457200">
                <a:tc>
                  <a:txBody>
                    <a:bodyPr/>
                    <a:lstStyle/>
                    <a:p>
                      <a:pPr indent="0" marL="0">
                        <a:buNone/>
                      </a:pPr>
                      <a:r>
                        <a:rPr lang="en-US" sz="1050" dirty="0">
                          <a:solidFill>
                            <a:srgbClr val="111111"/>
                          </a:solidFill>
                          <a:latin typeface="Arial" pitchFamily="34" charset="0"/>
                          <a:ea typeface="Arial" pitchFamily="34" charset="-122"/>
                          <a:cs typeface="Arial" pitchFamily="34" charset="-120"/>
                        </a:rPr>
                        <a:t>Panchayat dashboard</a:t>
                      </a:r>
                      <a:endParaRPr lang="en-US" sz="1050" dirty="0">
                        <a:latin typeface="Arial" charset="0"/>
                        <a:ea typeface="Arial" charset="0"/>
                        <a:cs typeface="Arial"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050" dirty="0">
                          <a:solidFill>
                            <a:srgbClr val="111111"/>
                          </a:solidFill>
                          <a:latin typeface="Courier New" pitchFamily="34" charset="0"/>
                          <a:ea typeface="Courier New" pitchFamily="34" charset="-122"/>
                          <a:cs typeface="Courier New" pitchFamily="34" charset="-120"/>
                        </a:rPr>
                        <a:t>~₹10/device/mo</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050" dirty="0">
                          <a:solidFill>
                            <a:srgbClr val="111111"/>
                          </a:solidFill>
                          <a:latin typeface="Courier New" pitchFamily="34" charset="0"/>
                          <a:ea typeface="Courier New" pitchFamily="34" charset="-122"/>
                          <a:cs typeface="Courier New" pitchFamily="34" charset="-120"/>
                        </a:rPr>
                        <a:t>₹1,200/yr</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c>
                  <a:txBody>
                    <a:bodyPr/>
                    <a:lstStyle/>
                    <a:p>
                      <a:pPr indent="0" marL="0">
                        <a:buNone/>
                      </a:pPr>
                      <a:r>
                        <a:rPr lang="en-US" sz="1050" b="1" dirty="0">
                          <a:solidFill>
                            <a:srgbClr val="1F3AE0"/>
                          </a:solidFill>
                          <a:latin typeface="Courier New" pitchFamily="34" charset="0"/>
                          <a:ea typeface="Courier New" pitchFamily="34" charset="-122"/>
                          <a:cs typeface="Courier New" pitchFamily="34" charset="-120"/>
                        </a:rPr>
                        <a:t>90%+</a:t>
                      </a:r>
                      <a:endParaRPr lang="en-US" sz="1050" dirty="0">
                        <a:latin typeface="Courier New" charset="0"/>
                        <a:ea typeface="Courier New" charset="0"/>
                        <a:cs typeface="Courier New" charset="0"/>
                      </a:endParaRPr>
                    </a:p>
                  </a:txBody>
                  <a:tcPr marL="73152" marR="73152" marT="36576" marB="36576" anchor="ctr">
                    <a:lnL w="6350" cap="flat" cmpd="sng" algn="ctr">
                      <a:solidFill>
                        <a:srgbClr val="111111"/>
                      </a:solidFill>
                      <a:prstDash val="solid"/>
                      <a:round/>
                      <a:headEnd type="none" w="med" len="med"/>
                      <a:tailEnd type="none" w="med" len="med"/>
                    </a:lnL>
                    <a:lnR w="6350" cap="flat" cmpd="sng" algn="ctr">
                      <a:solidFill>
                        <a:srgbClr val="111111"/>
                      </a:solidFill>
                      <a:prstDash val="solid"/>
                      <a:round/>
                      <a:headEnd type="none" w="med" len="med"/>
                      <a:tailEnd type="none" w="med" len="med"/>
                    </a:lnR>
                    <a:lnT w="6350" cap="flat" cmpd="sng" algn="ctr">
                      <a:solidFill>
                        <a:srgbClr val="111111"/>
                      </a:solidFill>
                      <a:prstDash val="solid"/>
                      <a:round/>
                      <a:headEnd type="none" w="med" len="med"/>
                      <a:tailEnd type="none" w="med" len="med"/>
                    </a:lnT>
                    <a:lnB w="6350" cap="flat" cmpd="sng" algn="ctr">
                      <a:solidFill>
                        <a:srgbClr val="111111"/>
                      </a:solidFill>
                      <a:prstDash val="solid"/>
                      <a:round/>
                      <a:headEnd type="none" w="med" len="med"/>
                      <a:tailEnd type="none" w="med" len="med"/>
                    </a:lnB>
                    <a:solidFill>
                      <a:srgbClr val="F7F6F3"/>
                    </a:solidFill>
                  </a:tcPr>
                </a:tc>
              </a:tr>
            </a:tbl>
          </a:graphicData>
        </a:graphic>
      </p:graphicFrame>
      <p:sp>
        <p:nvSpPr>
          <p:cNvPr id="12" name="Shape 8"/>
          <p:cNvSpPr/>
          <p:nvPr/>
        </p:nvSpPr>
        <p:spPr>
          <a:xfrm>
            <a:off x="6035040" y="4434840"/>
            <a:ext cx="1691640" cy="0"/>
          </a:xfrm>
          <a:prstGeom prst="line">
            <a:avLst/>
          </a:prstGeom>
          <a:noFill/>
          <a:ln w="19050">
            <a:solidFill>
              <a:srgbClr val="111111"/>
            </a:solidFill>
            <a:prstDash val="solid"/>
          </a:ln>
        </p:spPr>
      </p:sp>
      <p:sp>
        <p:nvSpPr>
          <p:cNvPr id="13" name="Text 9"/>
          <p:cNvSpPr txBox="1"/>
          <p:nvPr/>
        </p:nvSpPr>
        <p:spPr>
          <a:xfrm>
            <a:off x="6035040" y="4526280"/>
            <a:ext cx="1828800" cy="502920"/>
          </a:xfrm>
          <a:prstGeom prst="rect">
            <a:avLst/>
          </a:prstGeom>
          <a:noFill/>
          <a:ln/>
        </p:spPr>
        <p:txBody>
          <a:bodyPr wrap="square" lIns="0" tIns="0" rIns="0" bIns="0" rtlCol="0" anchor="ctr"/>
          <a:lstStyle/>
          <a:p>
            <a:pPr indent="0" marL="0">
              <a:buNone/>
            </a:pPr>
            <a:r>
              <a:rPr lang="en-US" sz="2200" dirty="0">
                <a:solidFill>
                  <a:srgbClr val="111111"/>
                </a:solidFill>
                <a:latin typeface="Arial Black" pitchFamily="34" charset="0"/>
                <a:ea typeface="Arial Black" pitchFamily="34" charset="-122"/>
                <a:cs typeface="Arial Black" pitchFamily="34" charset="-120"/>
              </a:rPr>
              <a:t>₹8–12</a:t>
            </a:r>
            <a:endParaRPr lang="en-US" sz="2200" dirty="0"/>
          </a:p>
        </p:txBody>
      </p:sp>
      <p:sp>
        <p:nvSpPr>
          <p:cNvPr id="14" name="Text 10"/>
          <p:cNvSpPr txBox="1"/>
          <p:nvPr/>
        </p:nvSpPr>
        <p:spPr>
          <a:xfrm>
            <a:off x="6035040" y="5029200"/>
            <a:ext cx="1783080" cy="365760"/>
          </a:xfrm>
          <a:prstGeom prst="rect">
            <a:avLst/>
          </a:prstGeom>
          <a:noFill/>
          <a:ln/>
        </p:spPr>
        <p:txBody>
          <a:bodyPr wrap="square" lIns="0" tIns="0" rIns="0" bIns="0" rtlCol="0" anchor="ctr"/>
          <a:lstStyle/>
          <a:p>
            <a:pPr indent="0" marL="0">
              <a:buNone/>
            </a:pPr>
            <a:r>
              <a:rPr lang="en-US" sz="850" spc="100" kern="0" dirty="0">
                <a:solidFill>
                  <a:srgbClr val="6B6862"/>
                </a:solidFill>
                <a:latin typeface="Courier New" pitchFamily="34" charset="0"/>
                <a:ea typeface="Courier New" pitchFamily="34" charset="-122"/>
                <a:cs typeface="Courier New" pitchFamily="34" charset="-120"/>
              </a:rPr>
              <a:t>per test to the user</a:t>
            </a:r>
            <a:endParaRPr lang="en-US" sz="850" dirty="0"/>
          </a:p>
        </p:txBody>
      </p:sp>
      <p:sp>
        <p:nvSpPr>
          <p:cNvPr id="15" name="Shape 11"/>
          <p:cNvSpPr/>
          <p:nvPr/>
        </p:nvSpPr>
        <p:spPr>
          <a:xfrm>
            <a:off x="7936992" y="4434840"/>
            <a:ext cx="1691640" cy="0"/>
          </a:xfrm>
          <a:prstGeom prst="line">
            <a:avLst/>
          </a:prstGeom>
          <a:noFill/>
          <a:ln w="19050">
            <a:solidFill>
              <a:srgbClr val="111111"/>
            </a:solidFill>
            <a:prstDash val="solid"/>
          </a:ln>
        </p:spPr>
      </p:sp>
      <p:sp>
        <p:nvSpPr>
          <p:cNvPr id="16" name="Text 12"/>
          <p:cNvSpPr txBox="1"/>
          <p:nvPr/>
        </p:nvSpPr>
        <p:spPr>
          <a:xfrm>
            <a:off x="7936992" y="4526280"/>
            <a:ext cx="1828800" cy="502920"/>
          </a:xfrm>
          <a:prstGeom prst="rect">
            <a:avLst/>
          </a:prstGeom>
          <a:noFill/>
          <a:ln/>
        </p:spPr>
        <p:txBody>
          <a:bodyPr wrap="square" lIns="0" tIns="0" rIns="0" bIns="0" rtlCol="0" anchor="ctr"/>
          <a:lstStyle/>
          <a:p>
            <a:pPr indent="0" marL="0">
              <a:buNone/>
            </a:pPr>
            <a:r>
              <a:rPr lang="en-US" sz="2200" dirty="0">
                <a:solidFill>
                  <a:srgbClr val="111111"/>
                </a:solidFill>
                <a:latin typeface="Arial Black" pitchFamily="34" charset="0"/>
                <a:ea typeface="Arial Black" pitchFamily="34" charset="-122"/>
                <a:cs typeface="Arial Black" pitchFamily="34" charset="-120"/>
              </a:rPr>
              <a:t>~₹1–5</a:t>
            </a:r>
            <a:endParaRPr lang="en-US" sz="2200" dirty="0"/>
          </a:p>
        </p:txBody>
      </p:sp>
      <p:sp>
        <p:nvSpPr>
          <p:cNvPr id="17" name="Text 13"/>
          <p:cNvSpPr txBox="1"/>
          <p:nvPr/>
        </p:nvSpPr>
        <p:spPr>
          <a:xfrm>
            <a:off x="7936992" y="5029200"/>
            <a:ext cx="1783080" cy="365760"/>
          </a:xfrm>
          <a:prstGeom prst="rect">
            <a:avLst/>
          </a:prstGeom>
          <a:noFill/>
          <a:ln/>
        </p:spPr>
        <p:txBody>
          <a:bodyPr wrap="square" lIns="0" tIns="0" rIns="0" bIns="0" rtlCol="0" anchor="ctr"/>
          <a:lstStyle/>
          <a:p>
            <a:pPr indent="0" marL="0">
              <a:buNone/>
            </a:pPr>
            <a:r>
              <a:rPr lang="en-US" sz="850" spc="100" kern="0" dirty="0">
                <a:solidFill>
                  <a:srgbClr val="6B6862"/>
                </a:solidFill>
                <a:latin typeface="Courier New" pitchFamily="34" charset="0"/>
                <a:ea typeface="Courier New" pitchFamily="34" charset="-122"/>
                <a:cs typeface="Courier New" pitchFamily="34" charset="-120"/>
              </a:rPr>
              <a:t>chemical cost per test</a:t>
            </a:r>
            <a:endParaRPr lang="en-US" sz="850" dirty="0"/>
          </a:p>
        </p:txBody>
      </p:sp>
      <p:sp>
        <p:nvSpPr>
          <p:cNvPr id="18" name="Shape 14"/>
          <p:cNvSpPr/>
          <p:nvPr/>
        </p:nvSpPr>
        <p:spPr>
          <a:xfrm>
            <a:off x="9838944" y="4434840"/>
            <a:ext cx="1691640" cy="0"/>
          </a:xfrm>
          <a:prstGeom prst="line">
            <a:avLst/>
          </a:prstGeom>
          <a:noFill/>
          <a:ln w="19050">
            <a:solidFill>
              <a:srgbClr val="111111"/>
            </a:solidFill>
            <a:prstDash val="solid"/>
          </a:ln>
        </p:spPr>
      </p:sp>
      <p:sp>
        <p:nvSpPr>
          <p:cNvPr id="19" name="Text 15"/>
          <p:cNvSpPr txBox="1"/>
          <p:nvPr/>
        </p:nvSpPr>
        <p:spPr>
          <a:xfrm>
            <a:off x="9838944" y="4526280"/>
            <a:ext cx="1828800" cy="502920"/>
          </a:xfrm>
          <a:prstGeom prst="rect">
            <a:avLst/>
          </a:prstGeom>
          <a:noFill/>
          <a:ln/>
        </p:spPr>
        <p:txBody>
          <a:bodyPr wrap="square" lIns="0" tIns="0" rIns="0" bIns="0" rtlCol="0" anchor="ctr"/>
          <a:lstStyle/>
          <a:p>
            <a:pPr indent="0" marL="0">
              <a:buNone/>
            </a:pPr>
            <a:r>
              <a:rPr lang="en-US" sz="2200" dirty="0">
                <a:solidFill>
                  <a:srgbClr val="111111"/>
                </a:solidFill>
                <a:latin typeface="Arial Black" pitchFamily="34" charset="0"/>
                <a:ea typeface="Arial Black" pitchFamily="34" charset="-122"/>
                <a:cs typeface="Arial Black" pitchFamily="34" charset="-120"/>
              </a:rPr>
              <a:t>0</a:t>
            </a:r>
            <a:endParaRPr lang="en-US" sz="2200" dirty="0"/>
          </a:p>
        </p:txBody>
      </p:sp>
      <p:sp>
        <p:nvSpPr>
          <p:cNvPr id="20" name="Text 16"/>
          <p:cNvSpPr txBox="1"/>
          <p:nvPr/>
        </p:nvSpPr>
        <p:spPr>
          <a:xfrm>
            <a:off x="9838944" y="5029200"/>
            <a:ext cx="1783080" cy="365760"/>
          </a:xfrm>
          <a:prstGeom prst="rect">
            <a:avLst/>
          </a:prstGeom>
          <a:noFill/>
          <a:ln/>
        </p:spPr>
        <p:txBody>
          <a:bodyPr wrap="square" lIns="0" tIns="0" rIns="0" bIns="0" rtlCol="0" anchor="ctr"/>
          <a:lstStyle/>
          <a:p>
            <a:pPr indent="0" marL="0">
              <a:buNone/>
            </a:pPr>
            <a:r>
              <a:rPr lang="en-US" sz="850" spc="100" kern="0" dirty="0">
                <a:solidFill>
                  <a:srgbClr val="6B6862"/>
                </a:solidFill>
                <a:latin typeface="Courier New" pitchFamily="34" charset="0"/>
                <a:ea typeface="Courier New" pitchFamily="34" charset="-122"/>
                <a:cs typeface="Courier New" pitchFamily="34" charset="-120"/>
              </a:rPr>
              <a:t>marginal software cost</a:t>
            </a:r>
            <a:endParaRPr lang="en-US" sz="850" dirty="0"/>
          </a:p>
        </p:txBody>
      </p:sp>
      <p:sp>
        <p:nvSpPr>
          <p:cNvPr id="21" name="Text 17"/>
          <p:cNvSpPr txBox="1"/>
          <p:nvPr/>
        </p:nvSpPr>
        <p:spPr>
          <a:xfrm>
            <a:off x="6035040" y="5486400"/>
            <a:ext cx="5577840" cy="640080"/>
          </a:xfrm>
          <a:prstGeom prst="rect">
            <a:avLst/>
          </a:prstGeom>
          <a:noFill/>
          <a:ln/>
        </p:spPr>
        <p:txBody>
          <a:bodyPr wrap="square" lIns="0" tIns="0" rIns="0" bIns="0" rtlCol="0" anchor="t"/>
          <a:lstStyle/>
          <a:p>
            <a:pPr indent="0" marL="0">
              <a:buNone/>
            </a:pPr>
            <a:r>
              <a:rPr lang="en-US" sz="1200" dirty="0">
                <a:solidFill>
                  <a:srgbClr val="6B6862"/>
                </a:solidFill>
                <a:latin typeface="Arial" pitchFamily="34" charset="0"/>
                <a:ea typeface="Arial" pitchFamily="34" charset="-122"/>
                <a:cs typeface="Arial" pitchFamily="34" charset="-120"/>
              </a:rPr>
              <a:t>Distribute the reader near cost to states, NGOs and farms. Earn on sealed dry-reagent pods and on the water-grid dashboard.</a:t>
            </a:r>
            <a:endParaRPr lang="en-US" sz="1200" dirty="0"/>
          </a:p>
        </p:txBody>
      </p:sp>
      <p:sp>
        <p:nvSpPr>
          <p:cNvPr id="22" name="Text 18"/>
          <p:cNvSpPr txBox="1"/>
          <p:nvPr/>
        </p:nvSpPr>
        <p:spPr>
          <a:xfrm>
            <a:off x="548640" y="6419088"/>
            <a:ext cx="9326880" cy="292608"/>
          </a:xfrm>
          <a:prstGeom prst="rect">
            <a:avLst/>
          </a:prstGeom>
          <a:noFill/>
          <a:ln/>
        </p:spPr>
        <p:txBody>
          <a:bodyPr wrap="square" lIns="0" tIns="0" rIns="0" bIns="0" rtlCol="0" anchor="b"/>
          <a:lstStyle/>
          <a:p>
            <a:pPr indent="0" marL="0">
              <a:buNone/>
            </a:pPr>
            <a:r>
              <a:rPr lang="en-US" sz="800" dirty="0">
                <a:solidFill>
                  <a:srgbClr val="6B6862"/>
                </a:solidFill>
                <a:latin typeface="Courier New" pitchFamily="34" charset="0"/>
                <a:ea typeface="Courier New" pitchFamily="34" charset="-122"/>
                <a:cs typeface="Courier New" pitchFamily="34" charset="-120"/>
              </a:rPr>
              <a:t>Unit economics are estimates from the LISA build plan, to be validated in pilots. Chart uses mid-points.</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000" b="1" spc="200" kern="0" dirty="0">
                <a:solidFill>
                  <a:srgbClr val="D8D4CC"/>
                </a:solidFill>
                <a:latin typeface="Courier New" pitchFamily="34" charset="0"/>
                <a:ea typeface="Courier New" pitchFamily="34" charset="-122"/>
                <a:cs typeface="Courier New" pitchFamily="34" charset="-120"/>
              </a:rPr>
              <a:t>20 — THE MOAT</a:t>
            </a:r>
            <a:endParaRPr lang="en-US" sz="1000" dirty="0"/>
          </a:p>
        </p:txBody>
      </p:sp>
      <p:sp>
        <p:nvSpPr>
          <p:cNvPr id="3" name="Text 1"/>
          <p:cNvSpPr txBox="1"/>
          <p:nvPr/>
        </p:nvSpPr>
        <p:spPr>
          <a:xfrm>
            <a:off x="6156655" y="292608"/>
            <a:ext cx="5486400" cy="274320"/>
          </a:xfrm>
          <a:prstGeom prst="rect">
            <a:avLst/>
          </a:prstGeom>
          <a:noFill/>
          <a:ln/>
        </p:spPr>
        <p:txBody>
          <a:bodyPr wrap="square" lIns="0" tIns="0" rIns="0" bIns="0" rtlCol="0" anchor="ctr"/>
          <a:lstStyle/>
          <a:p>
            <a:pPr algn="r" indent="0" marL="0">
              <a:buNone/>
            </a:pPr>
            <a:r>
              <a:rPr lang="en-US" sz="900" spc="200" kern="0" dirty="0">
                <a:solidFill>
                  <a:srgbClr val="A9A59E"/>
                </a:solidFill>
                <a:latin typeface="Courier New" pitchFamily="34" charset="0"/>
                <a:ea typeface="Courier New" pitchFamily="34" charset="-122"/>
                <a:cs typeface="Courier New" pitchFamily="34" charset="-120"/>
              </a:rPr>
              <a:t>LISA  /  ASHOKA STARTUP CHALLENGE 2026</a:t>
            </a:r>
            <a:endParaRPr lang="en-US" sz="900" dirty="0"/>
          </a:p>
        </p:txBody>
      </p:sp>
      <p:sp>
        <p:nvSpPr>
          <p:cNvPr id="4"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900" dirty="0">
                <a:solidFill>
                  <a:srgbClr val="A9A59E"/>
                </a:solidFill>
                <a:latin typeface="Courier New" pitchFamily="34" charset="0"/>
                <a:ea typeface="Courier New" pitchFamily="34" charset="-122"/>
                <a:cs typeface="Courier New" pitchFamily="34" charset="-120"/>
              </a:rPr>
              <a:t>20 / 24</a:t>
            </a:r>
            <a:endParaRPr lang="en-US" sz="900" dirty="0"/>
          </a:p>
        </p:txBody>
      </p:sp>
      <p:sp>
        <p:nvSpPr>
          <p:cNvPr id="5" name="Shape 3"/>
          <p:cNvSpPr/>
          <p:nvPr/>
        </p:nvSpPr>
        <p:spPr>
          <a:xfrm>
            <a:off x="210312" y="6583680"/>
            <a:ext cx="164592" cy="0"/>
          </a:xfrm>
          <a:prstGeom prst="line">
            <a:avLst/>
          </a:prstGeom>
          <a:noFill/>
          <a:ln w="9525">
            <a:solidFill>
              <a:srgbClr val="D8D4CC"/>
            </a:solidFill>
            <a:prstDash val="solid"/>
          </a:ln>
        </p:spPr>
      </p:sp>
      <p:sp>
        <p:nvSpPr>
          <p:cNvPr id="6" name="Shape 4"/>
          <p:cNvSpPr/>
          <p:nvPr/>
        </p:nvSpPr>
        <p:spPr>
          <a:xfrm>
            <a:off x="292608" y="6501384"/>
            <a:ext cx="0" cy="164592"/>
          </a:xfrm>
          <a:prstGeom prst="line">
            <a:avLst/>
          </a:prstGeom>
          <a:noFill/>
          <a:ln w="9525">
            <a:solidFill>
              <a:srgbClr val="D8D4CC"/>
            </a:solidFill>
            <a:prstDash val="solid"/>
          </a:ln>
        </p:spPr>
      </p:sp>
      <p:pic>
        <p:nvPicPr>
          <p:cNvPr id="7" name="Image 0" descr="assets/art_crop_fan.jpg">    </p:cNvPr>
          <p:cNvPicPr>
            <a:picLocks noChangeAspect="1"/>
          </p:cNvPicPr>
          <p:nvPr/>
        </p:nvPicPr>
        <p:blipFill>
          <a:blip r:embed="rId2"/>
          <a:srcRect l="0" r="0" t="0" b="0"/>
          <a:stretch/>
        </p:blipFill>
        <p:spPr>
          <a:xfrm>
            <a:off x="7635240" y="0"/>
            <a:ext cx="4556455" cy="6858000"/>
          </a:xfrm>
          <a:prstGeom prst="rect">
            <a:avLst/>
          </a:prstGeom>
        </p:spPr>
      </p:pic>
      <p:sp>
        <p:nvSpPr>
          <p:cNvPr id="8" name="Text 5"/>
          <p:cNvSpPr txBox="1"/>
          <p:nvPr/>
        </p:nvSpPr>
        <p:spPr>
          <a:xfrm>
            <a:off x="548640" y="731520"/>
            <a:ext cx="6858000" cy="1920240"/>
          </a:xfrm>
          <a:prstGeom prst="rect">
            <a:avLst/>
          </a:prstGeom>
          <a:noFill/>
          <a:ln/>
        </p:spPr>
        <p:txBody>
          <a:bodyPr wrap="square" lIns="0" tIns="0" rIns="0" bIns="0" rtlCol="0" anchor="t"/>
          <a:lstStyle/>
          <a:p>
            <a:pPr indent="0" marL="0">
              <a:buNone/>
            </a:pPr>
            <a:r>
              <a:rPr lang="en-US" sz="3200" dirty="0">
                <a:solidFill>
                  <a:srgbClr val="EDEBE6"/>
                </a:solidFill>
                <a:latin typeface="Arial Black" pitchFamily="34" charset="0"/>
                <a:ea typeface="Arial Black" pitchFamily="34" charset="-122"/>
                <a:cs typeface="Arial Black" pitchFamily="34" charset="-120"/>
              </a:rPr>
              <a:t>Every test becomes
</a:t>
            </a:r>
            <a:pPr indent="0" marL="0">
              <a:buNone/>
            </a:pPr>
            <a:r>
              <a:rPr lang="en-US" sz="3200" dirty="0">
                <a:solidFill>
                  <a:srgbClr val="8FA1FF"/>
                </a:solidFill>
                <a:latin typeface="Arial Black" pitchFamily="34" charset="0"/>
                <a:ea typeface="Arial Black" pitchFamily="34" charset="-122"/>
                <a:cs typeface="Arial Black" pitchFamily="34" charset="-120"/>
              </a:rPr>
              <a:t>a pixel on India’s</a:t>
            </a:r>
            <a:endParaRPr lang="en-US" sz="3200" dirty="0"/>
          </a:p>
          <a:p>
            <a:pPr indent="0" marL="0">
              <a:buNone/>
            </a:pPr>
            <a:r>
              <a:rPr lang="en-US" sz="3200" dirty="0">
                <a:solidFill>
                  <a:srgbClr val="8FA1FF"/>
                </a:solidFill>
                <a:latin typeface="Arial Black" pitchFamily="34" charset="0"/>
                <a:ea typeface="Arial Black" pitchFamily="34" charset="-122"/>
                <a:cs typeface="Arial Black" pitchFamily="34" charset="-120"/>
              </a:rPr>
              <a:t>water map.</a:t>
            </a:r>
            <a:endParaRPr lang="en-US" sz="3200" dirty="0"/>
          </a:p>
        </p:txBody>
      </p:sp>
      <p:sp>
        <p:nvSpPr>
          <p:cNvPr id="9" name="Shape 6"/>
          <p:cNvSpPr/>
          <p:nvPr/>
        </p:nvSpPr>
        <p:spPr>
          <a:xfrm>
            <a:off x="548640" y="2834640"/>
            <a:ext cx="3200400" cy="0"/>
          </a:xfrm>
          <a:prstGeom prst="line">
            <a:avLst/>
          </a:prstGeom>
          <a:noFill/>
          <a:ln w="9525">
            <a:solidFill>
              <a:srgbClr val="55524D"/>
            </a:solidFill>
            <a:prstDash val="solid"/>
          </a:ln>
        </p:spPr>
      </p:sp>
      <p:sp>
        <p:nvSpPr>
          <p:cNvPr id="10" name="Text 7"/>
          <p:cNvSpPr txBox="1"/>
          <p:nvPr/>
        </p:nvSpPr>
        <p:spPr>
          <a:xfrm>
            <a:off x="548640" y="2944368"/>
            <a:ext cx="3200400" cy="320040"/>
          </a:xfrm>
          <a:prstGeom prst="rect">
            <a:avLst/>
          </a:prstGeom>
          <a:noFill/>
          <a:ln/>
        </p:spPr>
        <p:txBody>
          <a:bodyPr wrap="square" lIns="0" tIns="0" rIns="0" bIns="0" rtlCol="0" anchor="ctr"/>
          <a:lstStyle/>
          <a:p>
            <a:pPr indent="0" marL="0">
              <a:buNone/>
            </a:pPr>
            <a:r>
              <a:rPr lang="en-US" sz="1400" b="1" dirty="0">
                <a:solidFill>
                  <a:srgbClr val="EDEBE6"/>
                </a:solidFill>
                <a:latin typeface="Arial" pitchFamily="34" charset="0"/>
                <a:ea typeface="Arial" pitchFamily="34" charset="-122"/>
                <a:cs typeface="Arial" pitchFamily="34" charset="-120"/>
              </a:rPr>
              <a:t>GPS + timestamp</a:t>
            </a:r>
            <a:endParaRPr lang="en-US" sz="1400" dirty="0"/>
          </a:p>
        </p:txBody>
      </p:sp>
      <p:sp>
        <p:nvSpPr>
          <p:cNvPr id="11" name="Text 8"/>
          <p:cNvSpPr txBox="1"/>
          <p:nvPr/>
        </p:nvSpPr>
        <p:spPr>
          <a:xfrm>
            <a:off x="548640" y="3291840"/>
            <a:ext cx="3200400" cy="274320"/>
          </a:xfrm>
          <a:prstGeom prst="rect">
            <a:avLst/>
          </a:prstGeom>
          <a:noFill/>
          <a:ln/>
        </p:spPr>
        <p:txBody>
          <a:bodyPr wrap="square" lIns="0" tIns="0" rIns="0" bIns="0" rtlCol="0" anchor="ctr"/>
          <a:lstStyle/>
          <a:p>
            <a:pPr indent="0" marL="0">
              <a:buNone/>
            </a:pPr>
            <a:r>
              <a:rPr lang="en-US" sz="900" spc="100" kern="0" dirty="0">
                <a:solidFill>
                  <a:srgbClr val="A9A59E"/>
                </a:solidFill>
                <a:latin typeface="Courier New" pitchFamily="34" charset="0"/>
                <a:ea typeface="Courier New" pitchFamily="34" charset="-122"/>
                <a:cs typeface="Courier New" pitchFamily="34" charset="-120"/>
              </a:rPr>
              <a:t>where and when</a:t>
            </a:r>
            <a:endParaRPr lang="en-US" sz="900" dirty="0"/>
          </a:p>
        </p:txBody>
      </p:sp>
      <p:sp>
        <p:nvSpPr>
          <p:cNvPr id="12" name="Shape 9"/>
          <p:cNvSpPr/>
          <p:nvPr/>
        </p:nvSpPr>
        <p:spPr>
          <a:xfrm>
            <a:off x="4023360" y="2834640"/>
            <a:ext cx="3200400" cy="0"/>
          </a:xfrm>
          <a:prstGeom prst="line">
            <a:avLst/>
          </a:prstGeom>
          <a:noFill/>
          <a:ln w="9525">
            <a:solidFill>
              <a:srgbClr val="55524D"/>
            </a:solidFill>
            <a:prstDash val="solid"/>
          </a:ln>
        </p:spPr>
      </p:sp>
      <p:sp>
        <p:nvSpPr>
          <p:cNvPr id="13" name="Text 10"/>
          <p:cNvSpPr txBox="1"/>
          <p:nvPr/>
        </p:nvSpPr>
        <p:spPr>
          <a:xfrm>
            <a:off x="4023360" y="2944368"/>
            <a:ext cx="3200400" cy="320040"/>
          </a:xfrm>
          <a:prstGeom prst="rect">
            <a:avLst/>
          </a:prstGeom>
          <a:noFill/>
          <a:ln/>
        </p:spPr>
        <p:txBody>
          <a:bodyPr wrap="square" lIns="0" tIns="0" rIns="0" bIns="0" rtlCol="0" anchor="ctr"/>
          <a:lstStyle/>
          <a:p>
            <a:pPr indent="0" marL="0">
              <a:buNone/>
            </a:pPr>
            <a:r>
              <a:rPr lang="en-US" sz="1400" b="1" dirty="0">
                <a:solidFill>
                  <a:srgbClr val="EDEBE6"/>
                </a:solidFill>
                <a:latin typeface="Arial" pitchFamily="34" charset="0"/>
                <a:ea typeface="Arial" pitchFamily="34" charset="-122"/>
                <a:cs typeface="Arial" pitchFamily="34" charset="-120"/>
              </a:rPr>
              <a:t>Concentration ± δ</a:t>
            </a:r>
            <a:endParaRPr lang="en-US" sz="1400" dirty="0"/>
          </a:p>
        </p:txBody>
      </p:sp>
      <p:sp>
        <p:nvSpPr>
          <p:cNvPr id="14" name="Text 11"/>
          <p:cNvSpPr txBox="1"/>
          <p:nvPr/>
        </p:nvSpPr>
        <p:spPr>
          <a:xfrm>
            <a:off x="4023360" y="3291840"/>
            <a:ext cx="3200400" cy="274320"/>
          </a:xfrm>
          <a:prstGeom prst="rect">
            <a:avLst/>
          </a:prstGeom>
          <a:noFill/>
          <a:ln/>
        </p:spPr>
        <p:txBody>
          <a:bodyPr wrap="square" lIns="0" tIns="0" rIns="0" bIns="0" rtlCol="0" anchor="ctr"/>
          <a:lstStyle/>
          <a:p>
            <a:pPr indent="0" marL="0">
              <a:buNone/>
            </a:pPr>
            <a:r>
              <a:rPr lang="en-US" sz="900" spc="100" kern="0" dirty="0">
                <a:solidFill>
                  <a:srgbClr val="A9A59E"/>
                </a:solidFill>
                <a:latin typeface="Courier New" pitchFamily="34" charset="0"/>
                <a:ea typeface="Courier New" pitchFamily="34" charset="-122"/>
                <a:cs typeface="Courier New" pitchFamily="34" charset="-120"/>
              </a:rPr>
              <a:t>with 95% interval</a:t>
            </a:r>
            <a:endParaRPr lang="en-US" sz="900" dirty="0"/>
          </a:p>
        </p:txBody>
      </p:sp>
      <p:sp>
        <p:nvSpPr>
          <p:cNvPr id="15" name="Shape 12"/>
          <p:cNvSpPr/>
          <p:nvPr/>
        </p:nvSpPr>
        <p:spPr>
          <a:xfrm>
            <a:off x="548640" y="3749040"/>
            <a:ext cx="3200400" cy="0"/>
          </a:xfrm>
          <a:prstGeom prst="line">
            <a:avLst/>
          </a:prstGeom>
          <a:noFill/>
          <a:ln w="9525">
            <a:solidFill>
              <a:srgbClr val="55524D"/>
            </a:solidFill>
            <a:prstDash val="solid"/>
          </a:ln>
        </p:spPr>
      </p:sp>
      <p:sp>
        <p:nvSpPr>
          <p:cNvPr id="16" name="Text 13"/>
          <p:cNvSpPr txBox="1"/>
          <p:nvPr/>
        </p:nvSpPr>
        <p:spPr>
          <a:xfrm>
            <a:off x="548640" y="3858768"/>
            <a:ext cx="3200400" cy="320040"/>
          </a:xfrm>
          <a:prstGeom prst="rect">
            <a:avLst/>
          </a:prstGeom>
          <a:noFill/>
          <a:ln/>
        </p:spPr>
        <p:txBody>
          <a:bodyPr wrap="square" lIns="0" tIns="0" rIns="0" bIns="0" rtlCol="0" anchor="ctr"/>
          <a:lstStyle/>
          <a:p>
            <a:pPr indent="0" marL="0">
              <a:buNone/>
            </a:pPr>
            <a:r>
              <a:rPr lang="en-US" sz="1400" b="1" dirty="0">
                <a:solidFill>
                  <a:srgbClr val="EDEBE6"/>
                </a:solidFill>
                <a:latin typeface="Arial" pitchFamily="34" charset="0"/>
                <a:ea typeface="Arial" pitchFamily="34" charset="-122"/>
                <a:cs typeface="Arial" pitchFamily="34" charset="-120"/>
              </a:rPr>
              <a:t>151-band spectrum</a:t>
            </a:r>
            <a:endParaRPr lang="en-US" sz="1400" dirty="0"/>
          </a:p>
        </p:txBody>
      </p:sp>
      <p:sp>
        <p:nvSpPr>
          <p:cNvPr id="17" name="Text 14"/>
          <p:cNvSpPr txBox="1"/>
          <p:nvPr/>
        </p:nvSpPr>
        <p:spPr>
          <a:xfrm>
            <a:off x="548640" y="4206240"/>
            <a:ext cx="3200400" cy="274320"/>
          </a:xfrm>
          <a:prstGeom prst="rect">
            <a:avLst/>
          </a:prstGeom>
          <a:noFill/>
          <a:ln/>
        </p:spPr>
        <p:txBody>
          <a:bodyPr wrap="square" lIns="0" tIns="0" rIns="0" bIns="0" rtlCol="0" anchor="ctr"/>
          <a:lstStyle/>
          <a:p>
            <a:pPr indent="0" marL="0">
              <a:buNone/>
            </a:pPr>
            <a:r>
              <a:rPr lang="en-US" sz="900" spc="100" kern="0" dirty="0">
                <a:solidFill>
                  <a:srgbClr val="A9A59E"/>
                </a:solidFill>
                <a:latin typeface="Courier New" pitchFamily="34" charset="0"/>
                <a:ea typeface="Courier New" pitchFamily="34" charset="-122"/>
                <a:cs typeface="Courier New" pitchFamily="34" charset="-120"/>
              </a:rPr>
              <a:t>raw optical evidence</a:t>
            </a:r>
            <a:endParaRPr lang="en-US" sz="900" dirty="0"/>
          </a:p>
        </p:txBody>
      </p:sp>
      <p:sp>
        <p:nvSpPr>
          <p:cNvPr id="18" name="Shape 15"/>
          <p:cNvSpPr/>
          <p:nvPr/>
        </p:nvSpPr>
        <p:spPr>
          <a:xfrm>
            <a:off x="4023360" y="3749040"/>
            <a:ext cx="3200400" cy="0"/>
          </a:xfrm>
          <a:prstGeom prst="line">
            <a:avLst/>
          </a:prstGeom>
          <a:noFill/>
          <a:ln w="9525">
            <a:solidFill>
              <a:srgbClr val="55524D"/>
            </a:solidFill>
            <a:prstDash val="solid"/>
          </a:ln>
        </p:spPr>
      </p:sp>
      <p:sp>
        <p:nvSpPr>
          <p:cNvPr id="19" name="Text 16"/>
          <p:cNvSpPr txBox="1"/>
          <p:nvPr/>
        </p:nvSpPr>
        <p:spPr>
          <a:xfrm>
            <a:off x="4023360" y="3858768"/>
            <a:ext cx="3200400" cy="320040"/>
          </a:xfrm>
          <a:prstGeom prst="rect">
            <a:avLst/>
          </a:prstGeom>
          <a:noFill/>
          <a:ln/>
        </p:spPr>
        <p:txBody>
          <a:bodyPr wrap="square" lIns="0" tIns="0" rIns="0" bIns="0" rtlCol="0" anchor="ctr"/>
          <a:lstStyle/>
          <a:p>
            <a:pPr indent="0" marL="0">
              <a:buNone/>
            </a:pPr>
            <a:r>
              <a:rPr lang="en-US" sz="1400" b="1" dirty="0">
                <a:solidFill>
                  <a:srgbClr val="EDEBE6"/>
                </a:solidFill>
                <a:latin typeface="Arial" pitchFamily="34" charset="0"/>
                <a:ea typeface="Arial" pitchFamily="34" charset="-122"/>
                <a:cs typeface="Arial" pitchFamily="34" charset="-120"/>
              </a:rPr>
              <a:t>Device fingerprint</a:t>
            </a:r>
            <a:endParaRPr lang="en-US" sz="1400" dirty="0"/>
          </a:p>
        </p:txBody>
      </p:sp>
      <p:sp>
        <p:nvSpPr>
          <p:cNvPr id="20" name="Text 17"/>
          <p:cNvSpPr txBox="1"/>
          <p:nvPr/>
        </p:nvSpPr>
        <p:spPr>
          <a:xfrm>
            <a:off x="4023360" y="4206240"/>
            <a:ext cx="3200400" cy="274320"/>
          </a:xfrm>
          <a:prstGeom prst="rect">
            <a:avLst/>
          </a:prstGeom>
          <a:noFill/>
          <a:ln/>
        </p:spPr>
        <p:txBody>
          <a:bodyPr wrap="square" lIns="0" tIns="0" rIns="0" bIns="0" rtlCol="0" anchor="ctr"/>
          <a:lstStyle/>
          <a:p>
            <a:pPr indent="0" marL="0">
              <a:buNone/>
            </a:pPr>
            <a:r>
              <a:rPr lang="en-US" sz="900" spc="100" kern="0" dirty="0">
                <a:solidFill>
                  <a:srgbClr val="A9A59E"/>
                </a:solidFill>
                <a:latin typeface="Courier New" pitchFamily="34" charset="0"/>
                <a:ea typeface="Courier New" pitchFamily="34" charset="-122"/>
                <a:cs typeface="Courier New" pitchFamily="34" charset="-120"/>
              </a:rPr>
              <a:t>LISA-XXXX-XXXX</a:t>
            </a:r>
            <a:endParaRPr lang="en-US" sz="900" dirty="0"/>
          </a:p>
        </p:txBody>
      </p:sp>
      <p:sp>
        <p:nvSpPr>
          <p:cNvPr id="21" name="Text 18"/>
          <p:cNvSpPr txBox="1"/>
          <p:nvPr/>
        </p:nvSpPr>
        <p:spPr>
          <a:xfrm>
            <a:off x="548640" y="4800600"/>
            <a:ext cx="4572000" cy="274320"/>
          </a:xfrm>
          <a:prstGeom prst="rect">
            <a:avLst/>
          </a:prstGeom>
          <a:noFill/>
          <a:ln/>
        </p:spPr>
        <p:txBody>
          <a:bodyPr wrap="square" lIns="0" tIns="0" rIns="0" bIns="0" rtlCol="0" anchor="ctr"/>
          <a:lstStyle/>
          <a:p>
            <a:pPr indent="0" marL="0">
              <a:buNone/>
            </a:pPr>
            <a:r>
              <a:rPr lang="en-US" sz="1000" b="1" spc="100" kern="0" dirty="0">
                <a:solidFill>
                  <a:srgbClr val="8FA1FF"/>
                </a:solidFill>
                <a:latin typeface="Courier New" pitchFamily="34" charset="0"/>
                <a:ea typeface="Courier New" pitchFamily="34" charset="-122"/>
                <a:cs typeface="Courier New" pitchFamily="34" charset="-120"/>
              </a:rPr>
              <a:t>WHAT A COPYCAT CAN’T CLONE</a:t>
            </a:r>
            <a:endParaRPr lang="en-US" sz="1000" dirty="0"/>
          </a:p>
        </p:txBody>
      </p:sp>
      <p:sp>
        <p:nvSpPr>
          <p:cNvPr id="22" name="Text 19"/>
          <p:cNvSpPr txBox="1"/>
          <p:nvPr/>
        </p:nvSpPr>
        <p:spPr>
          <a:xfrm>
            <a:off x="548640" y="5120640"/>
            <a:ext cx="6858000" cy="12344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EDEBE6"/>
                </a:solidFill>
                <a:latin typeface="Arial" pitchFamily="34" charset="0"/>
                <a:ea typeface="Arial" pitchFamily="34" charset="-122"/>
                <a:cs typeface="Arial" pitchFamily="34" charset="-120"/>
              </a:rPr>
              <a:t>Cross-phone calibration data across hundreds of camera models</a:t>
            </a:r>
            <a:endParaRPr lang="en-US" sz="1250" dirty="0"/>
          </a:p>
          <a:p>
            <a:pPr marL="342900" indent="-342900">
              <a:spcAft>
                <a:spcPts val="400"/>
              </a:spcAft>
              <a:buSzPct val="100000"/>
              <a:buChar char="■"/>
            </a:pPr>
            <a:r>
              <a:rPr lang="en-US" sz="1250" dirty="0">
                <a:solidFill>
                  <a:srgbClr val="EDEBE6"/>
                </a:solidFill>
                <a:latin typeface="Arial" pitchFamily="34" charset="0"/>
                <a:ea typeface="Arial" pitchFamily="34" charset="-122"/>
                <a:cs typeface="Arial" pitchFamily="34" charset="-120"/>
              </a:rPr>
              <a:t>Sealed dry-reagent pod formulations</a:t>
            </a:r>
            <a:endParaRPr lang="en-US" sz="1250" dirty="0"/>
          </a:p>
          <a:p>
            <a:pPr marL="342900" indent="-342900">
              <a:spcAft>
                <a:spcPts val="400"/>
              </a:spcAft>
              <a:buSzPct val="100000"/>
              <a:buChar char="■"/>
            </a:pPr>
            <a:r>
              <a:rPr lang="en-US" sz="1250" dirty="0">
                <a:solidFill>
                  <a:srgbClr val="EDEBE6"/>
                </a:solidFill>
                <a:latin typeface="Arial" pitchFamily="34" charset="0"/>
                <a:ea typeface="Arial" pitchFamily="34" charset="-122"/>
                <a:cs typeface="Arial" pitchFamily="34" charset="-120"/>
              </a:rPr>
              <a:t>The largest in-field spectral dataset in the Global South</a:t>
            </a:r>
            <a:endParaRPr lang="en-US" sz="1250" dirty="0"/>
          </a:p>
          <a:p>
            <a:pPr marL="342900" indent="-342900">
              <a:spcAft>
                <a:spcPts val="400"/>
              </a:spcAft>
              <a:buSzPct val="100000"/>
              <a:buChar char="■"/>
            </a:pPr>
            <a:r>
              <a:rPr lang="en-US" sz="1250" dirty="0">
                <a:solidFill>
                  <a:srgbClr val="EDEBE6"/>
                </a:solidFill>
                <a:latin typeface="Arial" pitchFamily="34" charset="0"/>
                <a:ea typeface="Arial" pitchFamily="34" charset="-122"/>
                <a:cs typeface="Arial" pitchFamily="34" charset="-120"/>
              </a:rPr>
              <a:t>Integration into state water surveillance (JJM / IMIS)</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000" b="1" spc="200" kern="0" dirty="0">
                <a:solidFill>
                  <a:srgbClr val="111111"/>
                </a:solidFill>
                <a:latin typeface="Courier New" pitchFamily="34" charset="0"/>
                <a:ea typeface="Courier New" pitchFamily="34" charset="-122"/>
                <a:cs typeface="Courier New" pitchFamily="34" charset="-120"/>
              </a:rPr>
              <a:t>21 — ROADMAP</a:t>
            </a:r>
            <a:endParaRPr lang="en-US" sz="1000" dirty="0"/>
          </a:p>
        </p:txBody>
      </p:sp>
      <p:sp>
        <p:nvSpPr>
          <p:cNvPr id="3" name="Text 1"/>
          <p:cNvSpPr txBox="1"/>
          <p:nvPr/>
        </p:nvSpPr>
        <p:spPr>
          <a:xfrm>
            <a:off x="6156655" y="292608"/>
            <a:ext cx="5486400" cy="274320"/>
          </a:xfrm>
          <a:prstGeom prst="rect">
            <a:avLst/>
          </a:prstGeom>
          <a:noFill/>
          <a:ln/>
        </p:spPr>
        <p:txBody>
          <a:bodyPr wrap="square" lIns="0" tIns="0" rIns="0" bIns="0" rtlCol="0" anchor="ctr"/>
          <a:lstStyle/>
          <a:p>
            <a:pPr algn="r" indent="0" marL="0">
              <a:buNone/>
            </a:pPr>
            <a:r>
              <a:rPr lang="en-US" sz="900" spc="200" kern="0" dirty="0">
                <a:solidFill>
                  <a:srgbClr val="6B6862"/>
                </a:solidFill>
                <a:latin typeface="Courier New" pitchFamily="34" charset="0"/>
                <a:ea typeface="Courier New" pitchFamily="34" charset="-122"/>
                <a:cs typeface="Courier New" pitchFamily="34" charset="-120"/>
              </a:rPr>
              <a:t>LISA  /  ASHOKA STARTUP CHALLENGE 2026</a:t>
            </a:r>
            <a:endParaRPr lang="en-US" sz="900" dirty="0"/>
          </a:p>
        </p:txBody>
      </p:sp>
      <p:sp>
        <p:nvSpPr>
          <p:cNvPr id="4"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900" dirty="0">
                <a:solidFill>
                  <a:srgbClr val="6B6862"/>
                </a:solidFill>
                <a:latin typeface="Courier New" pitchFamily="34" charset="0"/>
                <a:ea typeface="Courier New" pitchFamily="34" charset="-122"/>
                <a:cs typeface="Courier New" pitchFamily="34" charset="-120"/>
              </a:rPr>
              <a:t>21 / 24</a:t>
            </a:r>
            <a:endParaRPr lang="en-US" sz="900" dirty="0"/>
          </a:p>
        </p:txBody>
      </p:sp>
      <p:sp>
        <p:nvSpPr>
          <p:cNvPr id="5" name="Shape 3"/>
          <p:cNvSpPr/>
          <p:nvPr/>
        </p:nvSpPr>
        <p:spPr>
          <a:xfrm>
            <a:off x="210312" y="6583680"/>
            <a:ext cx="164592" cy="0"/>
          </a:xfrm>
          <a:prstGeom prst="line">
            <a:avLst/>
          </a:prstGeom>
          <a:noFill/>
          <a:ln w="9525">
            <a:solidFill>
              <a:srgbClr val="111111"/>
            </a:solidFill>
            <a:prstDash val="solid"/>
          </a:ln>
        </p:spPr>
      </p:sp>
      <p:sp>
        <p:nvSpPr>
          <p:cNvPr id="6" name="Shape 4"/>
          <p:cNvSpPr/>
          <p:nvPr/>
        </p:nvSpPr>
        <p:spPr>
          <a:xfrm>
            <a:off x="292608" y="6501384"/>
            <a:ext cx="0" cy="164592"/>
          </a:xfrm>
          <a:prstGeom prst="line">
            <a:avLst/>
          </a:prstGeom>
          <a:noFill/>
          <a:ln w="9525">
            <a:solidFill>
              <a:srgbClr val="111111"/>
            </a:solidFill>
            <a:prstDash val="solid"/>
          </a:ln>
        </p:spPr>
      </p:sp>
      <p:sp>
        <p:nvSpPr>
          <p:cNvPr id="7" name="Text 5"/>
          <p:cNvSpPr txBox="1"/>
          <p:nvPr/>
        </p:nvSpPr>
        <p:spPr>
          <a:xfrm>
            <a:off x="548640" y="685800"/>
            <a:ext cx="10515600" cy="1280160"/>
          </a:xfrm>
          <a:prstGeom prst="rect">
            <a:avLst/>
          </a:prstGeom>
          <a:noFill/>
          <a:ln/>
        </p:spPr>
        <p:txBody>
          <a:bodyPr wrap="square" lIns="0" tIns="0" rIns="0" bIns="0" rtlCol="0" anchor="t"/>
          <a:lstStyle/>
          <a:p>
            <a:pPr indent="0" marL="0">
              <a:lnSpc>
                <a:spcPct val="92000"/>
              </a:lnSpc>
              <a:buNone/>
            </a:pPr>
            <a:r>
              <a:rPr lang="en-US" sz="3400" dirty="0">
                <a:solidFill>
                  <a:srgbClr val="111111"/>
                </a:solidFill>
                <a:latin typeface="Arial Black" pitchFamily="34" charset="0"/>
                <a:ea typeface="Arial Black" pitchFamily="34" charset="-122"/>
                <a:cs typeface="Arial Black" pitchFamily="34" charset="-120"/>
              </a:rPr>
              <a:t>From hackathon bench</a:t>
            </a:r>
            <a:pPr indent="0" marL="0">
              <a:lnSpc>
                <a:spcPct val="92000"/>
              </a:lnSpc>
              <a:buNone/>
            </a:pPr>
            <a:endParaRPr lang="en-US" sz="3400" dirty="0"/>
          </a:p>
          <a:p>
            <a:pPr indent="0" marL="0">
              <a:lnSpc>
                <a:spcPct val="92000"/>
              </a:lnSpc>
              <a:buNone/>
            </a:pPr>
            <a:r>
              <a:rPr lang="en-US" sz="3400" dirty="0">
                <a:solidFill>
                  <a:srgbClr val="1F3AE0"/>
                </a:solidFill>
                <a:latin typeface="Arial Black" pitchFamily="34" charset="0"/>
                <a:ea typeface="Arial Black" pitchFamily="34" charset="-122"/>
                <a:cs typeface="Arial Black" pitchFamily="34" charset="-120"/>
              </a:rPr>
              <a:t>to 25 panchayats.</a:t>
            </a:r>
            <a:endParaRPr lang="en-US" sz="3400" dirty="0"/>
          </a:p>
        </p:txBody>
      </p:sp>
      <p:sp>
        <p:nvSpPr>
          <p:cNvPr id="8" name="Shape 6"/>
          <p:cNvSpPr/>
          <p:nvPr/>
        </p:nvSpPr>
        <p:spPr>
          <a:xfrm>
            <a:off x="548640" y="2651760"/>
            <a:ext cx="11091672" cy="0"/>
          </a:xfrm>
          <a:prstGeom prst="line">
            <a:avLst/>
          </a:prstGeom>
          <a:noFill/>
          <a:ln w="19050">
            <a:solidFill>
              <a:srgbClr val="111111"/>
            </a:solidFill>
            <a:prstDash val="solid"/>
          </a:ln>
        </p:spPr>
      </p:sp>
      <p:sp>
        <p:nvSpPr>
          <p:cNvPr id="9" name="Shape 7"/>
          <p:cNvSpPr/>
          <p:nvPr/>
        </p:nvSpPr>
        <p:spPr>
          <a:xfrm>
            <a:off x="548640" y="2331720"/>
            <a:ext cx="640080" cy="640080"/>
          </a:xfrm>
          <a:prstGeom prst="rect">
            <a:avLst/>
          </a:prstGeom>
          <a:solidFill>
            <a:srgbClr val="1F3AE0"/>
          </a:solidFill>
          <a:ln/>
        </p:spPr>
      </p:sp>
      <p:sp>
        <p:nvSpPr>
          <p:cNvPr id="10" name="Text 8"/>
          <p:cNvSpPr txBox="1"/>
          <p:nvPr/>
        </p:nvSpPr>
        <p:spPr>
          <a:xfrm>
            <a:off x="548640" y="233172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M1</a:t>
            </a:r>
            <a:endParaRPr lang="en-US" sz="1200" dirty="0"/>
          </a:p>
        </p:txBody>
      </p:sp>
      <p:sp>
        <p:nvSpPr>
          <p:cNvPr id="11" name="Text 9"/>
          <p:cNvSpPr txBox="1"/>
          <p:nvPr/>
        </p:nvSpPr>
        <p:spPr>
          <a:xfrm>
            <a:off x="548640" y="3154680"/>
            <a:ext cx="2057400" cy="365760"/>
          </a:xfrm>
          <a:prstGeom prst="rect">
            <a:avLst/>
          </a:prstGeom>
          <a:noFill/>
          <a:ln/>
        </p:spPr>
        <p:txBody>
          <a:bodyPr wrap="square" lIns="0" tIns="0" rIns="0" bIns="0" rtlCol="0" anchor="ctr"/>
          <a:lstStyle/>
          <a:p>
            <a:pPr indent="0" marL="0">
              <a:buNone/>
            </a:pPr>
            <a:r>
              <a:rPr lang="en-US" sz="1300" dirty="0">
                <a:solidFill>
                  <a:srgbClr val="111111"/>
                </a:solidFill>
                <a:latin typeface="Arial Black" pitchFamily="34" charset="0"/>
                <a:ea typeface="Arial Black" pitchFamily="34" charset="-122"/>
                <a:cs typeface="Arial Black" pitchFamily="34" charset="-120"/>
              </a:rPr>
              <a:t>NABL split-samples</a:t>
            </a:r>
            <a:endParaRPr lang="en-US" sz="1300" dirty="0"/>
          </a:p>
        </p:txBody>
      </p:sp>
      <p:sp>
        <p:nvSpPr>
          <p:cNvPr id="12" name="Text 10"/>
          <p:cNvSpPr txBox="1"/>
          <p:nvPr/>
        </p:nvSpPr>
        <p:spPr>
          <a:xfrm>
            <a:off x="548640" y="3547872"/>
            <a:ext cx="2011680" cy="914400"/>
          </a:xfrm>
          <a:prstGeom prst="rect">
            <a:avLst/>
          </a:prstGeom>
          <a:noFill/>
          <a:ln/>
        </p:spPr>
        <p:txBody>
          <a:bodyPr wrap="square" lIns="0" tIns="0" rIns="0" bIns="0" rtlCol="0" anchor="t"/>
          <a:lstStyle/>
          <a:p>
            <a:pPr indent="0" marL="0">
              <a:buNone/>
            </a:pPr>
            <a:r>
              <a:rPr lang="en-US" sz="1100" dirty="0">
                <a:solidFill>
                  <a:srgbClr val="6B6862"/>
                </a:solidFill>
                <a:latin typeface="Arial" pitchFamily="34" charset="0"/>
                <a:ea typeface="Arial" pitchFamily="34" charset="-122"/>
                <a:cs typeface="Arial" pitchFamily="34" charset="-120"/>
              </a:rPr>
              <a:t>100 real samples (Sonipat + campus), 5 phone models, public white paper</a:t>
            </a:r>
            <a:endParaRPr lang="en-US" sz="1100" dirty="0"/>
          </a:p>
        </p:txBody>
      </p:sp>
      <p:sp>
        <p:nvSpPr>
          <p:cNvPr id="13" name="Shape 11"/>
          <p:cNvSpPr/>
          <p:nvPr/>
        </p:nvSpPr>
        <p:spPr>
          <a:xfrm>
            <a:off x="2788920" y="2331720"/>
            <a:ext cx="640080" cy="640080"/>
          </a:xfrm>
          <a:prstGeom prst="rect">
            <a:avLst/>
          </a:prstGeom>
          <a:solidFill>
            <a:srgbClr val="111111"/>
          </a:solidFill>
          <a:ln/>
        </p:spPr>
      </p:sp>
      <p:sp>
        <p:nvSpPr>
          <p:cNvPr id="14" name="Text 12"/>
          <p:cNvSpPr txBox="1"/>
          <p:nvPr/>
        </p:nvSpPr>
        <p:spPr>
          <a:xfrm>
            <a:off x="2788920" y="233172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M2</a:t>
            </a:r>
            <a:endParaRPr lang="en-US" sz="1200" dirty="0"/>
          </a:p>
        </p:txBody>
      </p:sp>
      <p:sp>
        <p:nvSpPr>
          <p:cNvPr id="15" name="Text 13"/>
          <p:cNvSpPr txBox="1"/>
          <p:nvPr/>
        </p:nvSpPr>
        <p:spPr>
          <a:xfrm>
            <a:off x="2788920" y="3154680"/>
            <a:ext cx="2057400" cy="365760"/>
          </a:xfrm>
          <a:prstGeom prst="rect">
            <a:avLst/>
          </a:prstGeom>
          <a:noFill/>
          <a:ln/>
        </p:spPr>
        <p:txBody>
          <a:bodyPr wrap="square" lIns="0" tIns="0" rIns="0" bIns="0" rtlCol="0" anchor="ctr"/>
          <a:lstStyle/>
          <a:p>
            <a:pPr indent="0" marL="0">
              <a:buNone/>
            </a:pPr>
            <a:r>
              <a:rPr lang="en-US" sz="1300" dirty="0">
                <a:solidFill>
                  <a:srgbClr val="111111"/>
                </a:solidFill>
                <a:latin typeface="Arial Black" pitchFamily="34" charset="0"/>
                <a:ea typeface="Arial Black" pitchFamily="34" charset="-122"/>
                <a:cs typeface="Arial Black" pitchFamily="34" charset="-120"/>
              </a:rPr>
              <a:t>Fluoride pack</a:t>
            </a:r>
            <a:endParaRPr lang="en-US" sz="1300" dirty="0"/>
          </a:p>
        </p:txBody>
      </p:sp>
      <p:sp>
        <p:nvSpPr>
          <p:cNvPr id="16" name="Text 14"/>
          <p:cNvSpPr txBox="1"/>
          <p:nvPr/>
        </p:nvSpPr>
        <p:spPr>
          <a:xfrm>
            <a:off x="2788920" y="3547872"/>
            <a:ext cx="2011680" cy="914400"/>
          </a:xfrm>
          <a:prstGeom prst="rect">
            <a:avLst/>
          </a:prstGeom>
          <a:noFill/>
          <a:ln/>
        </p:spPr>
        <p:txBody>
          <a:bodyPr wrap="square" lIns="0" tIns="0" rIns="0" bIns="0" rtlCol="0" anchor="t"/>
          <a:lstStyle/>
          <a:p>
            <a:pPr indent="0" marL="0">
              <a:buNone/>
            </a:pPr>
            <a:r>
              <a:rPr lang="en-US" sz="1100" dirty="0">
                <a:solidFill>
                  <a:srgbClr val="6B6862"/>
                </a:solidFill>
                <a:latin typeface="Arial" pitchFamily="34" charset="0"/>
                <a:ea typeface="Arial" pitchFamily="34" charset="-122"/>
                <a:cs typeface="Arial" pitchFamily="34" charset="-120"/>
              </a:rPr>
              <a:t>SPADNS assay for Haryana’s fluoride belt + flash-powered v2 optics</a:t>
            </a:r>
            <a:endParaRPr lang="en-US" sz="1100" dirty="0"/>
          </a:p>
        </p:txBody>
      </p:sp>
      <p:sp>
        <p:nvSpPr>
          <p:cNvPr id="17" name="Shape 15"/>
          <p:cNvSpPr/>
          <p:nvPr/>
        </p:nvSpPr>
        <p:spPr>
          <a:xfrm>
            <a:off x="5029200" y="2331720"/>
            <a:ext cx="640080" cy="640080"/>
          </a:xfrm>
          <a:prstGeom prst="rect">
            <a:avLst/>
          </a:prstGeom>
          <a:solidFill>
            <a:srgbClr val="111111"/>
          </a:solidFill>
          <a:ln/>
        </p:spPr>
      </p:sp>
      <p:sp>
        <p:nvSpPr>
          <p:cNvPr id="18" name="Text 16"/>
          <p:cNvSpPr txBox="1"/>
          <p:nvPr/>
        </p:nvSpPr>
        <p:spPr>
          <a:xfrm>
            <a:off x="5029200" y="233172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M3</a:t>
            </a:r>
            <a:endParaRPr lang="en-US" sz="1200" dirty="0"/>
          </a:p>
        </p:txBody>
      </p:sp>
      <p:sp>
        <p:nvSpPr>
          <p:cNvPr id="19" name="Text 17"/>
          <p:cNvSpPr txBox="1"/>
          <p:nvPr/>
        </p:nvSpPr>
        <p:spPr>
          <a:xfrm>
            <a:off x="5029200" y="3154680"/>
            <a:ext cx="2057400" cy="365760"/>
          </a:xfrm>
          <a:prstGeom prst="rect">
            <a:avLst/>
          </a:prstGeom>
          <a:noFill/>
          <a:ln/>
        </p:spPr>
        <p:txBody>
          <a:bodyPr wrap="square" lIns="0" tIns="0" rIns="0" bIns="0" rtlCol="0" anchor="ctr"/>
          <a:lstStyle/>
          <a:p>
            <a:pPr indent="0" marL="0">
              <a:buNone/>
            </a:pPr>
            <a:r>
              <a:rPr lang="en-US" sz="1300" dirty="0">
                <a:solidFill>
                  <a:srgbClr val="111111"/>
                </a:solidFill>
                <a:latin typeface="Arial Black" pitchFamily="34" charset="0"/>
                <a:ea typeface="Arial Black" pitchFamily="34" charset="-122"/>
                <a:cs typeface="Arial Black" pitchFamily="34" charset="-120"/>
              </a:rPr>
              <a:t>Dry reagent pods</a:t>
            </a:r>
            <a:endParaRPr lang="en-US" sz="1300" dirty="0"/>
          </a:p>
        </p:txBody>
      </p:sp>
      <p:sp>
        <p:nvSpPr>
          <p:cNvPr id="20" name="Text 18"/>
          <p:cNvSpPr txBox="1"/>
          <p:nvPr/>
        </p:nvSpPr>
        <p:spPr>
          <a:xfrm>
            <a:off x="5029200" y="3547872"/>
            <a:ext cx="2011680" cy="914400"/>
          </a:xfrm>
          <a:prstGeom prst="rect">
            <a:avLst/>
          </a:prstGeom>
          <a:noFill/>
          <a:ln/>
        </p:spPr>
        <p:txBody>
          <a:bodyPr wrap="square" lIns="0" tIns="0" rIns="0" bIns="0" rtlCol="0" anchor="t"/>
          <a:lstStyle/>
          <a:p>
            <a:pPr indent="0" marL="0">
              <a:buNone/>
            </a:pPr>
            <a:r>
              <a:rPr lang="en-US" sz="1100" dirty="0">
                <a:solidFill>
                  <a:srgbClr val="6B6862"/>
                </a:solidFill>
                <a:latin typeface="Arial" pitchFamily="34" charset="0"/>
                <a:ea typeface="Arial" pitchFamily="34" charset="-122"/>
                <a:cs typeface="Arial" pitchFamily="34" charset="-120"/>
              </a:rPr>
              <a:t>Sealed blister chemistry, injection-moulded clip, shared phone model</a:t>
            </a:r>
            <a:endParaRPr lang="en-US" sz="1100" dirty="0"/>
          </a:p>
        </p:txBody>
      </p:sp>
      <p:sp>
        <p:nvSpPr>
          <p:cNvPr id="21" name="Shape 19"/>
          <p:cNvSpPr/>
          <p:nvPr/>
        </p:nvSpPr>
        <p:spPr>
          <a:xfrm>
            <a:off x="7269480" y="2331720"/>
            <a:ext cx="640080" cy="640080"/>
          </a:xfrm>
          <a:prstGeom prst="rect">
            <a:avLst/>
          </a:prstGeom>
          <a:solidFill>
            <a:srgbClr val="111111"/>
          </a:solidFill>
          <a:ln/>
        </p:spPr>
      </p:sp>
      <p:sp>
        <p:nvSpPr>
          <p:cNvPr id="22" name="Text 20"/>
          <p:cNvSpPr txBox="1"/>
          <p:nvPr/>
        </p:nvSpPr>
        <p:spPr>
          <a:xfrm>
            <a:off x="7269480" y="233172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M6</a:t>
            </a:r>
            <a:endParaRPr lang="en-US" sz="1200" dirty="0"/>
          </a:p>
        </p:txBody>
      </p:sp>
      <p:sp>
        <p:nvSpPr>
          <p:cNvPr id="23" name="Text 21"/>
          <p:cNvSpPr txBox="1"/>
          <p:nvPr/>
        </p:nvSpPr>
        <p:spPr>
          <a:xfrm>
            <a:off x="7269480" y="3154680"/>
            <a:ext cx="2057400" cy="365760"/>
          </a:xfrm>
          <a:prstGeom prst="rect">
            <a:avLst/>
          </a:prstGeom>
          <a:noFill/>
          <a:ln/>
        </p:spPr>
        <p:txBody>
          <a:bodyPr wrap="square" lIns="0" tIns="0" rIns="0" bIns="0" rtlCol="0" anchor="ctr"/>
          <a:lstStyle/>
          <a:p>
            <a:pPr indent="0" marL="0">
              <a:buNone/>
            </a:pPr>
            <a:r>
              <a:rPr lang="en-US" sz="1300" dirty="0">
                <a:solidFill>
                  <a:srgbClr val="111111"/>
                </a:solidFill>
                <a:latin typeface="Arial Black" pitchFamily="34" charset="0"/>
                <a:ea typeface="Arial Black" pitchFamily="34" charset="-122"/>
                <a:cs typeface="Arial Black" pitchFamily="34" charset="-120"/>
              </a:rPr>
              <a:t>Panchayat pilot</a:t>
            </a:r>
            <a:endParaRPr lang="en-US" sz="1300" dirty="0"/>
          </a:p>
        </p:txBody>
      </p:sp>
      <p:sp>
        <p:nvSpPr>
          <p:cNvPr id="24" name="Text 22"/>
          <p:cNvSpPr txBox="1"/>
          <p:nvPr/>
        </p:nvSpPr>
        <p:spPr>
          <a:xfrm>
            <a:off x="7269480" y="3547872"/>
            <a:ext cx="2011680" cy="914400"/>
          </a:xfrm>
          <a:prstGeom prst="rect">
            <a:avLst/>
          </a:prstGeom>
          <a:noFill/>
          <a:ln/>
        </p:spPr>
        <p:txBody>
          <a:bodyPr wrap="square" lIns="0" tIns="0" rIns="0" bIns="0" rtlCol="0" anchor="t"/>
          <a:lstStyle/>
          <a:p>
            <a:pPr indent="0" marL="0">
              <a:buNone/>
            </a:pPr>
            <a:r>
              <a:rPr lang="en-US" sz="1100" dirty="0">
                <a:solidFill>
                  <a:srgbClr val="6B6862"/>
                </a:solidFill>
                <a:latin typeface="Arial" pitchFamily="34" charset="0"/>
                <a:ea typeface="Arial" pitchFamily="34" charset="-122"/>
                <a:cs typeface="Arial" pitchFamily="34" charset="-120"/>
              </a:rPr>
              <a:t>25 units across 2 Sonipat gram panchayats with VWSC testers</a:t>
            </a:r>
            <a:endParaRPr lang="en-US" sz="1100" dirty="0"/>
          </a:p>
        </p:txBody>
      </p:sp>
      <p:sp>
        <p:nvSpPr>
          <p:cNvPr id="25" name="Shape 23"/>
          <p:cNvSpPr/>
          <p:nvPr/>
        </p:nvSpPr>
        <p:spPr>
          <a:xfrm>
            <a:off x="9509760" y="2331720"/>
            <a:ext cx="640080" cy="640080"/>
          </a:xfrm>
          <a:prstGeom prst="rect">
            <a:avLst/>
          </a:prstGeom>
          <a:solidFill>
            <a:srgbClr val="111111"/>
          </a:solidFill>
          <a:ln/>
        </p:spPr>
      </p:sp>
      <p:sp>
        <p:nvSpPr>
          <p:cNvPr id="26" name="Text 24"/>
          <p:cNvSpPr txBox="1"/>
          <p:nvPr/>
        </p:nvSpPr>
        <p:spPr>
          <a:xfrm>
            <a:off x="9509760" y="2331720"/>
            <a:ext cx="64008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M12</a:t>
            </a:r>
            <a:endParaRPr lang="en-US" sz="1200" dirty="0"/>
          </a:p>
        </p:txBody>
      </p:sp>
      <p:sp>
        <p:nvSpPr>
          <p:cNvPr id="27" name="Text 25"/>
          <p:cNvSpPr txBox="1"/>
          <p:nvPr/>
        </p:nvSpPr>
        <p:spPr>
          <a:xfrm>
            <a:off x="9509760" y="3154680"/>
            <a:ext cx="2057400" cy="365760"/>
          </a:xfrm>
          <a:prstGeom prst="rect">
            <a:avLst/>
          </a:prstGeom>
          <a:noFill/>
          <a:ln/>
        </p:spPr>
        <p:txBody>
          <a:bodyPr wrap="square" lIns="0" tIns="0" rIns="0" bIns="0" rtlCol="0" anchor="ctr"/>
          <a:lstStyle/>
          <a:p>
            <a:pPr indent="0" marL="0">
              <a:buNone/>
            </a:pPr>
            <a:r>
              <a:rPr lang="en-US" sz="1300" dirty="0">
                <a:solidFill>
                  <a:srgbClr val="111111"/>
                </a:solidFill>
                <a:latin typeface="Arial Black" pitchFamily="34" charset="0"/>
                <a:ea typeface="Arial Black" pitchFamily="34" charset="-122"/>
                <a:cs typeface="Arial Black" pitchFamily="34" charset="-120"/>
              </a:rPr>
              <a:t>State tender</a:t>
            </a:r>
            <a:endParaRPr lang="en-US" sz="1300" dirty="0"/>
          </a:p>
        </p:txBody>
      </p:sp>
      <p:sp>
        <p:nvSpPr>
          <p:cNvPr id="28" name="Text 26"/>
          <p:cNvSpPr txBox="1"/>
          <p:nvPr/>
        </p:nvSpPr>
        <p:spPr>
          <a:xfrm>
            <a:off x="9509760" y="3547872"/>
            <a:ext cx="2011680" cy="914400"/>
          </a:xfrm>
          <a:prstGeom prst="rect">
            <a:avLst/>
          </a:prstGeom>
          <a:noFill/>
          <a:ln/>
        </p:spPr>
        <p:txBody>
          <a:bodyPr wrap="square" lIns="0" tIns="0" rIns="0" bIns="0" rtlCol="0" anchor="t"/>
          <a:lstStyle/>
          <a:p>
            <a:pPr indent="0" marL="0">
              <a:buNone/>
            </a:pPr>
            <a:r>
              <a:rPr lang="en-US" sz="1100" dirty="0">
                <a:solidFill>
                  <a:srgbClr val="6B6862"/>
                </a:solidFill>
                <a:latin typeface="Arial" pitchFamily="34" charset="0"/>
                <a:ea typeface="Arial" pitchFamily="34" charset="-122"/>
                <a:cs typeface="Arial" pitchFamily="34" charset="-120"/>
              </a:rPr>
              <a:t>JJM / state-mission procurement + schools edition</a:t>
            </a:r>
            <a:endParaRPr lang="en-US" sz="1100" dirty="0"/>
          </a:p>
        </p:txBody>
      </p:sp>
      <p:sp>
        <p:nvSpPr>
          <p:cNvPr id="29" name="Text 27"/>
          <p:cNvSpPr txBox="1"/>
          <p:nvPr/>
        </p:nvSpPr>
        <p:spPr>
          <a:xfrm>
            <a:off x="548640" y="4526280"/>
            <a:ext cx="4572000" cy="274320"/>
          </a:xfrm>
          <a:prstGeom prst="rect">
            <a:avLst/>
          </a:prstGeom>
          <a:noFill/>
          <a:ln/>
        </p:spPr>
        <p:txBody>
          <a:bodyPr wrap="square" lIns="0" tIns="0" rIns="0" bIns="0" rtlCol="0" anchor="ctr"/>
          <a:lstStyle/>
          <a:p>
            <a:pPr indent="0" marL="0">
              <a:buNone/>
            </a:pPr>
            <a:r>
              <a:rPr lang="en-US" sz="1000" b="1" spc="100" kern="0" dirty="0">
                <a:solidFill>
                  <a:srgbClr val="111111"/>
                </a:solidFill>
                <a:latin typeface="Courier New" pitchFamily="34" charset="0"/>
                <a:ea typeface="Courier New" pitchFamily="34" charset="-122"/>
                <a:cs typeface="Courier New" pitchFamily="34" charset="-120"/>
              </a:rPr>
              <a:t>CHEMISTRY PACK PIPELINE</a:t>
            </a:r>
            <a:endParaRPr lang="en-US" sz="1000" dirty="0"/>
          </a:p>
        </p:txBody>
      </p:sp>
      <p:sp>
        <p:nvSpPr>
          <p:cNvPr id="30" name="Shape 28"/>
          <p:cNvSpPr/>
          <p:nvPr/>
        </p:nvSpPr>
        <p:spPr>
          <a:xfrm>
            <a:off x="548640" y="4846320"/>
            <a:ext cx="2103120" cy="1234440"/>
          </a:xfrm>
          <a:prstGeom prst="rect">
            <a:avLst/>
          </a:prstGeom>
          <a:solidFill>
            <a:srgbClr val="1F3AE0"/>
          </a:solidFill>
          <a:ln/>
        </p:spPr>
      </p:sp>
      <p:sp>
        <p:nvSpPr>
          <p:cNvPr id="31" name="Text 29"/>
          <p:cNvSpPr txBox="1"/>
          <p:nvPr/>
        </p:nvSpPr>
        <p:spPr>
          <a:xfrm>
            <a:off x="713232" y="4983480"/>
            <a:ext cx="1828800" cy="365760"/>
          </a:xfrm>
          <a:prstGeom prst="rect">
            <a:avLst/>
          </a:prstGeom>
          <a:noFill/>
          <a:ln/>
        </p:spPr>
        <p:txBody>
          <a:bodyPr wrap="square" lIns="0" tIns="0" rIns="0" bIns="0" rtlCol="0" anchor="ctr"/>
          <a:lstStyle/>
          <a:p>
            <a:pPr indent="0" marL="0">
              <a:buNone/>
            </a:pPr>
            <a:r>
              <a:rPr lang="en-US" sz="1400" dirty="0">
                <a:solidFill>
                  <a:srgbClr val="FFFFFF"/>
                </a:solidFill>
                <a:latin typeface="Arial Black" pitchFamily="34" charset="0"/>
                <a:ea typeface="Arial Black" pitchFamily="34" charset="-122"/>
                <a:cs typeface="Arial Black" pitchFamily="34" charset="-120"/>
              </a:rPr>
              <a:t>Phosphate</a:t>
            </a:r>
            <a:endParaRPr lang="en-US" sz="1400" dirty="0"/>
          </a:p>
        </p:txBody>
      </p:sp>
      <p:sp>
        <p:nvSpPr>
          <p:cNvPr id="32" name="Text 30"/>
          <p:cNvSpPr txBox="1"/>
          <p:nvPr/>
        </p:nvSpPr>
        <p:spPr>
          <a:xfrm>
            <a:off x="713232" y="5349240"/>
            <a:ext cx="1874520" cy="274320"/>
          </a:xfrm>
          <a:prstGeom prst="rect">
            <a:avLst/>
          </a:prstGeom>
          <a:noFill/>
          <a:ln/>
        </p:spPr>
        <p:txBody>
          <a:bodyPr wrap="square" lIns="0" tIns="0" rIns="0" bIns="0" rtlCol="0" anchor="ctr"/>
          <a:lstStyle/>
          <a:p>
            <a:pPr indent="0" marL="0">
              <a:buNone/>
            </a:pPr>
            <a:r>
              <a:rPr lang="en-US" sz="850" spc="100" kern="0" dirty="0">
                <a:solidFill>
                  <a:srgbClr val="D0CCC4"/>
                </a:solidFill>
                <a:latin typeface="Courier New" pitchFamily="34" charset="0"/>
                <a:ea typeface="Courier New" pitchFamily="34" charset="-122"/>
                <a:cs typeface="Courier New" pitchFamily="34" charset="-120"/>
              </a:rPr>
              <a:t>630–690 nm</a:t>
            </a:r>
            <a:endParaRPr lang="en-US" sz="850" dirty="0"/>
          </a:p>
        </p:txBody>
      </p:sp>
      <p:sp>
        <p:nvSpPr>
          <p:cNvPr id="33" name="Text 31"/>
          <p:cNvSpPr txBox="1"/>
          <p:nvPr/>
        </p:nvSpPr>
        <p:spPr>
          <a:xfrm>
            <a:off x="713232" y="5687568"/>
            <a:ext cx="1874520" cy="274320"/>
          </a:xfrm>
          <a:prstGeom prst="rect">
            <a:avLst/>
          </a:prstGeom>
          <a:noFill/>
          <a:ln/>
        </p:spPr>
        <p:txBody>
          <a:bodyPr wrap="square" lIns="0" tIns="0" rIns="0" bIns="0" rtlCol="0" anchor="ctr"/>
          <a:lstStyle/>
          <a:p>
            <a:pPr indent="0" marL="0">
              <a:buNone/>
            </a:pPr>
            <a:r>
              <a:rPr lang="en-US" sz="850" b="1" spc="100" kern="0" dirty="0">
                <a:solidFill>
                  <a:srgbClr val="FFFFFF"/>
                </a:solidFill>
                <a:latin typeface="Courier New" pitchFamily="34" charset="0"/>
                <a:ea typeface="Courier New" pitchFamily="34" charset="-122"/>
                <a:cs typeface="Courier New" pitchFamily="34" charset="-120"/>
              </a:rPr>
              <a:t>LIVE</a:t>
            </a:r>
            <a:endParaRPr lang="en-US" sz="850" dirty="0"/>
          </a:p>
        </p:txBody>
      </p:sp>
      <p:sp>
        <p:nvSpPr>
          <p:cNvPr id="34" name="Shape 32"/>
          <p:cNvSpPr/>
          <p:nvPr/>
        </p:nvSpPr>
        <p:spPr>
          <a:xfrm>
            <a:off x="2788920" y="4846320"/>
            <a:ext cx="2103120" cy="1234440"/>
          </a:xfrm>
          <a:prstGeom prst="rect">
            <a:avLst/>
          </a:prstGeom>
          <a:solidFill>
            <a:srgbClr val="111111"/>
          </a:solidFill>
          <a:ln/>
        </p:spPr>
      </p:sp>
      <p:sp>
        <p:nvSpPr>
          <p:cNvPr id="35" name="Text 33"/>
          <p:cNvSpPr txBox="1"/>
          <p:nvPr/>
        </p:nvSpPr>
        <p:spPr>
          <a:xfrm>
            <a:off x="2953512" y="4983480"/>
            <a:ext cx="1828800" cy="365760"/>
          </a:xfrm>
          <a:prstGeom prst="rect">
            <a:avLst/>
          </a:prstGeom>
          <a:noFill/>
          <a:ln/>
        </p:spPr>
        <p:txBody>
          <a:bodyPr wrap="square" lIns="0" tIns="0" rIns="0" bIns="0" rtlCol="0" anchor="ctr"/>
          <a:lstStyle/>
          <a:p>
            <a:pPr indent="0" marL="0">
              <a:buNone/>
            </a:pPr>
            <a:r>
              <a:rPr lang="en-US" sz="1400" dirty="0">
                <a:solidFill>
                  <a:srgbClr val="FFFFFF"/>
                </a:solidFill>
                <a:latin typeface="Arial Black" pitchFamily="34" charset="0"/>
                <a:ea typeface="Arial Black" pitchFamily="34" charset="-122"/>
                <a:cs typeface="Arial Black" pitchFamily="34" charset="-120"/>
              </a:rPr>
              <a:t>Iron</a:t>
            </a:r>
            <a:endParaRPr lang="en-US" sz="1400" dirty="0"/>
          </a:p>
        </p:txBody>
      </p:sp>
      <p:sp>
        <p:nvSpPr>
          <p:cNvPr id="36" name="Text 34"/>
          <p:cNvSpPr txBox="1"/>
          <p:nvPr/>
        </p:nvSpPr>
        <p:spPr>
          <a:xfrm>
            <a:off x="2953512" y="5349240"/>
            <a:ext cx="1874520" cy="274320"/>
          </a:xfrm>
          <a:prstGeom prst="rect">
            <a:avLst/>
          </a:prstGeom>
          <a:noFill/>
          <a:ln/>
        </p:spPr>
        <p:txBody>
          <a:bodyPr wrap="square" lIns="0" tIns="0" rIns="0" bIns="0" rtlCol="0" anchor="ctr"/>
          <a:lstStyle/>
          <a:p>
            <a:pPr indent="0" marL="0">
              <a:buNone/>
            </a:pPr>
            <a:r>
              <a:rPr lang="en-US" sz="850" spc="100" kern="0" dirty="0">
                <a:solidFill>
                  <a:srgbClr val="D0CCC4"/>
                </a:solidFill>
                <a:latin typeface="Courier New" pitchFamily="34" charset="0"/>
                <a:ea typeface="Courier New" pitchFamily="34" charset="-122"/>
                <a:cs typeface="Courier New" pitchFamily="34" charset="-120"/>
              </a:rPr>
              <a:t>510 nm · IS 10500</a:t>
            </a:r>
            <a:endParaRPr lang="en-US" sz="850" dirty="0"/>
          </a:p>
        </p:txBody>
      </p:sp>
      <p:sp>
        <p:nvSpPr>
          <p:cNvPr id="37" name="Text 35"/>
          <p:cNvSpPr txBox="1"/>
          <p:nvPr/>
        </p:nvSpPr>
        <p:spPr>
          <a:xfrm>
            <a:off x="2953512" y="5687568"/>
            <a:ext cx="1874520" cy="274320"/>
          </a:xfrm>
          <a:prstGeom prst="rect">
            <a:avLst/>
          </a:prstGeom>
          <a:noFill/>
          <a:ln/>
        </p:spPr>
        <p:txBody>
          <a:bodyPr wrap="square" lIns="0" tIns="0" rIns="0" bIns="0" rtlCol="0" anchor="ctr"/>
          <a:lstStyle/>
          <a:p>
            <a:pPr indent="0" marL="0">
              <a:buNone/>
            </a:pPr>
            <a:r>
              <a:rPr lang="en-US" sz="850" b="1" spc="100" kern="0" dirty="0">
                <a:solidFill>
                  <a:srgbClr val="FFFFFF"/>
                </a:solidFill>
                <a:latin typeface="Courier New" pitchFamily="34" charset="0"/>
                <a:ea typeface="Courier New" pitchFamily="34" charset="-122"/>
                <a:cs typeface="Courier New" pitchFamily="34" charset="-120"/>
              </a:rPr>
              <a:t>IN DEVELOPMENT</a:t>
            </a:r>
            <a:endParaRPr lang="en-US" sz="850" dirty="0"/>
          </a:p>
        </p:txBody>
      </p:sp>
      <p:sp>
        <p:nvSpPr>
          <p:cNvPr id="38" name="Shape 36"/>
          <p:cNvSpPr/>
          <p:nvPr/>
        </p:nvSpPr>
        <p:spPr>
          <a:xfrm>
            <a:off x="5029200" y="4846320"/>
            <a:ext cx="2103120" cy="1234440"/>
          </a:xfrm>
          <a:prstGeom prst="rect">
            <a:avLst/>
          </a:prstGeom>
          <a:ln w="9525">
            <a:solidFill>
              <a:srgbClr val="111111"/>
            </a:solidFill>
            <a:prstDash val="solid"/>
          </a:ln>
        </p:spPr>
      </p:sp>
      <p:sp>
        <p:nvSpPr>
          <p:cNvPr id="39" name="Text 37"/>
          <p:cNvSpPr txBox="1"/>
          <p:nvPr/>
        </p:nvSpPr>
        <p:spPr>
          <a:xfrm>
            <a:off x="5193792" y="4983480"/>
            <a:ext cx="1828800" cy="365760"/>
          </a:xfrm>
          <a:prstGeom prst="rect">
            <a:avLst/>
          </a:prstGeom>
          <a:noFill/>
          <a:ln/>
        </p:spPr>
        <p:txBody>
          <a:bodyPr wrap="square" lIns="0" tIns="0" rIns="0" bIns="0" rtlCol="0" anchor="ctr"/>
          <a:lstStyle/>
          <a:p>
            <a:pPr indent="0" marL="0">
              <a:buNone/>
            </a:pPr>
            <a:r>
              <a:rPr lang="en-US" sz="1400" dirty="0">
                <a:solidFill>
                  <a:srgbClr val="111111"/>
                </a:solidFill>
                <a:latin typeface="Arial Black" pitchFamily="34" charset="0"/>
                <a:ea typeface="Arial Black" pitchFamily="34" charset="-122"/>
                <a:cs typeface="Arial Black" pitchFamily="34" charset="-120"/>
              </a:rPr>
              <a:t>Fluoride</a:t>
            </a:r>
            <a:endParaRPr lang="en-US" sz="1400" dirty="0"/>
          </a:p>
        </p:txBody>
      </p:sp>
      <p:sp>
        <p:nvSpPr>
          <p:cNvPr id="40" name="Text 38"/>
          <p:cNvSpPr txBox="1"/>
          <p:nvPr/>
        </p:nvSpPr>
        <p:spPr>
          <a:xfrm>
            <a:off x="5193792" y="5349240"/>
            <a:ext cx="1874520" cy="274320"/>
          </a:xfrm>
          <a:prstGeom prst="rect">
            <a:avLst/>
          </a:prstGeom>
          <a:noFill/>
          <a:ln/>
        </p:spPr>
        <p:txBody>
          <a:bodyPr wrap="square" lIns="0" tIns="0" rIns="0" bIns="0" rtlCol="0" anchor="ctr"/>
          <a:lstStyle/>
          <a:p>
            <a:pPr indent="0" marL="0">
              <a:buNone/>
            </a:pPr>
            <a:r>
              <a:rPr lang="en-US" sz="850" spc="100" kern="0" dirty="0">
                <a:solidFill>
                  <a:srgbClr val="6B6862"/>
                </a:solidFill>
                <a:latin typeface="Courier New" pitchFamily="34" charset="0"/>
                <a:ea typeface="Courier New" pitchFamily="34" charset="-122"/>
                <a:cs typeface="Courier New" pitchFamily="34" charset="-120"/>
              </a:rPr>
              <a:t>570 nm · SPADNS</a:t>
            </a:r>
            <a:endParaRPr lang="en-US" sz="850" dirty="0"/>
          </a:p>
        </p:txBody>
      </p:sp>
      <p:sp>
        <p:nvSpPr>
          <p:cNvPr id="41" name="Text 39"/>
          <p:cNvSpPr txBox="1"/>
          <p:nvPr/>
        </p:nvSpPr>
        <p:spPr>
          <a:xfrm>
            <a:off x="5193792" y="5687568"/>
            <a:ext cx="1874520" cy="274320"/>
          </a:xfrm>
          <a:prstGeom prst="rect">
            <a:avLst/>
          </a:prstGeom>
          <a:noFill/>
          <a:ln/>
        </p:spPr>
        <p:txBody>
          <a:bodyPr wrap="square" lIns="0" tIns="0" rIns="0" bIns="0" rtlCol="0" anchor="ctr"/>
          <a:lstStyle/>
          <a:p>
            <a:pPr indent="0" marL="0">
              <a:buNone/>
            </a:pPr>
            <a:r>
              <a:rPr lang="en-US" sz="850" b="1" spc="100" kern="0" dirty="0">
                <a:solidFill>
                  <a:srgbClr val="1F3AE0"/>
                </a:solidFill>
                <a:latin typeface="Courier New" pitchFamily="34" charset="0"/>
                <a:ea typeface="Courier New" pitchFamily="34" charset="-122"/>
                <a:cs typeface="Courier New" pitchFamily="34" charset="-120"/>
              </a:rPr>
              <a:t>MONTH 2</a:t>
            </a:r>
            <a:endParaRPr lang="en-US" sz="850" dirty="0"/>
          </a:p>
        </p:txBody>
      </p:sp>
      <p:sp>
        <p:nvSpPr>
          <p:cNvPr id="42" name="Shape 40"/>
          <p:cNvSpPr/>
          <p:nvPr/>
        </p:nvSpPr>
        <p:spPr>
          <a:xfrm>
            <a:off x="7269480" y="4846320"/>
            <a:ext cx="2103120" cy="1234440"/>
          </a:xfrm>
          <a:prstGeom prst="rect">
            <a:avLst/>
          </a:prstGeom>
          <a:ln w="9525">
            <a:solidFill>
              <a:srgbClr val="111111"/>
            </a:solidFill>
            <a:prstDash val="solid"/>
          </a:ln>
        </p:spPr>
      </p:sp>
      <p:sp>
        <p:nvSpPr>
          <p:cNvPr id="43" name="Text 41"/>
          <p:cNvSpPr txBox="1"/>
          <p:nvPr/>
        </p:nvSpPr>
        <p:spPr>
          <a:xfrm>
            <a:off x="7434072" y="4983480"/>
            <a:ext cx="1828800" cy="365760"/>
          </a:xfrm>
          <a:prstGeom prst="rect">
            <a:avLst/>
          </a:prstGeom>
          <a:noFill/>
          <a:ln/>
        </p:spPr>
        <p:txBody>
          <a:bodyPr wrap="square" lIns="0" tIns="0" rIns="0" bIns="0" rtlCol="0" anchor="ctr"/>
          <a:lstStyle/>
          <a:p>
            <a:pPr indent="0" marL="0">
              <a:buNone/>
            </a:pPr>
            <a:r>
              <a:rPr lang="en-US" sz="1400" dirty="0">
                <a:solidFill>
                  <a:srgbClr val="111111"/>
                </a:solidFill>
                <a:latin typeface="Arial Black" pitchFamily="34" charset="0"/>
                <a:ea typeface="Arial Black" pitchFamily="34" charset="-122"/>
                <a:cs typeface="Arial Black" pitchFamily="34" charset="-120"/>
              </a:rPr>
              <a:t>Nitrate</a:t>
            </a:r>
            <a:endParaRPr lang="en-US" sz="1400" dirty="0"/>
          </a:p>
        </p:txBody>
      </p:sp>
      <p:sp>
        <p:nvSpPr>
          <p:cNvPr id="44" name="Text 42"/>
          <p:cNvSpPr txBox="1"/>
          <p:nvPr/>
        </p:nvSpPr>
        <p:spPr>
          <a:xfrm>
            <a:off x="7434072" y="5349240"/>
            <a:ext cx="1874520" cy="274320"/>
          </a:xfrm>
          <a:prstGeom prst="rect">
            <a:avLst/>
          </a:prstGeom>
          <a:noFill/>
          <a:ln/>
        </p:spPr>
        <p:txBody>
          <a:bodyPr wrap="square" lIns="0" tIns="0" rIns="0" bIns="0" rtlCol="0" anchor="ctr"/>
          <a:lstStyle/>
          <a:p>
            <a:pPr indent="0" marL="0">
              <a:buNone/>
            </a:pPr>
            <a:r>
              <a:rPr lang="en-US" sz="850" spc="100" kern="0" dirty="0">
                <a:solidFill>
                  <a:srgbClr val="6B6862"/>
                </a:solidFill>
                <a:latin typeface="Courier New" pitchFamily="34" charset="0"/>
                <a:ea typeface="Courier New" pitchFamily="34" charset="-122"/>
                <a:cs typeface="Courier New" pitchFamily="34" charset="-120"/>
              </a:rPr>
              <a:t>540 nm · Griess</a:t>
            </a:r>
            <a:endParaRPr lang="en-US" sz="850" dirty="0"/>
          </a:p>
        </p:txBody>
      </p:sp>
      <p:sp>
        <p:nvSpPr>
          <p:cNvPr id="45" name="Text 43"/>
          <p:cNvSpPr txBox="1"/>
          <p:nvPr/>
        </p:nvSpPr>
        <p:spPr>
          <a:xfrm>
            <a:off x="7434072" y="5687568"/>
            <a:ext cx="1874520" cy="274320"/>
          </a:xfrm>
          <a:prstGeom prst="rect">
            <a:avLst/>
          </a:prstGeom>
          <a:noFill/>
          <a:ln/>
        </p:spPr>
        <p:txBody>
          <a:bodyPr wrap="square" lIns="0" tIns="0" rIns="0" bIns="0" rtlCol="0" anchor="ctr"/>
          <a:lstStyle/>
          <a:p>
            <a:pPr indent="0" marL="0">
              <a:buNone/>
            </a:pPr>
            <a:r>
              <a:rPr lang="en-US" sz="850" b="1" spc="100" kern="0" dirty="0">
                <a:solidFill>
                  <a:srgbClr val="1F3AE0"/>
                </a:solidFill>
                <a:latin typeface="Courier New" pitchFamily="34" charset="0"/>
                <a:ea typeface="Courier New" pitchFamily="34" charset="-122"/>
                <a:cs typeface="Courier New" pitchFamily="34" charset="-120"/>
              </a:rPr>
              <a:t>ROADMAP</a:t>
            </a:r>
            <a:endParaRPr lang="en-US" sz="850" dirty="0"/>
          </a:p>
        </p:txBody>
      </p:sp>
      <p:sp>
        <p:nvSpPr>
          <p:cNvPr id="46" name="Shape 44"/>
          <p:cNvSpPr/>
          <p:nvPr/>
        </p:nvSpPr>
        <p:spPr>
          <a:xfrm>
            <a:off x="9509760" y="4846320"/>
            <a:ext cx="2103120" cy="1234440"/>
          </a:xfrm>
          <a:prstGeom prst="rect">
            <a:avLst/>
          </a:prstGeom>
          <a:ln w="9525">
            <a:solidFill>
              <a:srgbClr val="111111"/>
            </a:solidFill>
            <a:prstDash val="solid"/>
          </a:ln>
        </p:spPr>
      </p:sp>
      <p:sp>
        <p:nvSpPr>
          <p:cNvPr id="47" name="Text 45"/>
          <p:cNvSpPr txBox="1"/>
          <p:nvPr/>
        </p:nvSpPr>
        <p:spPr>
          <a:xfrm>
            <a:off x="9674352" y="4983480"/>
            <a:ext cx="1828800" cy="365760"/>
          </a:xfrm>
          <a:prstGeom prst="rect">
            <a:avLst/>
          </a:prstGeom>
          <a:noFill/>
          <a:ln/>
        </p:spPr>
        <p:txBody>
          <a:bodyPr wrap="square" lIns="0" tIns="0" rIns="0" bIns="0" rtlCol="0" anchor="ctr"/>
          <a:lstStyle/>
          <a:p>
            <a:pPr indent="0" marL="0">
              <a:buNone/>
            </a:pPr>
            <a:r>
              <a:rPr lang="en-US" sz="1400" dirty="0">
                <a:solidFill>
                  <a:srgbClr val="6B6862"/>
                </a:solidFill>
                <a:latin typeface="Arial Black" pitchFamily="34" charset="0"/>
                <a:ea typeface="Arial Black" pitchFamily="34" charset="-122"/>
                <a:cs typeface="Arial Black" pitchFamily="34" charset="-120"/>
              </a:rPr>
              <a:t>Lead</a:t>
            </a:r>
            <a:endParaRPr lang="en-US" sz="1400" dirty="0"/>
          </a:p>
        </p:txBody>
      </p:sp>
      <p:sp>
        <p:nvSpPr>
          <p:cNvPr id="48" name="Text 46"/>
          <p:cNvSpPr txBox="1"/>
          <p:nvPr/>
        </p:nvSpPr>
        <p:spPr>
          <a:xfrm>
            <a:off x="9674352" y="5349240"/>
            <a:ext cx="1874520" cy="274320"/>
          </a:xfrm>
          <a:prstGeom prst="rect">
            <a:avLst/>
          </a:prstGeom>
          <a:noFill/>
          <a:ln/>
        </p:spPr>
        <p:txBody>
          <a:bodyPr wrap="square" lIns="0" tIns="0" rIns="0" bIns="0" rtlCol="0" anchor="ctr"/>
          <a:lstStyle/>
          <a:p>
            <a:pPr indent="0" marL="0">
              <a:buNone/>
            </a:pPr>
            <a:r>
              <a:rPr lang="en-US" sz="850" spc="100" kern="0" dirty="0">
                <a:solidFill>
                  <a:srgbClr val="6B6862"/>
                </a:solidFill>
                <a:latin typeface="Courier New" pitchFamily="34" charset="0"/>
                <a:ea typeface="Courier New" pitchFamily="34" charset="-122"/>
                <a:cs typeface="Courier New" pitchFamily="34" charset="-120"/>
              </a:rPr>
              <a:t>520 nm · dithizone</a:t>
            </a:r>
            <a:endParaRPr lang="en-US" sz="850" dirty="0"/>
          </a:p>
        </p:txBody>
      </p:sp>
      <p:sp>
        <p:nvSpPr>
          <p:cNvPr id="49" name="Text 47"/>
          <p:cNvSpPr txBox="1"/>
          <p:nvPr/>
        </p:nvSpPr>
        <p:spPr>
          <a:xfrm>
            <a:off x="9674352" y="5687568"/>
            <a:ext cx="1874520" cy="274320"/>
          </a:xfrm>
          <a:prstGeom prst="rect">
            <a:avLst/>
          </a:prstGeom>
          <a:noFill/>
          <a:ln/>
        </p:spPr>
        <p:txBody>
          <a:bodyPr wrap="square" lIns="0" tIns="0" rIns="0" bIns="0" rtlCol="0" anchor="ctr"/>
          <a:lstStyle/>
          <a:p>
            <a:pPr indent="0" marL="0">
              <a:buNone/>
            </a:pPr>
            <a:r>
              <a:rPr lang="en-US" sz="850" b="1" spc="100" kern="0" dirty="0">
                <a:solidFill>
                  <a:srgbClr val="6B6862"/>
                </a:solidFill>
                <a:latin typeface="Courier New" pitchFamily="34" charset="0"/>
                <a:ea typeface="Courier New" pitchFamily="34" charset="-122"/>
                <a:cs typeface="Courier New" pitchFamily="34" charset="-120"/>
              </a:rPr>
              <a:t>RESEARCH · SIMULATED</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000" b="1" spc="200" kern="0" dirty="0">
                <a:solidFill>
                  <a:srgbClr val="111111"/>
                </a:solidFill>
                <a:latin typeface="Courier New" pitchFamily="34" charset="0"/>
                <a:ea typeface="Courier New" pitchFamily="34" charset="-122"/>
                <a:cs typeface="Courier New" pitchFamily="34" charset="-120"/>
              </a:rPr>
              <a:t>22 — HARD QUESTIONS</a:t>
            </a:r>
            <a:endParaRPr lang="en-US" sz="1000" dirty="0"/>
          </a:p>
        </p:txBody>
      </p:sp>
      <p:sp>
        <p:nvSpPr>
          <p:cNvPr id="3" name="Text 1"/>
          <p:cNvSpPr txBox="1"/>
          <p:nvPr/>
        </p:nvSpPr>
        <p:spPr>
          <a:xfrm>
            <a:off x="6156655" y="292608"/>
            <a:ext cx="5486400" cy="274320"/>
          </a:xfrm>
          <a:prstGeom prst="rect">
            <a:avLst/>
          </a:prstGeom>
          <a:noFill/>
          <a:ln/>
        </p:spPr>
        <p:txBody>
          <a:bodyPr wrap="square" lIns="0" tIns="0" rIns="0" bIns="0" rtlCol="0" anchor="ctr"/>
          <a:lstStyle/>
          <a:p>
            <a:pPr algn="r" indent="0" marL="0">
              <a:buNone/>
            </a:pPr>
            <a:r>
              <a:rPr lang="en-US" sz="900" spc="200" kern="0" dirty="0">
                <a:solidFill>
                  <a:srgbClr val="6B6862"/>
                </a:solidFill>
                <a:latin typeface="Courier New" pitchFamily="34" charset="0"/>
                <a:ea typeface="Courier New" pitchFamily="34" charset="-122"/>
                <a:cs typeface="Courier New" pitchFamily="34" charset="-120"/>
              </a:rPr>
              <a:t>LISA  /  ASHOKA STARTUP CHALLENGE 2026</a:t>
            </a:r>
            <a:endParaRPr lang="en-US" sz="900" dirty="0"/>
          </a:p>
        </p:txBody>
      </p:sp>
      <p:sp>
        <p:nvSpPr>
          <p:cNvPr id="4"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900" dirty="0">
                <a:solidFill>
                  <a:srgbClr val="6B6862"/>
                </a:solidFill>
                <a:latin typeface="Courier New" pitchFamily="34" charset="0"/>
                <a:ea typeface="Courier New" pitchFamily="34" charset="-122"/>
                <a:cs typeface="Courier New" pitchFamily="34" charset="-120"/>
              </a:rPr>
              <a:t>22 / 24</a:t>
            </a:r>
            <a:endParaRPr lang="en-US" sz="900" dirty="0"/>
          </a:p>
        </p:txBody>
      </p:sp>
      <p:sp>
        <p:nvSpPr>
          <p:cNvPr id="5" name="Shape 3"/>
          <p:cNvSpPr/>
          <p:nvPr/>
        </p:nvSpPr>
        <p:spPr>
          <a:xfrm>
            <a:off x="210312" y="6583680"/>
            <a:ext cx="164592" cy="0"/>
          </a:xfrm>
          <a:prstGeom prst="line">
            <a:avLst/>
          </a:prstGeom>
          <a:noFill/>
          <a:ln w="9525">
            <a:solidFill>
              <a:srgbClr val="111111"/>
            </a:solidFill>
            <a:prstDash val="solid"/>
          </a:ln>
        </p:spPr>
      </p:sp>
      <p:sp>
        <p:nvSpPr>
          <p:cNvPr id="6" name="Shape 4"/>
          <p:cNvSpPr/>
          <p:nvPr/>
        </p:nvSpPr>
        <p:spPr>
          <a:xfrm>
            <a:off x="292608" y="6501384"/>
            <a:ext cx="0" cy="164592"/>
          </a:xfrm>
          <a:prstGeom prst="line">
            <a:avLst/>
          </a:prstGeom>
          <a:noFill/>
          <a:ln w="9525">
            <a:solidFill>
              <a:srgbClr val="111111"/>
            </a:solidFill>
            <a:prstDash val="solid"/>
          </a:ln>
        </p:spPr>
      </p:sp>
      <p:sp>
        <p:nvSpPr>
          <p:cNvPr id="7" name="Text 5"/>
          <p:cNvSpPr txBox="1"/>
          <p:nvPr/>
        </p:nvSpPr>
        <p:spPr>
          <a:xfrm>
            <a:off x="548640" y="685800"/>
            <a:ext cx="10515600" cy="1280160"/>
          </a:xfrm>
          <a:prstGeom prst="rect">
            <a:avLst/>
          </a:prstGeom>
          <a:noFill/>
          <a:ln/>
        </p:spPr>
        <p:txBody>
          <a:bodyPr wrap="square" lIns="0" tIns="0" rIns="0" bIns="0" rtlCol="0" anchor="t"/>
          <a:lstStyle/>
          <a:p>
            <a:pPr indent="0" marL="0">
              <a:lnSpc>
                <a:spcPct val="92000"/>
              </a:lnSpc>
              <a:buNone/>
            </a:pPr>
            <a:r>
              <a:rPr lang="en-US" sz="3400" dirty="0">
                <a:solidFill>
                  <a:srgbClr val="111111"/>
                </a:solidFill>
                <a:latin typeface="Arial Black" pitchFamily="34" charset="0"/>
                <a:ea typeface="Arial Black" pitchFamily="34" charset="-122"/>
                <a:cs typeface="Arial Black" pitchFamily="34" charset="-120"/>
              </a:rPr>
              <a:t>We attacked it first.</a:t>
            </a:r>
            <a:pPr indent="0" marL="0">
              <a:lnSpc>
                <a:spcPct val="92000"/>
              </a:lnSpc>
              <a:buNone/>
            </a:pPr>
            <a:endParaRPr lang="en-US" sz="3400" dirty="0"/>
          </a:p>
          <a:p>
            <a:pPr indent="0" marL="0">
              <a:lnSpc>
                <a:spcPct val="92000"/>
              </a:lnSpc>
              <a:buNone/>
            </a:pPr>
            <a:r>
              <a:rPr lang="en-US" sz="3400" dirty="0">
                <a:solidFill>
                  <a:srgbClr val="6B6862"/>
                </a:solidFill>
                <a:latin typeface="Arial Black" pitchFamily="34" charset="0"/>
                <a:ea typeface="Arial Black" pitchFamily="34" charset="-122"/>
                <a:cs typeface="Arial Black" pitchFamily="34" charset="-120"/>
              </a:rPr>
              <a:t>Here’s what survived.</a:t>
            </a:r>
            <a:endParaRPr lang="en-US" sz="3400" dirty="0"/>
          </a:p>
        </p:txBody>
      </p:sp>
      <p:sp>
        <p:nvSpPr>
          <p:cNvPr id="8" name="Shape 6"/>
          <p:cNvSpPr/>
          <p:nvPr/>
        </p:nvSpPr>
        <p:spPr>
          <a:xfrm>
            <a:off x="548640" y="2240280"/>
            <a:ext cx="5440680" cy="1828800"/>
          </a:xfrm>
          <a:prstGeom prst="rect">
            <a:avLst/>
          </a:prstGeom>
          <a:solidFill>
            <a:srgbClr val="111111"/>
          </a:solidFill>
          <a:ln/>
        </p:spPr>
      </p:sp>
      <p:sp>
        <p:nvSpPr>
          <p:cNvPr id="9" name="Text 7"/>
          <p:cNvSpPr txBox="1"/>
          <p:nvPr/>
        </p:nvSpPr>
        <p:spPr>
          <a:xfrm>
            <a:off x="822960" y="2441448"/>
            <a:ext cx="4892040" cy="411480"/>
          </a:xfrm>
          <a:prstGeom prst="rect">
            <a:avLst/>
          </a:prstGeom>
          <a:noFill/>
          <a:ln/>
        </p:spPr>
        <p:txBody>
          <a:bodyPr wrap="square" lIns="0" tIns="0" rIns="0" bIns="0" rtlCol="0" anchor="ctr"/>
          <a:lstStyle/>
          <a:p>
            <a:pPr indent="0" marL="0">
              <a:buNone/>
            </a:pPr>
            <a:r>
              <a:rPr lang="en-US" sz="1600" b="1" i="1" dirty="0">
                <a:solidFill>
                  <a:srgbClr val="8FA1FF"/>
                </a:solidFill>
                <a:latin typeface="Georgia" pitchFamily="34" charset="0"/>
                <a:ea typeface="Georgia" pitchFamily="34" charset="-122"/>
                <a:cs typeface="Georgia" pitchFamily="34" charset="-120"/>
              </a:rPr>
              <a:t>“Can it detect lead or arsenic?”</a:t>
            </a:r>
            <a:endParaRPr lang="en-US" sz="1600" dirty="0"/>
          </a:p>
        </p:txBody>
      </p:sp>
      <p:sp>
        <p:nvSpPr>
          <p:cNvPr id="10" name="Text 8"/>
          <p:cNvSpPr txBox="1"/>
          <p:nvPr/>
        </p:nvSpPr>
        <p:spPr>
          <a:xfrm>
            <a:off x="822960" y="2953512"/>
            <a:ext cx="4892040" cy="1005840"/>
          </a:xfrm>
          <a:prstGeom prst="rect">
            <a:avLst/>
          </a:prstGeom>
          <a:noFill/>
          <a:ln/>
        </p:spPr>
        <p:txBody>
          <a:bodyPr wrap="square" lIns="0" tIns="0" rIns="0" bIns="0" rtlCol="0" anchor="t"/>
          <a:lstStyle/>
          <a:p>
            <a:pPr indent="0" marL="0">
              <a:buNone/>
            </a:pPr>
            <a:r>
              <a:rPr lang="en-US" sz="1200" dirty="0">
                <a:solidFill>
                  <a:srgbClr val="E0DCD4"/>
                </a:solidFill>
                <a:latin typeface="Arial" pitchFamily="34" charset="0"/>
                <a:ea typeface="Arial" pitchFamily="34" charset="-122"/>
                <a:cs typeface="Arial" pitchFamily="34" charset="-120"/>
              </a:rPr>
              <a:t>Not today, and we won’t pretend. The lead limit is 10 ppb, about 0.003 AU in a 10 mm cell, below a phone’s noise floor. It stays on the research track (pre-concentration), simulated and labelled.</a:t>
            </a:r>
            <a:endParaRPr lang="en-US" sz="1200" dirty="0"/>
          </a:p>
        </p:txBody>
      </p:sp>
      <p:sp>
        <p:nvSpPr>
          <p:cNvPr id="11" name="Shape 9"/>
          <p:cNvSpPr/>
          <p:nvPr/>
        </p:nvSpPr>
        <p:spPr>
          <a:xfrm>
            <a:off x="6190488" y="2240280"/>
            <a:ext cx="5440680" cy="1828800"/>
          </a:xfrm>
          <a:prstGeom prst="rect">
            <a:avLst/>
          </a:prstGeom>
          <a:ln w="12700">
            <a:solidFill>
              <a:srgbClr val="111111"/>
            </a:solidFill>
            <a:prstDash val="solid"/>
          </a:ln>
        </p:spPr>
      </p:sp>
      <p:sp>
        <p:nvSpPr>
          <p:cNvPr id="12" name="Text 10"/>
          <p:cNvSpPr txBox="1"/>
          <p:nvPr/>
        </p:nvSpPr>
        <p:spPr>
          <a:xfrm>
            <a:off x="6464808" y="2441448"/>
            <a:ext cx="4892040" cy="411480"/>
          </a:xfrm>
          <a:prstGeom prst="rect">
            <a:avLst/>
          </a:prstGeom>
          <a:noFill/>
          <a:ln/>
        </p:spPr>
        <p:txBody>
          <a:bodyPr wrap="square" lIns="0" tIns="0" rIns="0" bIns="0" rtlCol="0" anchor="ctr"/>
          <a:lstStyle/>
          <a:p>
            <a:pPr indent="0" marL="0">
              <a:buNone/>
            </a:pPr>
            <a:r>
              <a:rPr lang="en-US" sz="1600" b="1" i="1" dirty="0">
                <a:solidFill>
                  <a:srgbClr val="1F3AE0"/>
                </a:solidFill>
                <a:latin typeface="Georgia" pitchFamily="34" charset="0"/>
                <a:ea typeface="Georgia" pitchFamily="34" charset="-122"/>
                <a:cs typeface="Georgia" pitchFamily="34" charset="-120"/>
              </a:rPr>
              <a:t>“Isn’t this a DVD taped over a camera?”</a:t>
            </a:r>
            <a:endParaRPr lang="en-US" sz="1600" dirty="0"/>
          </a:p>
        </p:txBody>
      </p:sp>
      <p:sp>
        <p:nvSpPr>
          <p:cNvPr id="13" name="Text 11"/>
          <p:cNvSpPr txBox="1"/>
          <p:nvPr/>
        </p:nvSpPr>
        <p:spPr>
          <a:xfrm>
            <a:off x="6464808" y="2953512"/>
            <a:ext cx="4892040" cy="1005840"/>
          </a:xfrm>
          <a:prstGeom prst="rect">
            <a:avLst/>
          </a:prstGeom>
          <a:noFill/>
          <a:ln/>
        </p:spPr>
        <p:txBody>
          <a:bodyPr wrap="square" lIns="0" tIns="0" rIns="0" bIns="0" rtlCol="0" anchor="t"/>
          <a:lstStyle/>
          <a:p>
            <a:pPr indent="0" marL="0">
              <a:buNone/>
            </a:pPr>
            <a:r>
              <a:rPr lang="en-US" sz="1200" dirty="0">
                <a:solidFill>
                  <a:srgbClr val="111111"/>
                </a:solidFill>
                <a:latin typeface="Arial" pitchFamily="34" charset="0"/>
                <a:ea typeface="Arial" pitchFamily="34" charset="-122"/>
                <a:cs typeface="Arial" pitchFamily="34" charset="-120"/>
              </a:rPr>
              <a:t>The optics are 200 years old. The instrument is the software: CFL λ-registration, sub-pixel alignment, dual blanks, CV model selection, OOD refusal.</a:t>
            </a:r>
            <a:endParaRPr lang="en-US" sz="1200" dirty="0"/>
          </a:p>
        </p:txBody>
      </p:sp>
      <p:sp>
        <p:nvSpPr>
          <p:cNvPr id="14" name="Shape 12"/>
          <p:cNvSpPr/>
          <p:nvPr/>
        </p:nvSpPr>
        <p:spPr>
          <a:xfrm>
            <a:off x="548640" y="4251960"/>
            <a:ext cx="5440680" cy="1828800"/>
          </a:xfrm>
          <a:prstGeom prst="rect">
            <a:avLst/>
          </a:prstGeom>
          <a:ln w="12700">
            <a:solidFill>
              <a:srgbClr val="111111"/>
            </a:solidFill>
            <a:prstDash val="solid"/>
          </a:ln>
        </p:spPr>
      </p:sp>
      <p:sp>
        <p:nvSpPr>
          <p:cNvPr id="15" name="Text 13"/>
          <p:cNvSpPr txBox="1"/>
          <p:nvPr/>
        </p:nvSpPr>
        <p:spPr>
          <a:xfrm>
            <a:off x="822960" y="4453128"/>
            <a:ext cx="4892040" cy="411480"/>
          </a:xfrm>
          <a:prstGeom prst="rect">
            <a:avLst/>
          </a:prstGeom>
          <a:noFill/>
          <a:ln/>
        </p:spPr>
        <p:txBody>
          <a:bodyPr wrap="square" lIns="0" tIns="0" rIns="0" bIns="0" rtlCol="0" anchor="ctr"/>
          <a:lstStyle/>
          <a:p>
            <a:pPr indent="0" marL="0">
              <a:buNone/>
            </a:pPr>
            <a:r>
              <a:rPr lang="en-US" sz="1600" b="1" i="1" dirty="0">
                <a:solidFill>
                  <a:srgbClr val="1F3AE0"/>
                </a:solidFill>
                <a:latin typeface="Georgia" pitchFamily="34" charset="0"/>
                <a:ea typeface="Georgia" pitchFamily="34" charset="-122"/>
                <a:cs typeface="Georgia" pitchFamily="34" charset="-120"/>
              </a:rPr>
              <a:t>“Phones auto-edit colour.”</a:t>
            </a:r>
            <a:endParaRPr lang="en-US" sz="1600" dirty="0"/>
          </a:p>
        </p:txBody>
      </p:sp>
      <p:sp>
        <p:nvSpPr>
          <p:cNvPr id="16" name="Text 14"/>
          <p:cNvSpPr txBox="1"/>
          <p:nvPr/>
        </p:nvSpPr>
        <p:spPr>
          <a:xfrm>
            <a:off x="822960" y="4965192"/>
            <a:ext cx="4892040" cy="1005840"/>
          </a:xfrm>
          <a:prstGeom prst="rect">
            <a:avLst/>
          </a:prstGeom>
          <a:noFill/>
          <a:ln/>
        </p:spPr>
        <p:txBody>
          <a:bodyPr wrap="square" lIns="0" tIns="0" rIns="0" bIns="0" rtlCol="0" anchor="t"/>
          <a:lstStyle/>
          <a:p>
            <a:pPr indent="0" marL="0">
              <a:buNone/>
            </a:pPr>
            <a:r>
              <a:rPr lang="en-US" sz="1200" dirty="0">
                <a:solidFill>
                  <a:srgbClr val="111111"/>
                </a:solidFill>
                <a:latin typeface="Arial" pitchFamily="34" charset="0"/>
                <a:ea typeface="Arial" pitchFamily="34" charset="-122"/>
                <a:cs typeface="Arial" pitchFamily="34" charset="-120"/>
              </a:rPr>
              <a:t>We lock exposure, ISO, focus and white balance, then fingerprint each phone. Feng et al. took cross-device R² from 0.42–0.64 to 0.91–0.97 this way.</a:t>
            </a:r>
            <a:endParaRPr lang="en-US" sz="1200" dirty="0"/>
          </a:p>
        </p:txBody>
      </p:sp>
      <p:sp>
        <p:nvSpPr>
          <p:cNvPr id="17" name="Shape 15"/>
          <p:cNvSpPr/>
          <p:nvPr/>
        </p:nvSpPr>
        <p:spPr>
          <a:xfrm>
            <a:off x="6190488" y="4251960"/>
            <a:ext cx="5440680" cy="1828800"/>
          </a:xfrm>
          <a:prstGeom prst="rect">
            <a:avLst/>
          </a:prstGeom>
          <a:ln w="12700">
            <a:solidFill>
              <a:srgbClr val="111111"/>
            </a:solidFill>
            <a:prstDash val="solid"/>
          </a:ln>
        </p:spPr>
      </p:sp>
      <p:sp>
        <p:nvSpPr>
          <p:cNvPr id="18" name="Text 16"/>
          <p:cNvSpPr txBox="1"/>
          <p:nvPr/>
        </p:nvSpPr>
        <p:spPr>
          <a:xfrm>
            <a:off x="6464808" y="4453128"/>
            <a:ext cx="4892040" cy="411480"/>
          </a:xfrm>
          <a:prstGeom prst="rect">
            <a:avLst/>
          </a:prstGeom>
          <a:noFill/>
          <a:ln/>
        </p:spPr>
        <p:txBody>
          <a:bodyPr wrap="square" lIns="0" tIns="0" rIns="0" bIns="0" rtlCol="0" anchor="ctr"/>
          <a:lstStyle/>
          <a:p>
            <a:pPr indent="0" marL="0">
              <a:buNone/>
            </a:pPr>
            <a:r>
              <a:rPr lang="en-US" sz="1600" b="1" i="1" dirty="0">
                <a:solidFill>
                  <a:srgbClr val="1F3AE0"/>
                </a:solidFill>
                <a:latin typeface="Georgia" pitchFamily="34" charset="0"/>
                <a:ea typeface="Georgia" pitchFamily="34" charset="-122"/>
                <a:cs typeface="Georgia" pitchFamily="34" charset="-120"/>
              </a:rPr>
              <a:t>“Sulfuric acid in a village?”</a:t>
            </a:r>
            <a:endParaRPr lang="en-US" sz="1600" dirty="0"/>
          </a:p>
        </p:txBody>
      </p:sp>
      <p:sp>
        <p:nvSpPr>
          <p:cNvPr id="19" name="Text 17"/>
          <p:cNvSpPr txBox="1"/>
          <p:nvPr/>
        </p:nvSpPr>
        <p:spPr>
          <a:xfrm>
            <a:off x="6464808" y="4965192"/>
            <a:ext cx="4892040" cy="1005840"/>
          </a:xfrm>
          <a:prstGeom prst="rect">
            <a:avLst/>
          </a:prstGeom>
          <a:noFill/>
          <a:ln/>
        </p:spPr>
        <p:txBody>
          <a:bodyPr wrap="square" lIns="0" tIns="0" rIns="0" bIns="0" rtlCol="0" anchor="t"/>
          <a:lstStyle/>
          <a:p>
            <a:pPr indent="0" marL="0">
              <a:buNone/>
            </a:pPr>
            <a:r>
              <a:rPr lang="en-US" sz="1200" dirty="0">
                <a:solidFill>
                  <a:srgbClr val="111111"/>
                </a:solidFill>
                <a:latin typeface="Arial" pitchFamily="34" charset="0"/>
                <a:ea typeface="Arial" pitchFamily="34" charset="-122"/>
                <a:cs typeface="Arial" pitchFamily="34" charset="-120"/>
              </a:rPr>
              <a:t>On stage, cuvettes are sealed and pre-reacted. In production, dry-powder blister pods like the kits 24.8 lakh women already use safely.</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5486400" cy="274320"/>
          </a:xfrm>
          <a:prstGeom prst="rect">
            <a:avLst/>
          </a:prstGeom>
          <a:noFill/>
          <a:ln/>
        </p:spPr>
        <p:txBody>
          <a:bodyPr wrap="square" lIns="0" tIns="0" rIns="0" bIns="0" rtlCol="0" anchor="ctr"/>
          <a:lstStyle/>
          <a:p>
            <a:pPr indent="0" marL="0">
              <a:buNone/>
            </a:pPr>
            <a:r>
              <a:rPr lang="en-US" sz="1000" b="1" spc="200" kern="0" dirty="0">
                <a:solidFill>
                  <a:srgbClr val="111111"/>
                </a:solidFill>
                <a:latin typeface="Courier New" pitchFamily="34" charset="0"/>
                <a:ea typeface="Courier New" pitchFamily="34" charset="-122"/>
                <a:cs typeface="Courier New" pitchFamily="34" charset="-120"/>
              </a:rPr>
              <a:t>23 — TEAM + ASK</a:t>
            </a:r>
            <a:endParaRPr lang="en-US" sz="1000" dirty="0"/>
          </a:p>
        </p:txBody>
      </p:sp>
      <p:sp>
        <p:nvSpPr>
          <p:cNvPr id="3" name="Text 1"/>
          <p:cNvSpPr txBox="1"/>
          <p:nvPr/>
        </p:nvSpPr>
        <p:spPr>
          <a:xfrm>
            <a:off x="6156655" y="292608"/>
            <a:ext cx="5486400" cy="274320"/>
          </a:xfrm>
          <a:prstGeom prst="rect">
            <a:avLst/>
          </a:prstGeom>
          <a:noFill/>
          <a:ln/>
        </p:spPr>
        <p:txBody>
          <a:bodyPr wrap="square" lIns="0" tIns="0" rIns="0" bIns="0" rtlCol="0" anchor="ctr"/>
          <a:lstStyle/>
          <a:p>
            <a:pPr algn="r" indent="0" marL="0">
              <a:buNone/>
            </a:pPr>
            <a:r>
              <a:rPr lang="en-US" sz="900" spc="200" kern="0" dirty="0">
                <a:solidFill>
                  <a:srgbClr val="6B6862"/>
                </a:solidFill>
                <a:latin typeface="Courier New" pitchFamily="34" charset="0"/>
                <a:ea typeface="Courier New" pitchFamily="34" charset="-122"/>
                <a:cs typeface="Courier New" pitchFamily="34" charset="-120"/>
              </a:rPr>
              <a:t>LISA  /  ASHOKA STARTUP CHALLENGE 2026</a:t>
            </a:r>
            <a:endParaRPr lang="en-US" sz="900" dirty="0"/>
          </a:p>
        </p:txBody>
      </p:sp>
      <p:sp>
        <p:nvSpPr>
          <p:cNvPr id="4"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900" dirty="0">
                <a:solidFill>
                  <a:srgbClr val="6B6862"/>
                </a:solidFill>
                <a:latin typeface="Courier New" pitchFamily="34" charset="0"/>
                <a:ea typeface="Courier New" pitchFamily="34" charset="-122"/>
                <a:cs typeface="Courier New" pitchFamily="34" charset="-120"/>
              </a:rPr>
              <a:t>23 / 24</a:t>
            </a:r>
            <a:endParaRPr lang="en-US" sz="900" dirty="0"/>
          </a:p>
        </p:txBody>
      </p:sp>
      <p:sp>
        <p:nvSpPr>
          <p:cNvPr id="5" name="Shape 3"/>
          <p:cNvSpPr/>
          <p:nvPr/>
        </p:nvSpPr>
        <p:spPr>
          <a:xfrm>
            <a:off x="210312" y="6583680"/>
            <a:ext cx="164592" cy="0"/>
          </a:xfrm>
          <a:prstGeom prst="line">
            <a:avLst/>
          </a:prstGeom>
          <a:noFill/>
          <a:ln w="9525">
            <a:solidFill>
              <a:srgbClr val="111111"/>
            </a:solidFill>
            <a:prstDash val="solid"/>
          </a:ln>
        </p:spPr>
      </p:sp>
      <p:sp>
        <p:nvSpPr>
          <p:cNvPr id="6" name="Shape 4"/>
          <p:cNvSpPr/>
          <p:nvPr/>
        </p:nvSpPr>
        <p:spPr>
          <a:xfrm>
            <a:off x="292608" y="6501384"/>
            <a:ext cx="0" cy="164592"/>
          </a:xfrm>
          <a:prstGeom prst="line">
            <a:avLst/>
          </a:prstGeom>
          <a:noFill/>
          <a:ln w="9525">
            <a:solidFill>
              <a:srgbClr val="111111"/>
            </a:solidFill>
            <a:prstDash val="solid"/>
          </a:ln>
        </p:spPr>
      </p:sp>
      <p:sp>
        <p:nvSpPr>
          <p:cNvPr id="7" name="Text 5"/>
          <p:cNvSpPr txBox="1"/>
          <p:nvPr/>
        </p:nvSpPr>
        <p:spPr>
          <a:xfrm>
            <a:off x="548640" y="685800"/>
            <a:ext cx="10515600" cy="1280160"/>
          </a:xfrm>
          <a:prstGeom prst="rect">
            <a:avLst/>
          </a:prstGeom>
          <a:noFill/>
          <a:ln/>
        </p:spPr>
        <p:txBody>
          <a:bodyPr wrap="square" lIns="0" tIns="0" rIns="0" bIns="0" rtlCol="0" anchor="t"/>
          <a:lstStyle/>
          <a:p>
            <a:pPr indent="0" marL="0">
              <a:lnSpc>
                <a:spcPct val="92000"/>
              </a:lnSpc>
              <a:buNone/>
            </a:pPr>
            <a:r>
              <a:rPr lang="en-US" sz="3400" dirty="0">
                <a:solidFill>
                  <a:srgbClr val="111111"/>
                </a:solidFill>
                <a:latin typeface="Arial Black" pitchFamily="34" charset="0"/>
                <a:ea typeface="Arial Black" pitchFamily="34" charset="-122"/>
                <a:cs typeface="Arial Black" pitchFamily="34" charset="-120"/>
              </a:rPr>
              <a:t>Built in 24 hours.</a:t>
            </a:r>
            <a:pPr indent="0" marL="0">
              <a:lnSpc>
                <a:spcPct val="92000"/>
              </a:lnSpc>
              <a:buNone/>
            </a:pPr>
            <a:endParaRPr lang="en-US" sz="3400" dirty="0"/>
          </a:p>
          <a:p>
            <a:pPr indent="0" marL="0">
              <a:lnSpc>
                <a:spcPct val="92000"/>
              </a:lnSpc>
              <a:buNone/>
            </a:pPr>
            <a:r>
              <a:rPr lang="en-US" sz="3400" dirty="0">
                <a:solidFill>
                  <a:srgbClr val="1F3AE0"/>
                </a:solidFill>
                <a:latin typeface="Arial Black" pitchFamily="34" charset="0"/>
                <a:ea typeface="Arial Black" pitchFamily="34" charset="-122"/>
                <a:cs typeface="Arial Black" pitchFamily="34" charset="-120"/>
              </a:rPr>
              <a:t>Ready for 24 lakh hands.</a:t>
            </a:r>
            <a:endParaRPr lang="en-US" sz="3400" dirty="0"/>
          </a:p>
        </p:txBody>
      </p:sp>
      <p:sp>
        <p:nvSpPr>
          <p:cNvPr id="8" name="Shape 6"/>
          <p:cNvSpPr/>
          <p:nvPr/>
        </p:nvSpPr>
        <p:spPr>
          <a:xfrm>
            <a:off x="548640" y="2286000"/>
            <a:ext cx="1371600" cy="2834640"/>
          </a:xfrm>
          <a:prstGeom prst="rect">
            <a:avLst/>
          </a:prstGeom>
          <a:ln w="12700">
            <a:solidFill>
              <a:srgbClr val="111111"/>
            </a:solidFill>
            <a:prstDash val="solid"/>
          </a:ln>
        </p:spPr>
      </p:sp>
      <p:sp>
        <p:nvSpPr>
          <p:cNvPr id="9" name="Shape 7"/>
          <p:cNvSpPr/>
          <p:nvPr/>
        </p:nvSpPr>
        <p:spPr>
          <a:xfrm>
            <a:off x="685800" y="2423160"/>
            <a:ext cx="1097280" cy="1097280"/>
          </a:xfrm>
          <a:prstGeom prst="rect">
            <a:avLst/>
          </a:prstGeom>
          <a:solidFill>
            <a:srgbClr val="DAD6CE"/>
          </a:solidFill>
          <a:ln/>
        </p:spPr>
      </p:sp>
      <p:sp>
        <p:nvSpPr>
          <p:cNvPr id="10" name="Text 8"/>
          <p:cNvSpPr txBox="1"/>
          <p:nvPr/>
        </p:nvSpPr>
        <p:spPr>
          <a:xfrm>
            <a:off x="685800" y="2423160"/>
            <a:ext cx="1097280" cy="1097280"/>
          </a:xfrm>
          <a:prstGeom prst="rect">
            <a:avLst/>
          </a:prstGeom>
          <a:noFill/>
          <a:ln/>
        </p:spPr>
        <p:txBody>
          <a:bodyPr wrap="square" lIns="0" tIns="0" rIns="0" bIns="0" rtlCol="0" anchor="ctr"/>
          <a:lstStyle/>
          <a:p>
            <a:pPr algn="ctr" indent="0" marL="0">
              <a:buNone/>
            </a:pPr>
            <a:r>
              <a:rPr lang="en-US" sz="3600" dirty="0">
                <a:solidFill>
                  <a:srgbClr val="111111"/>
                </a:solidFill>
                <a:latin typeface="Arial Black" pitchFamily="34" charset="0"/>
                <a:ea typeface="Arial Black" pitchFamily="34" charset="-122"/>
                <a:cs typeface="Arial Black" pitchFamily="34" charset="-120"/>
              </a:rPr>
              <a:t>Y</a:t>
            </a:r>
            <a:endParaRPr lang="en-US" sz="3600" dirty="0"/>
          </a:p>
        </p:txBody>
      </p:sp>
      <p:sp>
        <p:nvSpPr>
          <p:cNvPr id="11" name="Text 9"/>
          <p:cNvSpPr txBox="1"/>
          <p:nvPr/>
        </p:nvSpPr>
        <p:spPr>
          <a:xfrm>
            <a:off x="685800" y="3657600"/>
            <a:ext cx="1188720" cy="274320"/>
          </a:xfrm>
          <a:prstGeom prst="rect">
            <a:avLst/>
          </a:prstGeom>
          <a:noFill/>
          <a:ln/>
        </p:spPr>
        <p:txBody>
          <a:bodyPr wrap="square" lIns="0" tIns="0" rIns="0" bIns="0" rtlCol="0" anchor="ctr"/>
          <a:lstStyle/>
          <a:p>
            <a:pPr indent="0" marL="0">
              <a:buNone/>
            </a:pPr>
            <a:r>
              <a:rPr lang="en-US" sz="1050" b="1" spc="100" kern="0" dirty="0">
                <a:solidFill>
                  <a:srgbClr val="111111"/>
                </a:solidFill>
                <a:latin typeface="Courier New" pitchFamily="34" charset="0"/>
                <a:ea typeface="Courier New" pitchFamily="34" charset="-122"/>
                <a:cs typeface="Courier New" pitchFamily="34" charset="-120"/>
              </a:rPr>
              <a:t>YASH</a:t>
            </a:r>
            <a:endParaRPr lang="en-US" sz="1050" dirty="0"/>
          </a:p>
        </p:txBody>
      </p:sp>
      <p:sp>
        <p:nvSpPr>
          <p:cNvPr id="12" name="Text 10"/>
          <p:cNvSpPr txBox="1"/>
          <p:nvPr/>
        </p:nvSpPr>
        <p:spPr>
          <a:xfrm>
            <a:off x="685800" y="3950208"/>
            <a:ext cx="1188720" cy="411480"/>
          </a:xfrm>
          <a:prstGeom prst="rect">
            <a:avLst/>
          </a:prstGeom>
          <a:noFill/>
          <a:ln/>
        </p:spPr>
        <p:txBody>
          <a:bodyPr wrap="square" lIns="0" tIns="0" rIns="0" bIns="0" rtlCol="0" anchor="t"/>
          <a:lstStyle/>
          <a:p>
            <a:pPr indent="0" marL="0">
              <a:buNone/>
            </a:pPr>
            <a:r>
              <a:rPr lang="en-US" sz="1050" b="1" dirty="0">
                <a:solidFill>
                  <a:srgbClr val="1F3AE0"/>
                </a:solidFill>
                <a:latin typeface="Arial" pitchFamily="34" charset="0"/>
                <a:ea typeface="Arial" pitchFamily="34" charset="-122"/>
                <a:cs typeface="Arial" pitchFamily="34" charset="-120"/>
              </a:rPr>
              <a:t>Systems &amp; code</a:t>
            </a:r>
            <a:endParaRPr lang="en-US" sz="1050" dirty="0"/>
          </a:p>
        </p:txBody>
      </p:sp>
      <p:sp>
        <p:nvSpPr>
          <p:cNvPr id="13" name="Text 11"/>
          <p:cNvSpPr txBox="1"/>
          <p:nvPr/>
        </p:nvSpPr>
        <p:spPr>
          <a:xfrm>
            <a:off x="685800" y="4389120"/>
            <a:ext cx="1170432" cy="685800"/>
          </a:xfrm>
          <a:prstGeom prst="rect">
            <a:avLst/>
          </a:prstGeom>
          <a:noFill/>
          <a:ln/>
        </p:spPr>
        <p:txBody>
          <a:bodyPr wrap="square" lIns="0" tIns="0" rIns="0" bIns="0" rtlCol="0" anchor="t"/>
          <a:lstStyle/>
          <a:p>
            <a:pPr indent="0" marL="0">
              <a:buNone/>
            </a:pPr>
            <a:r>
              <a:rPr lang="en-US" sz="900" dirty="0">
                <a:solidFill>
                  <a:srgbClr val="6B6862"/>
                </a:solidFill>
                <a:latin typeface="Arial" pitchFamily="34" charset="0"/>
                <a:ea typeface="Arial" pitchFamily="34" charset="-122"/>
                <a:cs typeface="Arial" pitchFamily="34" charset="-120"/>
              </a:rPr>
              <a:t>Optics DSP, ML engine, live demo</a:t>
            </a:r>
            <a:endParaRPr lang="en-US" sz="900" dirty="0"/>
          </a:p>
        </p:txBody>
      </p:sp>
      <p:sp>
        <p:nvSpPr>
          <p:cNvPr id="14" name="Shape 12"/>
          <p:cNvSpPr/>
          <p:nvPr/>
        </p:nvSpPr>
        <p:spPr>
          <a:xfrm>
            <a:off x="2029968" y="2286000"/>
            <a:ext cx="1371600" cy="2834640"/>
          </a:xfrm>
          <a:prstGeom prst="rect">
            <a:avLst/>
          </a:prstGeom>
          <a:ln w="12700">
            <a:solidFill>
              <a:srgbClr val="111111"/>
            </a:solidFill>
            <a:prstDash val="solid"/>
          </a:ln>
        </p:spPr>
      </p:sp>
      <p:sp>
        <p:nvSpPr>
          <p:cNvPr id="15" name="Shape 13"/>
          <p:cNvSpPr/>
          <p:nvPr/>
        </p:nvSpPr>
        <p:spPr>
          <a:xfrm>
            <a:off x="2167128" y="2423160"/>
            <a:ext cx="1097280" cy="1097280"/>
          </a:xfrm>
          <a:prstGeom prst="rect">
            <a:avLst/>
          </a:prstGeom>
          <a:solidFill>
            <a:srgbClr val="DAD6CE"/>
          </a:solidFill>
          <a:ln/>
        </p:spPr>
      </p:sp>
      <p:sp>
        <p:nvSpPr>
          <p:cNvPr id="16" name="Text 14"/>
          <p:cNvSpPr txBox="1"/>
          <p:nvPr/>
        </p:nvSpPr>
        <p:spPr>
          <a:xfrm>
            <a:off x="2167128" y="2423160"/>
            <a:ext cx="1097280" cy="1097280"/>
          </a:xfrm>
          <a:prstGeom prst="rect">
            <a:avLst/>
          </a:prstGeom>
          <a:noFill/>
          <a:ln/>
        </p:spPr>
        <p:txBody>
          <a:bodyPr wrap="square" lIns="0" tIns="0" rIns="0" bIns="0" rtlCol="0" anchor="ctr"/>
          <a:lstStyle/>
          <a:p>
            <a:pPr algn="ctr" indent="0" marL="0">
              <a:buNone/>
            </a:pPr>
            <a:r>
              <a:rPr lang="en-US" sz="3600" dirty="0">
                <a:solidFill>
                  <a:srgbClr val="111111"/>
                </a:solidFill>
                <a:latin typeface="Arial Black" pitchFamily="34" charset="0"/>
                <a:ea typeface="Arial Black" pitchFamily="34" charset="-122"/>
                <a:cs typeface="Arial Black" pitchFamily="34" charset="-120"/>
              </a:rPr>
              <a:t>R</a:t>
            </a:r>
            <a:endParaRPr lang="en-US" sz="3600" dirty="0"/>
          </a:p>
        </p:txBody>
      </p:sp>
      <p:sp>
        <p:nvSpPr>
          <p:cNvPr id="17" name="Text 15"/>
          <p:cNvSpPr txBox="1"/>
          <p:nvPr/>
        </p:nvSpPr>
        <p:spPr>
          <a:xfrm>
            <a:off x="2167128" y="3657600"/>
            <a:ext cx="1188720" cy="274320"/>
          </a:xfrm>
          <a:prstGeom prst="rect">
            <a:avLst/>
          </a:prstGeom>
          <a:noFill/>
          <a:ln/>
        </p:spPr>
        <p:txBody>
          <a:bodyPr wrap="square" lIns="0" tIns="0" rIns="0" bIns="0" rtlCol="0" anchor="ctr"/>
          <a:lstStyle/>
          <a:p>
            <a:pPr indent="0" marL="0">
              <a:buNone/>
            </a:pPr>
            <a:r>
              <a:rPr lang="en-US" sz="1050" b="1" spc="100" kern="0" dirty="0">
                <a:solidFill>
                  <a:srgbClr val="111111"/>
                </a:solidFill>
                <a:latin typeface="Courier New" pitchFamily="34" charset="0"/>
                <a:ea typeface="Courier New" pitchFamily="34" charset="-122"/>
                <a:cs typeface="Courier New" pitchFamily="34" charset="-120"/>
              </a:rPr>
              <a:t>RAJ</a:t>
            </a:r>
            <a:endParaRPr lang="en-US" sz="1050" dirty="0"/>
          </a:p>
        </p:txBody>
      </p:sp>
      <p:sp>
        <p:nvSpPr>
          <p:cNvPr id="18" name="Text 16"/>
          <p:cNvSpPr txBox="1"/>
          <p:nvPr/>
        </p:nvSpPr>
        <p:spPr>
          <a:xfrm>
            <a:off x="2167128" y="3950208"/>
            <a:ext cx="1188720" cy="411480"/>
          </a:xfrm>
          <a:prstGeom prst="rect">
            <a:avLst/>
          </a:prstGeom>
          <a:noFill/>
          <a:ln/>
        </p:spPr>
        <p:txBody>
          <a:bodyPr wrap="square" lIns="0" tIns="0" rIns="0" bIns="0" rtlCol="0" anchor="t"/>
          <a:lstStyle/>
          <a:p>
            <a:pPr indent="0" marL="0">
              <a:buNone/>
            </a:pPr>
            <a:r>
              <a:rPr lang="en-US" sz="1050" b="1" dirty="0">
                <a:solidFill>
                  <a:srgbClr val="1F3AE0"/>
                </a:solidFill>
                <a:latin typeface="Arial" pitchFamily="34" charset="0"/>
                <a:ea typeface="Arial" pitchFamily="34" charset="-122"/>
                <a:cs typeface="Arial" pitchFamily="34" charset="-120"/>
              </a:rPr>
              <a:t>Analytical chemistry</a:t>
            </a:r>
            <a:endParaRPr lang="en-US" sz="1050" dirty="0"/>
          </a:p>
        </p:txBody>
      </p:sp>
      <p:sp>
        <p:nvSpPr>
          <p:cNvPr id="19" name="Text 17"/>
          <p:cNvSpPr txBox="1"/>
          <p:nvPr/>
        </p:nvSpPr>
        <p:spPr>
          <a:xfrm>
            <a:off x="2167128" y="4389120"/>
            <a:ext cx="1170432" cy="685800"/>
          </a:xfrm>
          <a:prstGeom prst="rect">
            <a:avLst/>
          </a:prstGeom>
          <a:noFill/>
          <a:ln/>
        </p:spPr>
        <p:txBody>
          <a:bodyPr wrap="square" lIns="0" tIns="0" rIns="0" bIns="0" rtlCol="0" anchor="t"/>
          <a:lstStyle/>
          <a:p>
            <a:pPr indent="0" marL="0">
              <a:buNone/>
            </a:pPr>
            <a:r>
              <a:rPr lang="en-US" sz="900" dirty="0">
                <a:solidFill>
                  <a:srgbClr val="6B6862"/>
                </a:solidFill>
                <a:latin typeface="Arial" pitchFamily="34" charset="0"/>
                <a:ea typeface="Arial" pitchFamily="34" charset="-122"/>
                <a:cs typeface="Arial" pitchFamily="34" charset="-120"/>
              </a:rPr>
              <a:t>Reagents, Beer’s law, LOD/LOQ, safety</a:t>
            </a:r>
            <a:endParaRPr lang="en-US" sz="900" dirty="0"/>
          </a:p>
        </p:txBody>
      </p:sp>
      <p:sp>
        <p:nvSpPr>
          <p:cNvPr id="20" name="Shape 18"/>
          <p:cNvSpPr/>
          <p:nvPr/>
        </p:nvSpPr>
        <p:spPr>
          <a:xfrm>
            <a:off x="3511296" y="2286000"/>
            <a:ext cx="1371600" cy="2834640"/>
          </a:xfrm>
          <a:prstGeom prst="rect">
            <a:avLst/>
          </a:prstGeom>
          <a:ln w="12700">
            <a:solidFill>
              <a:srgbClr val="111111"/>
            </a:solidFill>
            <a:prstDash val="solid"/>
          </a:ln>
        </p:spPr>
      </p:sp>
      <p:sp>
        <p:nvSpPr>
          <p:cNvPr id="21" name="Shape 19"/>
          <p:cNvSpPr/>
          <p:nvPr/>
        </p:nvSpPr>
        <p:spPr>
          <a:xfrm>
            <a:off x="3648456" y="2423160"/>
            <a:ext cx="1097280" cy="1097280"/>
          </a:xfrm>
          <a:prstGeom prst="rect">
            <a:avLst/>
          </a:prstGeom>
          <a:solidFill>
            <a:srgbClr val="DAD6CE"/>
          </a:solidFill>
          <a:ln/>
        </p:spPr>
      </p:sp>
      <p:sp>
        <p:nvSpPr>
          <p:cNvPr id="22" name="Text 20"/>
          <p:cNvSpPr txBox="1"/>
          <p:nvPr/>
        </p:nvSpPr>
        <p:spPr>
          <a:xfrm>
            <a:off x="3648456" y="2423160"/>
            <a:ext cx="1097280" cy="1097280"/>
          </a:xfrm>
          <a:prstGeom prst="rect">
            <a:avLst/>
          </a:prstGeom>
          <a:noFill/>
          <a:ln/>
        </p:spPr>
        <p:txBody>
          <a:bodyPr wrap="square" lIns="0" tIns="0" rIns="0" bIns="0" rtlCol="0" anchor="ctr"/>
          <a:lstStyle/>
          <a:p>
            <a:pPr algn="ctr" indent="0" marL="0">
              <a:buNone/>
            </a:pPr>
            <a:r>
              <a:rPr lang="en-US" sz="3600" dirty="0">
                <a:solidFill>
                  <a:srgbClr val="111111"/>
                </a:solidFill>
                <a:latin typeface="Arial Black" pitchFamily="34" charset="0"/>
                <a:ea typeface="Arial Black" pitchFamily="34" charset="-122"/>
                <a:cs typeface="Arial Black" pitchFamily="34" charset="-120"/>
              </a:rPr>
              <a:t>S</a:t>
            </a:r>
            <a:endParaRPr lang="en-US" sz="3600" dirty="0"/>
          </a:p>
        </p:txBody>
      </p:sp>
      <p:sp>
        <p:nvSpPr>
          <p:cNvPr id="23" name="Text 21"/>
          <p:cNvSpPr txBox="1"/>
          <p:nvPr/>
        </p:nvSpPr>
        <p:spPr>
          <a:xfrm>
            <a:off x="3648456" y="3657600"/>
            <a:ext cx="1188720" cy="274320"/>
          </a:xfrm>
          <a:prstGeom prst="rect">
            <a:avLst/>
          </a:prstGeom>
          <a:noFill/>
          <a:ln/>
        </p:spPr>
        <p:txBody>
          <a:bodyPr wrap="square" lIns="0" tIns="0" rIns="0" bIns="0" rtlCol="0" anchor="ctr"/>
          <a:lstStyle/>
          <a:p>
            <a:pPr indent="0" marL="0">
              <a:buNone/>
            </a:pPr>
            <a:r>
              <a:rPr lang="en-US" sz="1050" b="1" spc="100" kern="0" dirty="0">
                <a:solidFill>
                  <a:srgbClr val="111111"/>
                </a:solidFill>
                <a:latin typeface="Courier New" pitchFamily="34" charset="0"/>
                <a:ea typeface="Courier New" pitchFamily="34" charset="-122"/>
                <a:cs typeface="Courier New" pitchFamily="34" charset="-120"/>
              </a:rPr>
              <a:t>STUTI</a:t>
            </a:r>
            <a:endParaRPr lang="en-US" sz="1050" dirty="0"/>
          </a:p>
        </p:txBody>
      </p:sp>
      <p:sp>
        <p:nvSpPr>
          <p:cNvPr id="24" name="Text 22"/>
          <p:cNvSpPr txBox="1"/>
          <p:nvPr/>
        </p:nvSpPr>
        <p:spPr>
          <a:xfrm>
            <a:off x="3648456" y="3950208"/>
            <a:ext cx="1188720" cy="411480"/>
          </a:xfrm>
          <a:prstGeom prst="rect">
            <a:avLst/>
          </a:prstGeom>
          <a:noFill/>
          <a:ln/>
        </p:spPr>
        <p:txBody>
          <a:bodyPr wrap="square" lIns="0" tIns="0" rIns="0" bIns="0" rtlCol="0" anchor="t"/>
          <a:lstStyle/>
          <a:p>
            <a:pPr indent="0" marL="0">
              <a:buNone/>
            </a:pPr>
            <a:r>
              <a:rPr lang="en-US" sz="1050" b="1" dirty="0">
                <a:solidFill>
                  <a:srgbClr val="1F3AE0"/>
                </a:solidFill>
                <a:latin typeface="Arial" pitchFamily="34" charset="0"/>
                <a:ea typeface="Arial" pitchFamily="34" charset="-122"/>
                <a:cs typeface="Arial" pitchFamily="34" charset="-120"/>
              </a:rPr>
              <a:t>Policy &amp; story</a:t>
            </a:r>
            <a:endParaRPr lang="en-US" sz="1050" dirty="0"/>
          </a:p>
        </p:txBody>
      </p:sp>
      <p:sp>
        <p:nvSpPr>
          <p:cNvPr id="25" name="Text 23"/>
          <p:cNvSpPr txBox="1"/>
          <p:nvPr/>
        </p:nvSpPr>
        <p:spPr>
          <a:xfrm>
            <a:off x="3648456" y="4389120"/>
            <a:ext cx="1170432" cy="685800"/>
          </a:xfrm>
          <a:prstGeom prst="rect">
            <a:avLst/>
          </a:prstGeom>
          <a:noFill/>
          <a:ln/>
        </p:spPr>
        <p:txBody>
          <a:bodyPr wrap="square" lIns="0" tIns="0" rIns="0" bIns="0" rtlCol="0" anchor="t"/>
          <a:lstStyle/>
          <a:p>
            <a:pPr indent="0" marL="0">
              <a:buNone/>
            </a:pPr>
            <a:r>
              <a:rPr lang="en-US" sz="900" dirty="0">
                <a:solidFill>
                  <a:srgbClr val="6B6862"/>
                </a:solidFill>
                <a:latin typeface="Arial" pitchFamily="34" charset="0"/>
                <a:ea typeface="Arial" pitchFamily="34" charset="-122"/>
                <a:cs typeface="Arial" pitchFamily="34" charset="-120"/>
              </a:rPr>
              <a:t>Narrative, JJM fit, market</a:t>
            </a:r>
            <a:endParaRPr lang="en-US" sz="900" dirty="0"/>
          </a:p>
        </p:txBody>
      </p:sp>
      <p:sp>
        <p:nvSpPr>
          <p:cNvPr id="26" name="Shape 24"/>
          <p:cNvSpPr/>
          <p:nvPr/>
        </p:nvSpPr>
        <p:spPr>
          <a:xfrm>
            <a:off x="4992624" y="2286000"/>
            <a:ext cx="1371600" cy="2834640"/>
          </a:xfrm>
          <a:prstGeom prst="rect">
            <a:avLst/>
          </a:prstGeom>
          <a:ln w="12700">
            <a:solidFill>
              <a:srgbClr val="111111"/>
            </a:solidFill>
            <a:prstDash val="solid"/>
          </a:ln>
        </p:spPr>
      </p:sp>
      <p:sp>
        <p:nvSpPr>
          <p:cNvPr id="27" name="Shape 25"/>
          <p:cNvSpPr/>
          <p:nvPr/>
        </p:nvSpPr>
        <p:spPr>
          <a:xfrm>
            <a:off x="5129784" y="2423160"/>
            <a:ext cx="1097280" cy="1097280"/>
          </a:xfrm>
          <a:prstGeom prst="rect">
            <a:avLst/>
          </a:prstGeom>
          <a:solidFill>
            <a:srgbClr val="DAD6CE"/>
          </a:solidFill>
          <a:ln/>
        </p:spPr>
      </p:sp>
      <p:sp>
        <p:nvSpPr>
          <p:cNvPr id="28" name="Text 26"/>
          <p:cNvSpPr txBox="1"/>
          <p:nvPr/>
        </p:nvSpPr>
        <p:spPr>
          <a:xfrm>
            <a:off x="5129784" y="2423160"/>
            <a:ext cx="1097280" cy="1097280"/>
          </a:xfrm>
          <a:prstGeom prst="rect">
            <a:avLst/>
          </a:prstGeom>
          <a:noFill/>
          <a:ln/>
        </p:spPr>
        <p:txBody>
          <a:bodyPr wrap="square" lIns="0" tIns="0" rIns="0" bIns="0" rtlCol="0" anchor="ctr"/>
          <a:lstStyle/>
          <a:p>
            <a:pPr algn="ctr" indent="0" marL="0">
              <a:buNone/>
            </a:pPr>
            <a:r>
              <a:rPr lang="en-US" sz="3600" dirty="0">
                <a:solidFill>
                  <a:srgbClr val="111111"/>
                </a:solidFill>
                <a:latin typeface="Arial Black" pitchFamily="34" charset="0"/>
                <a:ea typeface="Arial Black" pitchFamily="34" charset="-122"/>
                <a:cs typeface="Arial Black" pitchFamily="34" charset="-120"/>
              </a:rPr>
              <a:t>A</a:t>
            </a:r>
            <a:endParaRPr lang="en-US" sz="3600" dirty="0"/>
          </a:p>
        </p:txBody>
      </p:sp>
      <p:sp>
        <p:nvSpPr>
          <p:cNvPr id="29" name="Text 27"/>
          <p:cNvSpPr txBox="1"/>
          <p:nvPr/>
        </p:nvSpPr>
        <p:spPr>
          <a:xfrm>
            <a:off x="5129784" y="3657600"/>
            <a:ext cx="1188720" cy="274320"/>
          </a:xfrm>
          <a:prstGeom prst="rect">
            <a:avLst/>
          </a:prstGeom>
          <a:noFill/>
          <a:ln/>
        </p:spPr>
        <p:txBody>
          <a:bodyPr wrap="square" lIns="0" tIns="0" rIns="0" bIns="0" rtlCol="0" anchor="ctr"/>
          <a:lstStyle/>
          <a:p>
            <a:pPr indent="0" marL="0">
              <a:buNone/>
            </a:pPr>
            <a:r>
              <a:rPr lang="en-US" sz="1050" b="1" spc="100" kern="0" dirty="0">
                <a:solidFill>
                  <a:srgbClr val="111111"/>
                </a:solidFill>
                <a:latin typeface="Courier New" pitchFamily="34" charset="0"/>
                <a:ea typeface="Courier New" pitchFamily="34" charset="-122"/>
                <a:cs typeface="Courier New" pitchFamily="34" charset="-120"/>
              </a:rPr>
              <a:t>ADITI</a:t>
            </a:r>
            <a:endParaRPr lang="en-US" sz="1050" dirty="0"/>
          </a:p>
        </p:txBody>
      </p:sp>
      <p:sp>
        <p:nvSpPr>
          <p:cNvPr id="30" name="Text 28"/>
          <p:cNvSpPr txBox="1"/>
          <p:nvPr/>
        </p:nvSpPr>
        <p:spPr>
          <a:xfrm>
            <a:off x="5129784" y="3950208"/>
            <a:ext cx="1188720" cy="411480"/>
          </a:xfrm>
          <a:prstGeom prst="rect">
            <a:avLst/>
          </a:prstGeom>
          <a:noFill/>
          <a:ln/>
        </p:spPr>
        <p:txBody>
          <a:bodyPr wrap="square" lIns="0" tIns="0" rIns="0" bIns="0" rtlCol="0" anchor="t"/>
          <a:lstStyle/>
          <a:p>
            <a:pPr indent="0" marL="0">
              <a:buNone/>
            </a:pPr>
            <a:r>
              <a:rPr lang="en-US" sz="1050" b="1" dirty="0">
                <a:solidFill>
                  <a:srgbClr val="1F3AE0"/>
                </a:solidFill>
                <a:latin typeface="Arial" pitchFamily="34" charset="0"/>
                <a:ea typeface="Arial" pitchFamily="34" charset="-122"/>
                <a:cs typeface="Arial" pitchFamily="34" charset="-120"/>
              </a:rPr>
              <a:t>Data &amp; verification</a:t>
            </a:r>
            <a:endParaRPr lang="en-US" sz="1050" dirty="0"/>
          </a:p>
        </p:txBody>
      </p:sp>
      <p:sp>
        <p:nvSpPr>
          <p:cNvPr id="31" name="Text 29"/>
          <p:cNvSpPr txBox="1"/>
          <p:nvPr/>
        </p:nvSpPr>
        <p:spPr>
          <a:xfrm>
            <a:off x="5129784" y="4389120"/>
            <a:ext cx="1170432" cy="685800"/>
          </a:xfrm>
          <a:prstGeom prst="rect">
            <a:avLst/>
          </a:prstGeom>
          <a:noFill/>
          <a:ln/>
        </p:spPr>
        <p:txBody>
          <a:bodyPr wrap="square" lIns="0" tIns="0" rIns="0" bIns="0" rtlCol="0" anchor="t"/>
          <a:lstStyle/>
          <a:p>
            <a:pPr indent="0" marL="0">
              <a:buNone/>
            </a:pPr>
            <a:r>
              <a:rPr lang="en-US" sz="900" dirty="0">
                <a:solidFill>
                  <a:srgbClr val="6B6862"/>
                </a:solidFill>
                <a:latin typeface="Arial" pitchFamily="34" charset="0"/>
                <a:ea typeface="Arial" pitchFamily="34" charset="-122"/>
                <a:cs typeface="Arial" pitchFamily="34" charset="-120"/>
              </a:rPr>
              <a:t>Blind vials, validation protocol</a:t>
            </a:r>
            <a:endParaRPr lang="en-US" sz="900" dirty="0"/>
          </a:p>
        </p:txBody>
      </p:sp>
      <p:sp>
        <p:nvSpPr>
          <p:cNvPr id="32" name="Shape 30"/>
          <p:cNvSpPr/>
          <p:nvPr/>
        </p:nvSpPr>
        <p:spPr>
          <a:xfrm>
            <a:off x="6473952" y="2286000"/>
            <a:ext cx="1371600" cy="2834640"/>
          </a:xfrm>
          <a:prstGeom prst="rect">
            <a:avLst/>
          </a:prstGeom>
          <a:ln w="12700">
            <a:solidFill>
              <a:srgbClr val="111111"/>
            </a:solidFill>
            <a:prstDash val="solid"/>
          </a:ln>
        </p:spPr>
      </p:sp>
      <p:sp>
        <p:nvSpPr>
          <p:cNvPr id="33" name="Shape 31"/>
          <p:cNvSpPr/>
          <p:nvPr/>
        </p:nvSpPr>
        <p:spPr>
          <a:xfrm>
            <a:off x="6611112" y="2423160"/>
            <a:ext cx="1097280" cy="1097280"/>
          </a:xfrm>
          <a:prstGeom prst="rect">
            <a:avLst/>
          </a:prstGeom>
          <a:solidFill>
            <a:srgbClr val="DAD6CE"/>
          </a:solidFill>
          <a:ln/>
        </p:spPr>
      </p:sp>
      <p:sp>
        <p:nvSpPr>
          <p:cNvPr id="34" name="Text 32"/>
          <p:cNvSpPr txBox="1"/>
          <p:nvPr/>
        </p:nvSpPr>
        <p:spPr>
          <a:xfrm>
            <a:off x="6611112" y="2423160"/>
            <a:ext cx="1097280" cy="1097280"/>
          </a:xfrm>
          <a:prstGeom prst="rect">
            <a:avLst/>
          </a:prstGeom>
          <a:noFill/>
          <a:ln/>
        </p:spPr>
        <p:txBody>
          <a:bodyPr wrap="square" lIns="0" tIns="0" rIns="0" bIns="0" rtlCol="0" anchor="ctr"/>
          <a:lstStyle/>
          <a:p>
            <a:pPr algn="ctr" indent="0" marL="0">
              <a:buNone/>
            </a:pPr>
            <a:r>
              <a:rPr lang="en-US" sz="3600" dirty="0">
                <a:solidFill>
                  <a:srgbClr val="111111"/>
                </a:solidFill>
                <a:latin typeface="Arial Black" pitchFamily="34" charset="0"/>
                <a:ea typeface="Arial Black" pitchFamily="34" charset="-122"/>
                <a:cs typeface="Arial Black" pitchFamily="34" charset="-120"/>
              </a:rPr>
              <a:t>P</a:t>
            </a:r>
            <a:endParaRPr lang="en-US" sz="3600" dirty="0"/>
          </a:p>
        </p:txBody>
      </p:sp>
      <p:sp>
        <p:nvSpPr>
          <p:cNvPr id="35" name="Text 33"/>
          <p:cNvSpPr txBox="1"/>
          <p:nvPr/>
        </p:nvSpPr>
        <p:spPr>
          <a:xfrm>
            <a:off x="6611112" y="3657600"/>
            <a:ext cx="1188720" cy="274320"/>
          </a:xfrm>
          <a:prstGeom prst="rect">
            <a:avLst/>
          </a:prstGeom>
          <a:noFill/>
          <a:ln/>
        </p:spPr>
        <p:txBody>
          <a:bodyPr wrap="square" lIns="0" tIns="0" rIns="0" bIns="0" rtlCol="0" anchor="ctr"/>
          <a:lstStyle/>
          <a:p>
            <a:pPr indent="0" marL="0">
              <a:buNone/>
            </a:pPr>
            <a:r>
              <a:rPr lang="en-US" sz="1050" b="1" spc="100" kern="0" dirty="0">
                <a:solidFill>
                  <a:srgbClr val="111111"/>
                </a:solidFill>
                <a:latin typeface="Courier New" pitchFamily="34" charset="0"/>
                <a:ea typeface="Courier New" pitchFamily="34" charset="-122"/>
                <a:cs typeface="Courier New" pitchFamily="34" charset="-120"/>
              </a:rPr>
              <a:t>PARTH</a:t>
            </a:r>
            <a:endParaRPr lang="en-US" sz="1050" dirty="0"/>
          </a:p>
        </p:txBody>
      </p:sp>
      <p:sp>
        <p:nvSpPr>
          <p:cNvPr id="36" name="Text 34"/>
          <p:cNvSpPr txBox="1"/>
          <p:nvPr/>
        </p:nvSpPr>
        <p:spPr>
          <a:xfrm>
            <a:off x="6611112" y="3950208"/>
            <a:ext cx="1188720" cy="411480"/>
          </a:xfrm>
          <a:prstGeom prst="rect">
            <a:avLst/>
          </a:prstGeom>
          <a:noFill/>
          <a:ln/>
        </p:spPr>
        <p:txBody>
          <a:bodyPr wrap="square" lIns="0" tIns="0" rIns="0" bIns="0" rtlCol="0" anchor="t"/>
          <a:lstStyle/>
          <a:p>
            <a:pPr indent="0" marL="0">
              <a:buNone/>
            </a:pPr>
            <a:r>
              <a:rPr lang="en-US" sz="1050" b="1" dirty="0">
                <a:solidFill>
                  <a:srgbClr val="1F3AE0"/>
                </a:solidFill>
                <a:latin typeface="Arial" pitchFamily="34" charset="0"/>
                <a:ea typeface="Arial" pitchFamily="34" charset="-122"/>
                <a:cs typeface="Arial" pitchFamily="34" charset="-120"/>
              </a:rPr>
              <a:t>Build &amp; hardware</a:t>
            </a:r>
            <a:endParaRPr lang="en-US" sz="1050" dirty="0"/>
          </a:p>
        </p:txBody>
      </p:sp>
      <p:sp>
        <p:nvSpPr>
          <p:cNvPr id="37" name="Text 35"/>
          <p:cNvSpPr txBox="1"/>
          <p:nvPr/>
        </p:nvSpPr>
        <p:spPr>
          <a:xfrm>
            <a:off x="6611112" y="4389120"/>
            <a:ext cx="1170432" cy="685800"/>
          </a:xfrm>
          <a:prstGeom prst="rect">
            <a:avLst/>
          </a:prstGeom>
          <a:noFill/>
          <a:ln/>
        </p:spPr>
        <p:txBody>
          <a:bodyPr wrap="square" lIns="0" tIns="0" rIns="0" bIns="0" rtlCol="0" anchor="t"/>
          <a:lstStyle/>
          <a:p>
            <a:pPr indent="0" marL="0">
              <a:buNone/>
            </a:pPr>
            <a:r>
              <a:rPr lang="en-US" sz="900" dirty="0">
                <a:solidFill>
                  <a:srgbClr val="6B6862"/>
                </a:solidFill>
                <a:latin typeface="Arial" pitchFamily="34" charset="0"/>
                <a:ea typeface="Arial" pitchFamily="34" charset="-122"/>
                <a:cs typeface="Arial" pitchFamily="34" charset="-120"/>
              </a:rPr>
              <a:t>Enclosure, BOM, field logistics</a:t>
            </a:r>
            <a:endParaRPr lang="en-US" sz="900" dirty="0"/>
          </a:p>
        </p:txBody>
      </p:sp>
      <p:sp>
        <p:nvSpPr>
          <p:cNvPr id="38" name="Shape 36"/>
          <p:cNvSpPr/>
          <p:nvPr/>
        </p:nvSpPr>
        <p:spPr>
          <a:xfrm>
            <a:off x="8183880" y="2286000"/>
            <a:ext cx="3474720" cy="3840480"/>
          </a:xfrm>
          <a:prstGeom prst="rect">
            <a:avLst/>
          </a:prstGeom>
          <a:solidFill>
            <a:srgbClr val="1F3AE0"/>
          </a:solidFill>
          <a:ln/>
        </p:spPr>
      </p:sp>
      <p:sp>
        <p:nvSpPr>
          <p:cNvPr id="39" name="Text 37"/>
          <p:cNvSpPr txBox="1"/>
          <p:nvPr/>
        </p:nvSpPr>
        <p:spPr>
          <a:xfrm>
            <a:off x="8412480" y="2468880"/>
            <a:ext cx="2743200" cy="274320"/>
          </a:xfrm>
          <a:prstGeom prst="rect">
            <a:avLst/>
          </a:prstGeom>
          <a:noFill/>
          <a:ln/>
        </p:spPr>
        <p:txBody>
          <a:bodyPr wrap="square" lIns="0" tIns="0" rIns="0" bIns="0" rtlCol="0" anchor="ctr"/>
          <a:lstStyle/>
          <a:p>
            <a:pPr indent="0" marL="0">
              <a:buNone/>
            </a:pPr>
            <a:r>
              <a:rPr lang="en-US" sz="1100" b="1" spc="300" kern="0" dirty="0">
                <a:solidFill>
                  <a:srgbClr val="E3E7FF"/>
                </a:solidFill>
                <a:latin typeface="Courier New" pitchFamily="34" charset="0"/>
                <a:ea typeface="Courier New" pitchFamily="34" charset="-122"/>
                <a:cs typeface="Courier New" pitchFamily="34" charset="-120"/>
              </a:rPr>
              <a:t>THE ASK</a:t>
            </a:r>
            <a:endParaRPr lang="en-US" sz="1100" dirty="0"/>
          </a:p>
        </p:txBody>
      </p:sp>
      <p:sp>
        <p:nvSpPr>
          <p:cNvPr id="40" name="Text 38"/>
          <p:cNvSpPr txBox="1"/>
          <p:nvPr/>
        </p:nvSpPr>
        <p:spPr>
          <a:xfrm>
            <a:off x="8412480" y="2788920"/>
            <a:ext cx="3108960" cy="685800"/>
          </a:xfrm>
          <a:prstGeom prst="rect">
            <a:avLst/>
          </a:prstGeom>
          <a:noFill/>
          <a:ln/>
        </p:spPr>
        <p:txBody>
          <a:bodyPr wrap="square" lIns="0" tIns="0" rIns="0" bIns="0" rtlCol="0" anchor="ctr"/>
          <a:lstStyle/>
          <a:p>
            <a:pPr indent="0" marL="0">
              <a:buNone/>
            </a:pPr>
            <a:r>
              <a:rPr lang="en-US" sz="3400" dirty="0">
                <a:solidFill>
                  <a:srgbClr val="FFFFFF"/>
                </a:solidFill>
                <a:latin typeface="Arial Black" pitchFamily="34" charset="0"/>
                <a:ea typeface="Arial Black" pitchFamily="34" charset="-122"/>
                <a:cs typeface="Arial Black" pitchFamily="34" charset="-120"/>
              </a:rPr>
              <a:t>₹15 lakh</a:t>
            </a:r>
            <a:endParaRPr lang="en-US" sz="3400" dirty="0"/>
          </a:p>
        </p:txBody>
      </p:sp>
      <p:sp>
        <p:nvSpPr>
          <p:cNvPr id="41" name="Text 39"/>
          <p:cNvSpPr txBox="1"/>
          <p:nvPr/>
        </p:nvSpPr>
        <p:spPr>
          <a:xfrm>
            <a:off x="8412480" y="3474720"/>
            <a:ext cx="2743200" cy="274320"/>
          </a:xfrm>
          <a:prstGeom prst="rect">
            <a:avLst/>
          </a:prstGeom>
          <a:noFill/>
          <a:ln/>
        </p:spPr>
        <p:txBody>
          <a:bodyPr wrap="square" lIns="0" tIns="0" rIns="0" bIns="0" rtlCol="0" anchor="ctr"/>
          <a:lstStyle/>
          <a:p>
            <a:pPr indent="0" marL="0">
              <a:buNone/>
            </a:pPr>
            <a:r>
              <a:rPr lang="en-US" sz="950" spc="100" kern="0" dirty="0">
                <a:solidFill>
                  <a:srgbClr val="E3E7FF"/>
                </a:solidFill>
                <a:latin typeface="Courier New" pitchFamily="34" charset="0"/>
                <a:ea typeface="Courier New" pitchFamily="34" charset="-122"/>
                <a:cs typeface="Courier New" pitchFamily="34" charset="-120"/>
              </a:rPr>
              <a:t>SEED GRANT</a:t>
            </a:r>
            <a:endParaRPr lang="en-US" sz="950" dirty="0"/>
          </a:p>
        </p:txBody>
      </p:sp>
      <p:sp>
        <p:nvSpPr>
          <p:cNvPr id="42" name="Text 40"/>
          <p:cNvSpPr txBox="1"/>
          <p:nvPr/>
        </p:nvSpPr>
        <p:spPr>
          <a:xfrm>
            <a:off x="8412480" y="3931920"/>
            <a:ext cx="3063240" cy="20116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FFFFFF"/>
                </a:solidFill>
                <a:latin typeface="Arial" pitchFamily="34" charset="0"/>
                <a:ea typeface="Arial" pitchFamily="34" charset="-122"/>
                <a:cs typeface="Arial" pitchFamily="34" charset="-120"/>
              </a:rPr>
              <a:t>NABL lab partner for 100-sample validation</a:t>
            </a:r>
            <a:endParaRPr lang="en-US" sz="1250" dirty="0"/>
          </a:p>
          <a:p>
            <a:pPr marL="342900" indent="-342900">
              <a:spcAft>
                <a:spcPts val="800"/>
              </a:spcAft>
              <a:buSzPct val="100000"/>
              <a:buChar char="■"/>
            </a:pPr>
            <a:r>
              <a:rPr lang="en-US" sz="1250" dirty="0">
                <a:solidFill>
                  <a:srgbClr val="FFFFFF"/>
                </a:solidFill>
                <a:latin typeface="Arial" pitchFamily="34" charset="0"/>
                <a:ea typeface="Arial" pitchFamily="34" charset="-122"/>
                <a:cs typeface="Arial" pitchFamily="34" charset="-120"/>
              </a:rPr>
              <a:t>Pilot access: 2 Haryana gram panchayats</a:t>
            </a:r>
            <a:endParaRPr lang="en-US" sz="1250" dirty="0"/>
          </a:p>
          <a:p>
            <a:pPr marL="342900" indent="-342900">
              <a:spcAft>
                <a:spcPts val="800"/>
              </a:spcAft>
              <a:buSzPct val="100000"/>
              <a:buChar char="■"/>
            </a:pPr>
            <a:r>
              <a:rPr lang="en-US" sz="1250" dirty="0">
                <a:solidFill>
                  <a:srgbClr val="FFFFFF"/>
                </a:solidFill>
                <a:latin typeface="Arial" pitchFamily="34" charset="0"/>
                <a:ea typeface="Arial" pitchFamily="34" charset="-122"/>
                <a:cs typeface="Arial" pitchFamily="34" charset="-120"/>
              </a:rPr>
              <a:t>Mentors in B2G procurement and diagnostics</a:t>
            </a:r>
            <a:endParaRPr lang="en-US" sz="1250" dirty="0"/>
          </a:p>
        </p:txBody>
      </p:sp>
      <p:sp>
        <p:nvSpPr>
          <p:cNvPr id="43" name="Text 41"/>
          <p:cNvSpPr txBox="1"/>
          <p:nvPr/>
        </p:nvSpPr>
        <p:spPr>
          <a:xfrm>
            <a:off x="548640" y="5349240"/>
            <a:ext cx="7315200" cy="365760"/>
          </a:xfrm>
          <a:prstGeom prst="rect">
            <a:avLst/>
          </a:prstGeom>
          <a:noFill/>
          <a:ln/>
        </p:spPr>
        <p:txBody>
          <a:bodyPr wrap="square" lIns="0" tIns="0" rIns="0" bIns="0" rtlCol="0" anchor="t"/>
          <a:lstStyle/>
          <a:p>
            <a:pPr indent="0" marL="0">
              <a:buNone/>
            </a:pPr>
            <a:r>
              <a:rPr lang="en-US" sz="1300" i="1" dirty="0">
                <a:solidFill>
                  <a:srgbClr val="6B6862"/>
                </a:solidFill>
                <a:latin typeface="Arial" pitchFamily="34" charset="0"/>
                <a:ea typeface="Arial" pitchFamily="34" charset="-122"/>
                <a:cs typeface="Arial" pitchFamily="34" charset="-120"/>
              </a:rPr>
              <a:t>Chemistry, software, policy, data and hardware in one room.</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cover_narrow.jpg">    </p:cNvPr>
          <p:cNvPicPr>
            <a:picLocks noChangeAspect="1"/>
          </p:cNvPicPr>
          <p:nvPr/>
        </p:nvPicPr>
        <p:blipFill>
          <a:blip r:embed="rId2"/>
          <a:stretch>
            <a:fillRect/>
          </a:stretch>
        </p:blipFill>
        <p:spPr>
          <a:xfrm>
            <a:off x="0" y="0"/>
            <a:ext cx="4754880" cy="6858000"/>
          </a:xfrm>
          <a:prstGeom prst="rect">
            <a:avLst/>
          </a:prstGeom>
        </p:spPr>
      </p:pic>
      <p:sp>
        <p:nvSpPr>
          <p:cNvPr id="3" name="Text 0"/>
          <p:cNvSpPr txBox="1"/>
          <p:nvPr/>
        </p:nvSpPr>
        <p:spPr>
          <a:xfrm>
            <a:off x="5212080" y="292608"/>
            <a:ext cx="3657600" cy="274320"/>
          </a:xfrm>
          <a:prstGeom prst="rect">
            <a:avLst/>
          </a:prstGeom>
          <a:noFill/>
          <a:ln/>
        </p:spPr>
        <p:txBody>
          <a:bodyPr wrap="square" lIns="0" tIns="0" rIns="0" bIns="0" rtlCol="0" anchor="ctr"/>
          <a:lstStyle/>
          <a:p>
            <a:pPr indent="0" marL="0">
              <a:buNone/>
            </a:pPr>
            <a:r>
              <a:rPr lang="en-US" sz="1000" b="1" spc="200" kern="0" dirty="0">
                <a:solidFill>
                  <a:srgbClr val="D8D4CC"/>
                </a:solidFill>
                <a:latin typeface="Courier New" pitchFamily="34" charset="0"/>
                <a:ea typeface="Courier New" pitchFamily="34" charset="-122"/>
                <a:cs typeface="Courier New" pitchFamily="34" charset="-120"/>
              </a:rPr>
              <a:t>24 — CLOSE</a:t>
            </a:r>
            <a:endParaRPr lang="en-US" sz="1000" dirty="0"/>
          </a:p>
        </p:txBody>
      </p:sp>
      <p:sp>
        <p:nvSpPr>
          <p:cNvPr id="4" name="Text 1"/>
          <p:cNvSpPr txBox="1"/>
          <p:nvPr/>
        </p:nvSpPr>
        <p:spPr>
          <a:xfrm>
            <a:off x="5212080" y="731520"/>
            <a:ext cx="6492240" cy="1645920"/>
          </a:xfrm>
          <a:prstGeom prst="rect">
            <a:avLst/>
          </a:prstGeom>
          <a:noFill/>
          <a:ln/>
        </p:spPr>
        <p:txBody>
          <a:bodyPr wrap="square" lIns="0" tIns="0" rIns="0" bIns="0" rtlCol="0" anchor="t"/>
          <a:lstStyle/>
          <a:p>
            <a:pPr indent="0" marL="0">
              <a:buNone/>
            </a:pPr>
            <a:r>
              <a:rPr lang="en-US" sz="2600" dirty="0">
                <a:solidFill>
                  <a:srgbClr val="EDEBE6"/>
                </a:solidFill>
                <a:latin typeface="Arial Black" pitchFamily="34" charset="0"/>
                <a:ea typeface="Arial Black" pitchFamily="34" charset="-122"/>
                <a:cs typeface="Arial Black" pitchFamily="34" charset="-120"/>
              </a:rPr>
              <a:t>Foldscope put a microscope in every pocket.
</a:t>
            </a:r>
            <a:pPr indent="0" marL="0">
              <a:buNone/>
            </a:pPr>
            <a:r>
              <a:rPr lang="en-US" sz="2600" dirty="0">
                <a:solidFill>
                  <a:srgbClr val="8FA1FF"/>
                </a:solidFill>
                <a:latin typeface="Arial Black" pitchFamily="34" charset="0"/>
                <a:ea typeface="Arial Black" pitchFamily="34" charset="-122"/>
                <a:cs typeface="Arial Black" pitchFamily="34" charset="-120"/>
              </a:rPr>
              <a:t>LISA puts a water lab there.</a:t>
            </a:r>
            <a:endParaRPr lang="en-US" sz="2600" dirty="0"/>
          </a:p>
        </p:txBody>
      </p:sp>
      <p:sp>
        <p:nvSpPr>
          <p:cNvPr id="5" name="Text 2"/>
          <p:cNvSpPr txBox="1"/>
          <p:nvPr/>
        </p:nvSpPr>
        <p:spPr>
          <a:xfrm>
            <a:off x="5212080" y="2606040"/>
            <a:ext cx="3657600" cy="274320"/>
          </a:xfrm>
          <a:prstGeom prst="rect">
            <a:avLst/>
          </a:prstGeom>
          <a:noFill/>
          <a:ln/>
        </p:spPr>
        <p:txBody>
          <a:bodyPr wrap="square" lIns="0" tIns="0" rIns="0" bIns="0" rtlCol="0" anchor="ctr"/>
          <a:lstStyle/>
          <a:p>
            <a:pPr indent="0" marL="0">
              <a:buNone/>
            </a:pPr>
            <a:r>
              <a:rPr lang="en-US" sz="950" b="1" spc="200" kern="0" dirty="0">
                <a:solidFill>
                  <a:srgbClr val="8FA1FF"/>
                </a:solidFill>
                <a:latin typeface="Courier New" pitchFamily="34" charset="0"/>
                <a:ea typeface="Courier New" pitchFamily="34" charset="-122"/>
                <a:cs typeface="Courier New" pitchFamily="34" charset="-120"/>
              </a:rPr>
              <a:t>REFERENCES</a:t>
            </a:r>
            <a:endParaRPr lang="en-US" sz="950" dirty="0"/>
          </a:p>
        </p:txBody>
      </p:sp>
      <p:sp>
        <p:nvSpPr>
          <p:cNvPr id="6" name="Text 3"/>
          <p:cNvSpPr txBox="1"/>
          <p:nvPr/>
        </p:nvSpPr>
        <p:spPr>
          <a:xfrm>
            <a:off x="5212080" y="2926080"/>
            <a:ext cx="6492240" cy="3200400"/>
          </a:xfrm>
          <a:prstGeom prst="rect">
            <a:avLst/>
          </a:prstGeom>
          <a:noFill/>
          <a:ln/>
        </p:spPr>
        <p:txBody>
          <a:bodyPr wrap="square" lIns="0" tIns="0" rIns="0" bIns="0" rtlCol="0" anchor="t"/>
          <a:lstStyle/>
          <a:p>
            <a:pPr indent="0" marL="0">
              <a:spcAft>
                <a:spcPts val="300"/>
              </a:spcAft>
              <a:buNone/>
            </a:pPr>
            <a:r>
              <a:rPr lang="en-US" sz="850" dirty="0">
                <a:solidFill>
                  <a:srgbClr val="CFCBC3"/>
                </a:solidFill>
                <a:latin typeface="Arial" pitchFamily="34" charset="0"/>
                <a:ea typeface="Arial" pitchFamily="34" charset="-122"/>
                <a:cs typeface="Arial" pitchFamily="34" charset="-120"/>
              </a:rPr>
              <a:t>1. Feng J, Liu Y, Fu Y, Li X, Ai B. A consumer-ready smartphone spectrometer for accessible intelligent pocket sensing. Sens. Actuators B 462 (2026) 140011. doi:10.1016/j.snb.2026.140011</a:t>
            </a:r>
            <a:endParaRPr lang="en-US" sz="850" dirty="0"/>
          </a:p>
          <a:p>
            <a:pPr indent="0" marL="0">
              <a:spcAft>
                <a:spcPts val="300"/>
              </a:spcAft>
              <a:buNone/>
            </a:pPr>
            <a:r>
              <a:rPr lang="en-US" sz="850" dirty="0">
                <a:solidFill>
                  <a:srgbClr val="CFCBC3"/>
                </a:solidFill>
                <a:latin typeface="Arial" pitchFamily="34" charset="0"/>
                <a:ea typeface="Arial" pitchFamily="34" charset="-122"/>
                <a:cs typeface="Arial" pitchFamily="34" charset="-120"/>
              </a:rPr>
              <a:t>2. Cybulski JS, Clements J, Prakash M. Foldscope: origami-based paper microscope. PLoS ONE 9(6) (2014) e98781.</a:t>
            </a:r>
            <a:endParaRPr lang="en-US" sz="850" dirty="0"/>
          </a:p>
          <a:p>
            <a:pPr indent="0" marL="0">
              <a:spcAft>
                <a:spcPts val="300"/>
              </a:spcAft>
              <a:buNone/>
            </a:pPr>
            <a:r>
              <a:rPr lang="en-US" sz="850" dirty="0">
                <a:solidFill>
                  <a:srgbClr val="CFCBC3"/>
                </a:solidFill>
                <a:latin typeface="Arial" pitchFamily="34" charset="0"/>
                <a:ea typeface="Arial" pitchFamily="34" charset="-122"/>
                <a:cs typeface="Arial" pitchFamily="34" charset="-120"/>
              </a:rPr>
              <a:t>3. Ozcan A. Mobile phones democratize and cultivate next-generation imaging, diagnostics and measurement tools. Lab Chip 14 (2014) 3187.</a:t>
            </a:r>
            <a:endParaRPr lang="en-US" sz="850" dirty="0"/>
          </a:p>
          <a:p>
            <a:pPr indent="0" marL="0">
              <a:spcAft>
                <a:spcPts val="300"/>
              </a:spcAft>
              <a:buNone/>
            </a:pPr>
            <a:r>
              <a:rPr lang="en-US" sz="850" dirty="0">
                <a:solidFill>
                  <a:srgbClr val="CFCBC3"/>
                </a:solidFill>
                <a:latin typeface="Arial" pitchFamily="34" charset="0"/>
                <a:ea typeface="Arial" pitchFamily="34" charset="-122"/>
                <a:cs typeface="Arial" pitchFamily="34" charset="-120"/>
              </a:rPr>
              <a:t>4. Wang Y et al. Smartphone spectrometer for colorimetric biosensing. Analyst 141 (2016) 3233.</a:t>
            </a:r>
            <a:endParaRPr lang="en-US" sz="850" dirty="0"/>
          </a:p>
          <a:p>
            <a:pPr indent="0" marL="0">
              <a:spcAft>
                <a:spcPts val="300"/>
              </a:spcAft>
              <a:buNone/>
            </a:pPr>
            <a:r>
              <a:rPr lang="en-US" sz="850" dirty="0">
                <a:solidFill>
                  <a:srgbClr val="CFCBC3"/>
                </a:solidFill>
                <a:latin typeface="Arial" pitchFamily="34" charset="0"/>
                <a:ea typeface="Arial" pitchFamily="34" charset="-122"/>
                <a:cs typeface="Arial" pitchFamily="34" charset="-120"/>
              </a:rPr>
              <a:t>5. Das AJ, Wahi A, Kothari I, Raskar R. Ultra-portable, wireless smartphone spectrometer… Sci. Rep. 6 (2016) 32504.</a:t>
            </a:r>
            <a:endParaRPr lang="en-US" sz="850" dirty="0"/>
          </a:p>
          <a:p>
            <a:pPr indent="0" marL="0">
              <a:spcAft>
                <a:spcPts val="300"/>
              </a:spcAft>
              <a:buNone/>
            </a:pPr>
            <a:r>
              <a:rPr lang="en-US" sz="850" dirty="0">
                <a:solidFill>
                  <a:srgbClr val="CFCBC3"/>
                </a:solidFill>
                <a:latin typeface="Arial" pitchFamily="34" charset="0"/>
                <a:ea typeface="Arial" pitchFamily="34" charset="-122"/>
                <a:cs typeface="Arial" pitchFamily="34" charset="-120"/>
              </a:rPr>
              <a:t>6. McGonigle AJS et al. Smartphone spectrometers. Sensors 18(1) (2018) 223.</a:t>
            </a:r>
            <a:endParaRPr lang="en-US" sz="850" dirty="0"/>
          </a:p>
          <a:p>
            <a:pPr indent="0" marL="0">
              <a:spcAft>
                <a:spcPts val="300"/>
              </a:spcAft>
              <a:buNone/>
            </a:pPr>
            <a:r>
              <a:rPr lang="en-US" sz="850" dirty="0">
                <a:solidFill>
                  <a:srgbClr val="CFCBC3"/>
                </a:solidFill>
                <a:latin typeface="Arial" pitchFamily="34" charset="0"/>
                <a:ea typeface="Arial" pitchFamily="34" charset="-122"/>
                <a:cs typeface="Arial" pitchFamily="34" charset="-120"/>
              </a:rPr>
              <a:t>7. Pitula E, Koba M, Śmietana M. Which smartphone for a smartphone-based spectrometer? Opt. Laser Technol. 140 (2021) 107067.</a:t>
            </a:r>
            <a:endParaRPr lang="en-US" sz="850" dirty="0"/>
          </a:p>
          <a:p>
            <a:pPr indent="0" marL="0">
              <a:spcAft>
                <a:spcPts val="300"/>
              </a:spcAft>
              <a:buNone/>
            </a:pPr>
            <a:r>
              <a:rPr lang="en-US" sz="850" dirty="0">
                <a:solidFill>
                  <a:srgbClr val="CFCBC3"/>
                </a:solidFill>
                <a:latin typeface="Arial" pitchFamily="34" charset="0"/>
                <a:ea typeface="Arial" pitchFamily="34" charset="-122"/>
                <a:cs typeface="Arial" pitchFamily="34" charset="-120"/>
              </a:rPr>
              <a:t>8. Jarujareet U et al. A low-cost dual-beam smartphone visible spectrometer. J. Chem. Educ. 100 (2023) 546.</a:t>
            </a:r>
            <a:endParaRPr lang="en-US" sz="850" dirty="0"/>
          </a:p>
          <a:p>
            <a:pPr indent="0" marL="0">
              <a:spcAft>
                <a:spcPts val="300"/>
              </a:spcAft>
              <a:buNone/>
            </a:pPr>
            <a:r>
              <a:rPr lang="en-US" sz="850" dirty="0">
                <a:solidFill>
                  <a:srgbClr val="CFCBC3"/>
                </a:solidFill>
                <a:latin typeface="Arial" pitchFamily="34" charset="0"/>
                <a:ea typeface="Arial" pitchFamily="34" charset="-122"/>
                <a:cs typeface="Arial" pitchFamily="34" charset="-120"/>
              </a:rPr>
              <a:t>9. Murphy J, Riley JP. Anal. Chim. Acta 27 (1962) 31–36 · US EPA Method 365.3 (1978).</a:t>
            </a:r>
            <a:endParaRPr lang="en-US" sz="850" dirty="0"/>
          </a:p>
          <a:p>
            <a:pPr indent="0" marL="0">
              <a:spcAft>
                <a:spcPts val="300"/>
              </a:spcAft>
              <a:buNone/>
            </a:pPr>
            <a:r>
              <a:rPr lang="en-US" sz="850" dirty="0">
                <a:solidFill>
                  <a:srgbClr val="CFCBC3"/>
                </a:solidFill>
                <a:latin typeface="Arial" pitchFamily="34" charset="0"/>
                <a:ea typeface="Arial" pitchFamily="34" charset="-122"/>
                <a:cs typeface="Arial" pitchFamily="34" charset="-120"/>
              </a:rPr>
              <a:t>10. Bureau of Indian Standards. IS 10500:2012 Drinking Water Specification.</a:t>
            </a:r>
            <a:endParaRPr lang="en-US" sz="850" dirty="0"/>
          </a:p>
          <a:p>
            <a:pPr indent="0" marL="0">
              <a:spcAft>
                <a:spcPts val="300"/>
              </a:spcAft>
              <a:buNone/>
            </a:pPr>
            <a:r>
              <a:rPr lang="en-US" sz="850" dirty="0">
                <a:solidFill>
                  <a:srgbClr val="CFCBC3"/>
                </a:solidFill>
                <a:latin typeface="Arial" pitchFamily="34" charset="0"/>
                <a:ea typeface="Arial" pitchFamily="34" charset="-122"/>
                <a:cs typeface="Arial" pitchFamily="34" charset="-120"/>
              </a:rPr>
              <a:t>11. CGWB. Annual Ground Water Quality Report 2024 · WHO/UNICEF JMP 2025 · PIB, FTKs under JJM (2026).</a:t>
            </a:r>
            <a:endParaRPr lang="en-US" sz="850" dirty="0"/>
          </a:p>
        </p:txBody>
      </p:sp>
      <p:sp>
        <p:nvSpPr>
          <p:cNvPr id="7" name="Text 4"/>
          <p:cNvSpPr txBox="1"/>
          <p:nvPr/>
        </p:nvSpPr>
        <p:spPr>
          <a:xfrm>
            <a:off x="5212080" y="6355080"/>
            <a:ext cx="6492240" cy="274320"/>
          </a:xfrm>
          <a:prstGeom prst="rect">
            <a:avLst/>
          </a:prstGeom>
          <a:noFill/>
          <a:ln/>
        </p:spPr>
        <p:txBody>
          <a:bodyPr wrap="square" lIns="0" tIns="0" rIns="0" bIns="0" rtlCol="0" anchor="ctr"/>
          <a:lstStyle/>
          <a:p>
            <a:pPr indent="0" marL="0">
              <a:buNone/>
            </a:pPr>
            <a:r>
              <a:rPr lang="en-US" sz="900" b="1" spc="100" kern="0" dirty="0">
                <a:solidFill>
                  <a:srgbClr val="EDEBE6"/>
                </a:solidFill>
                <a:latin typeface="Courier New" pitchFamily="34" charset="0"/>
                <a:ea typeface="Courier New" pitchFamily="34" charset="-122"/>
                <a:cs typeface="Courier New" pitchFamily="34" charset="-120"/>
              </a:rPr>
              <a:t>LISA · LIGHT-BASED IN-FIELD SPECTRAL ANALYSER · THANK YOU</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LISA — Light-based In-field Spectral Analyser</dc:title>
  <dc:subject>PptxGenJS Presentation</dc:subject>
  <dc:creator>Team LISA</dc:creator>
  <cp:lastModifiedBy>Team LISA</cp:lastModifiedBy>
  <cp:revision>1</cp:revision>
  <dcterms:created xsi:type="dcterms:W3CDTF">2026-09-26T00:27:20Z</dcterms:created>
  <dcterms:modified xsi:type="dcterms:W3CDTF">2026-09-26T00:27:20Z</dcterms:modified>
</cp:coreProperties>
</file>